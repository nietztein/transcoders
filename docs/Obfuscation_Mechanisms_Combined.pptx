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E"/>
        </a:solidFill>
      </p:bgPr>
    </p:bg>
    <p:spTree>
      <p:nvGrpSpPr>
        <p:cNvPr id="1" name=""/>
        <p:cNvGrpSpPr/>
        <p:nvPr/>
      </p:nvGrpSpPr>
      <p:grpSpPr>
        <a:xfrm>
          <a:off x="0" y="0"/>
          <a:ext cx="0" cy="0"/>
          <a:chOff x="0" y="0"/>
          <a:chExt cx="0" cy="0"/>
        </a:xfrm>
      </p:grpSpPr>
      <p:sp>
        <p:nvSpPr>
          <p:cNvPr id="2" name="Shape 0"/>
          <p:cNvSpPr/>
          <p:nvPr/>
        </p:nvSpPr>
        <p:spPr>
          <a:xfrm>
            <a:off x="9509760" y="-1737360"/>
            <a:ext cx="4754880" cy="4754880"/>
          </a:xfrm>
          <a:prstGeom prst="ellipse">
            <a:avLst/>
          </a:prstGeom>
          <a:solidFill>
            <a:srgbClr val="1B3A44"/>
          </a:solidFill>
          <a:ln w="12700">
            <a:solidFill>
              <a:srgbClr val="333333"/>
            </a:solidFill>
            <a:prstDash val="solid"/>
          </a:ln>
        </p:spPr>
      </p:sp>
      <p:sp>
        <p:nvSpPr>
          <p:cNvPr id="3" name="Shape 1"/>
          <p:cNvSpPr/>
          <p:nvPr/>
        </p:nvSpPr>
        <p:spPr>
          <a:xfrm>
            <a:off x="9966960" y="4846320"/>
            <a:ext cx="3291840" cy="3291840"/>
          </a:xfrm>
          <a:prstGeom prst="ellipse">
            <a:avLst/>
          </a:prstGeom>
          <a:solidFill>
            <a:srgbClr val="3A2430"/>
          </a:solidFill>
          <a:ln w="12700">
            <a:solidFill>
              <a:srgbClr val="333333"/>
            </a:solidFill>
            <a:prstDash val="solid"/>
          </a:ln>
        </p:spPr>
      </p:sp>
      <p:sp>
        <p:nvSpPr>
          <p:cNvPr id="4" name="Shape 2"/>
          <p:cNvSpPr/>
          <p:nvPr/>
        </p:nvSpPr>
        <p:spPr>
          <a:xfrm>
            <a:off x="566928" y="658368"/>
            <a:ext cx="786384" cy="786384"/>
          </a:xfrm>
          <a:prstGeom prst="ellipse">
            <a:avLst/>
          </a:prstGeom>
          <a:solidFill>
            <a:srgbClr val="1FA184"/>
          </a:solidFill>
          <a:ln w="12700">
            <a:solidFill>
              <a:srgbClr val="333333"/>
            </a:solidFill>
            <a:prstDash val="solid"/>
          </a:ln>
        </p:spPr>
      </p:sp>
      <p:pic>
        <p:nvPicPr>
          <p:cNvPr id="5" name="Image 0" descr="preencoded.png">    </p:cNvPr>
          <p:cNvPicPr>
            <a:picLocks noChangeAspect="1"/>
          </p:cNvPicPr>
          <p:nvPr/>
        </p:nvPicPr>
        <p:blipFill>
          <a:blip r:embed="rId1"/>
          <a:stretch>
            <a:fillRect/>
          </a:stretch>
        </p:blipFill>
        <p:spPr>
          <a:xfrm>
            <a:off x="779252" y="870692"/>
            <a:ext cx="361737" cy="361737"/>
          </a:xfrm>
          <a:prstGeom prst="rect">
            <a:avLst/>
          </a:prstGeom>
        </p:spPr>
      </p:pic>
      <p:sp>
        <p:nvSpPr>
          <p:cNvPr id="6" name="Text 3"/>
          <p:cNvSpPr/>
          <p:nvPr/>
        </p:nvSpPr>
        <p:spPr>
          <a:xfrm>
            <a:off x="1591056" y="850392"/>
            <a:ext cx="8686800" cy="365760"/>
          </a:xfrm>
          <a:prstGeom prst="rect">
            <a:avLst/>
          </a:prstGeom>
          <a:noFill/>
          <a:ln/>
        </p:spPr>
        <p:txBody>
          <a:bodyPr wrap="square" lIns="0" tIns="0" rIns="0" bIns="0" rtlCol="0" anchor="ctr"/>
          <a:lstStyle/>
          <a:p>
            <a:pPr indent="0" marL="0">
              <a:buNone/>
            </a:pPr>
            <a:r>
              <a:rPr lang="en-US" sz="1150" b="1" spc="240" kern="0" dirty="0">
                <a:solidFill>
                  <a:srgbClr val="8FA3BD"/>
                </a:solidFill>
                <a:latin typeface="Calibri" pitchFamily="34" charset="0"/>
                <a:ea typeface="Calibri" pitchFamily="34" charset="-122"/>
                <a:cs typeface="Calibri" pitchFamily="34" charset="-120"/>
              </a:rPr>
              <a:t>RESEARCH PROPOSAL  ·  MECHANISTIC FOLLOW-UP STUDY</a:t>
            </a:r>
            <a:endParaRPr lang="en-US" sz="1150" dirty="0"/>
          </a:p>
        </p:txBody>
      </p:sp>
      <p:sp>
        <p:nvSpPr>
          <p:cNvPr id="7" name="Text 4"/>
          <p:cNvSpPr/>
          <p:nvPr/>
        </p:nvSpPr>
        <p:spPr>
          <a:xfrm>
            <a:off x="566928" y="1874520"/>
            <a:ext cx="10241280" cy="160020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Opening the Black Box of</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Obfuscated-Code Comprehension</a:t>
            </a:r>
            <a:endParaRPr lang="en-US" sz="4000" dirty="0"/>
          </a:p>
        </p:txBody>
      </p:sp>
      <p:sp>
        <p:nvSpPr>
          <p:cNvPr id="8" name="Text 5"/>
          <p:cNvSpPr/>
          <p:nvPr/>
        </p:nvSpPr>
        <p:spPr>
          <a:xfrm>
            <a:off x="566928" y="3675888"/>
            <a:ext cx="9509760" cy="777240"/>
          </a:xfrm>
          <a:prstGeom prst="rect">
            <a:avLst/>
          </a:prstGeom>
          <a:noFill/>
          <a:ln/>
        </p:spPr>
        <p:txBody>
          <a:bodyPr wrap="square" lIns="0" tIns="0" rIns="0" bIns="0" rtlCol="0" anchor="ctr"/>
          <a:lstStyle/>
          <a:p>
            <a:pPr indent="0" marL="0">
              <a:lnSpc>
                <a:spcPct val="125000"/>
              </a:lnSpc>
              <a:buNone/>
            </a:pPr>
            <a:r>
              <a:rPr lang="en-US" sz="1500" dirty="0">
                <a:solidFill>
                  <a:srgbClr val="AFC0D4"/>
                </a:solidFill>
                <a:latin typeface="Calibri" pitchFamily="34" charset="0"/>
                <a:ea typeface="Calibri" pitchFamily="34" charset="-122"/>
                <a:cs typeface="Calibri" pitchFamily="34" charset="-120"/>
              </a:rPr>
              <a:t>Two instruments on one Block-Model frame: </a:t>
            </a:r>
            <a:pPr indent="0" marL="0">
              <a:lnSpc>
                <a:spcPct val="125000"/>
              </a:lnSpc>
              <a:buNone/>
            </a:pPr>
            <a:r>
              <a:rPr lang="en-US" sz="1500" b="1" dirty="0">
                <a:solidFill>
                  <a:srgbClr val="6FD3B8"/>
                </a:solidFill>
                <a:latin typeface="Calibri" pitchFamily="34" charset="0"/>
                <a:ea typeface="Calibri" pitchFamily="34" charset="-122"/>
                <a:cs typeface="Calibri" pitchFamily="34" charset="-120"/>
              </a:rPr>
              <a:t>attention reallocation</a:t>
            </a:r>
            <a:pPr indent="0" marL="0">
              <a:lnSpc>
                <a:spcPct val="125000"/>
              </a:lnSpc>
              <a:buNone/>
            </a:pPr>
            <a:r>
              <a:rPr lang="en-US" sz="1500" dirty="0">
                <a:solidFill>
                  <a:srgbClr val="AFC0D4"/>
                </a:solidFill>
                <a:latin typeface="Calibri" pitchFamily="34" charset="0"/>
                <a:ea typeface="Calibri" pitchFamily="34" charset="-122"/>
                <a:cs typeface="Calibri" pitchFamily="34" charset="-120"/>
              </a:rPr>
              <a:t> (where the compute budget goes) and </a:t>
            </a:r>
            <a:pPr indent="0" marL="0">
              <a:lnSpc>
                <a:spcPct val="125000"/>
              </a:lnSpc>
              <a:buNone/>
            </a:pPr>
            <a:r>
              <a:rPr lang="en-US" sz="1500" b="1" dirty="0">
                <a:solidFill>
                  <a:srgbClr val="6FD3B8"/>
                </a:solidFill>
                <a:latin typeface="Calibri" pitchFamily="34" charset="0"/>
                <a:ea typeface="Calibri" pitchFamily="34" charset="-122"/>
                <a:cs typeface="Calibri" pitchFamily="34" charset="-120"/>
              </a:rPr>
              <a:t>Natural Language Autoencoders</a:t>
            </a:r>
            <a:pPr indent="0" marL="0">
              <a:lnSpc>
                <a:spcPct val="125000"/>
              </a:lnSpc>
              <a:buNone/>
            </a:pPr>
            <a:r>
              <a:rPr lang="en-US" sz="1500" dirty="0">
                <a:solidFill>
                  <a:srgbClr val="AFC0D4"/>
                </a:solidFill>
                <a:latin typeface="Calibri" pitchFamily="34" charset="0"/>
                <a:ea typeface="Calibri" pitchFamily="34" charset="-122"/>
                <a:cs typeface="Calibri" pitchFamily="34" charset="-120"/>
              </a:rPr>
              <a:t> (what the activations actually say).</a:t>
            </a:r>
            <a:endParaRPr lang="en-US" sz="1500" dirty="0"/>
          </a:p>
        </p:txBody>
      </p:sp>
      <p:sp>
        <p:nvSpPr>
          <p:cNvPr id="9" name="Shape 6"/>
          <p:cNvSpPr/>
          <p:nvPr/>
        </p:nvSpPr>
        <p:spPr>
          <a:xfrm>
            <a:off x="566928" y="4736592"/>
            <a:ext cx="9509760" cy="658368"/>
          </a:xfrm>
          <a:prstGeom prst="roundRect">
            <a:avLst>
              <a:gd name="adj" fmla="val 6944"/>
            </a:avLst>
          </a:prstGeom>
          <a:solidFill>
            <a:srgbClr val="212D48"/>
          </a:solidFill>
          <a:ln w="12700">
            <a:solidFill>
              <a:srgbClr val="333333"/>
            </a:solidFill>
            <a:prstDash val="solid"/>
          </a:ln>
        </p:spPr>
      </p:sp>
      <p:sp>
        <p:nvSpPr>
          <p:cNvPr id="10" name="Text 7"/>
          <p:cNvSpPr/>
          <p:nvPr/>
        </p:nvSpPr>
        <p:spPr>
          <a:xfrm>
            <a:off x="822960" y="4828032"/>
            <a:ext cx="9052560" cy="475488"/>
          </a:xfrm>
          <a:prstGeom prst="rect">
            <a:avLst/>
          </a:prstGeom>
          <a:noFill/>
          <a:ln/>
        </p:spPr>
        <p:txBody>
          <a:bodyPr wrap="square" lIns="0" tIns="0" rIns="0" bIns="0" rtlCol="0" anchor="ctr"/>
          <a:lstStyle/>
          <a:p>
            <a:pPr indent="0" marL="0">
              <a:buNone/>
            </a:pPr>
            <a:r>
              <a:rPr lang="en-US" sz="1100" b="1" dirty="0">
                <a:solidFill>
                  <a:srgbClr val="8FA3BD"/>
                </a:solidFill>
                <a:latin typeface="Calibri" pitchFamily="34" charset="0"/>
                <a:ea typeface="Calibri" pitchFamily="34" charset="-122"/>
                <a:cs typeface="Calibri" pitchFamily="34" charset="-120"/>
              </a:rPr>
              <a:t>Builds directly on   </a:t>
            </a:r>
            <a:pPr indent="0" marL="0">
              <a:buNone/>
            </a:pPr>
            <a:r>
              <a:rPr lang="en-US" sz="1100" b="1" dirty="0">
                <a:solidFill>
                  <a:srgbClr val="FFFFFF"/>
                </a:solidFill>
                <a:latin typeface="Calibri" pitchFamily="34" charset="0"/>
                <a:ea typeface="Calibri" pitchFamily="34" charset="-122"/>
                <a:cs typeface="Calibri" pitchFamily="34" charset="-120"/>
              </a:rPr>
              <a:t>Paper 1 </a:t>
            </a:r>
            <a:pPr indent="0" marL="0">
              <a:buNone/>
            </a:pPr>
            <a:r>
              <a:rPr lang="en-US" sz="1100" dirty="0">
                <a:solidFill>
                  <a:srgbClr val="AFC0D4"/>
                </a:solidFill>
                <a:latin typeface="Calibri" pitchFamily="34" charset="0"/>
                <a:ea typeface="Calibri" pitchFamily="34" charset="-122"/>
                <a:cs typeface="Calibri" pitchFamily="34" charset="-120"/>
              </a:rPr>
              <a:t>human comprehension under obfuscation (n = 50)   ·   </a:t>
            </a:r>
            <a:pPr indent="0" marL="0">
              <a:buNone/>
            </a:pPr>
            <a:r>
              <a:rPr lang="en-US" sz="1100" b="1" dirty="0">
                <a:solidFill>
                  <a:srgbClr val="FFFFFF"/>
                </a:solidFill>
                <a:latin typeface="Calibri" pitchFamily="34" charset="0"/>
                <a:ea typeface="Calibri" pitchFamily="34" charset="-122"/>
                <a:cs typeface="Calibri" pitchFamily="34" charset="-120"/>
              </a:rPr>
              <a:t>Paper 2 </a:t>
            </a:r>
            <a:pPr indent="0" marL="0">
              <a:buNone/>
            </a:pPr>
            <a:r>
              <a:rPr lang="en-US" sz="1100" dirty="0">
                <a:solidFill>
                  <a:srgbClr val="AFC0D4"/>
                </a:solidFill>
                <a:latin typeface="Calibri" pitchFamily="34" charset="0"/>
                <a:ea typeface="Calibri" pitchFamily="34" charset="-122"/>
                <a:cs typeface="Calibri" pitchFamily="34" charset="-120"/>
              </a:rPr>
              <a:t>LLM–human alignment (28,750 runs)   ·   </a:t>
            </a:r>
            <a:pPr indent="0" marL="0">
              <a:buNone/>
            </a:pPr>
            <a:r>
              <a:rPr lang="en-US" sz="1100" b="1" dirty="0">
                <a:solidFill>
                  <a:srgbClr val="FFFFFF"/>
                </a:solidFill>
                <a:latin typeface="Calibri" pitchFamily="34" charset="0"/>
                <a:ea typeface="Calibri" pitchFamily="34" charset="-122"/>
                <a:cs typeface="Calibri" pitchFamily="34" charset="-120"/>
              </a:rPr>
              <a:t>Paper 3 </a:t>
            </a:r>
            <a:pPr indent="0" marL="0">
              <a:buNone/>
            </a:pPr>
            <a:r>
              <a:rPr lang="en-US" sz="1100" dirty="0">
                <a:solidFill>
                  <a:srgbClr val="AFC0D4"/>
                </a:solidFill>
                <a:latin typeface="Calibri" pitchFamily="34" charset="0"/>
                <a:ea typeface="Calibri" pitchFamily="34" charset="-122"/>
                <a:cs typeface="Calibri" pitchFamily="34" charset="-120"/>
              </a:rPr>
              <a:t>dual-process signatures (n = 73)</a:t>
            </a:r>
            <a:endParaRPr lang="en-US" sz="1100" dirty="0"/>
          </a:p>
        </p:txBody>
      </p:sp>
      <p:sp>
        <p:nvSpPr>
          <p:cNvPr id="11" name="Text 8"/>
          <p:cNvSpPr/>
          <p:nvPr/>
        </p:nvSpPr>
        <p:spPr>
          <a:xfrm>
            <a:off x="566928" y="5989320"/>
            <a:ext cx="10058400" cy="365760"/>
          </a:xfrm>
          <a:prstGeom prst="rect">
            <a:avLst/>
          </a:prstGeom>
          <a:noFill/>
          <a:ln/>
        </p:spPr>
        <p:txBody>
          <a:bodyPr wrap="square" lIns="0" tIns="0" rIns="0" bIns="0" rtlCol="0" anchor="ctr"/>
          <a:lstStyle/>
          <a:p>
            <a:pPr indent="0" marL="0">
              <a:buNone/>
            </a:pPr>
            <a:r>
              <a:rPr lang="en-US" sz="1100" i="1" dirty="0">
                <a:solidFill>
                  <a:srgbClr val="7A8BA3"/>
                </a:solidFill>
                <a:latin typeface="Calibri" pitchFamily="34" charset="0"/>
                <a:ea typeface="Calibri" pitchFamily="34" charset="-122"/>
                <a:cs typeface="Calibri" pitchFamily="34" charset="-120"/>
              </a:rPr>
              <a:t>Hypotheses H1–H4 on stacked obfuscation  ·  Schulte’s Block Model as the shared coordinate system  ·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The Evidence Base: Behavior Is Already Mapped</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Converging findings from three prior studies — at the outcome level and at the mechanism-proxy level.</a:t>
            </a:r>
            <a:endParaRPr lang="en-US" sz="1250" dirty="0"/>
          </a:p>
        </p:txBody>
      </p:sp>
      <p:sp>
        <p:nvSpPr>
          <p:cNvPr id="4" name="Shape 2"/>
          <p:cNvSpPr/>
          <p:nvPr/>
        </p:nvSpPr>
        <p:spPr>
          <a:xfrm>
            <a:off x="566928" y="1572768"/>
            <a:ext cx="3474720" cy="1481328"/>
          </a:xfrm>
          <a:prstGeom prst="roundRect">
            <a:avLst>
              <a:gd name="adj" fmla="val 3086"/>
            </a:avLst>
          </a:prstGeom>
          <a:solidFill>
            <a:srgbClr val="F3F5F8"/>
          </a:solidFill>
          <a:ln w="12700">
            <a:solidFill>
              <a:srgbClr val="333333"/>
            </a:solidFill>
            <a:prstDash val="solid"/>
          </a:ln>
        </p:spPr>
      </p:sp>
      <p:sp>
        <p:nvSpPr>
          <p:cNvPr id="5" name="Text 3"/>
          <p:cNvSpPr/>
          <p:nvPr/>
        </p:nvSpPr>
        <p:spPr>
          <a:xfrm>
            <a:off x="786384" y="1700784"/>
            <a:ext cx="3035808" cy="420624"/>
          </a:xfrm>
          <a:prstGeom prst="rect">
            <a:avLst/>
          </a:prstGeom>
          <a:noFill/>
          <a:ln/>
        </p:spPr>
        <p:txBody>
          <a:bodyPr wrap="square" lIns="0" tIns="0" rIns="0" bIns="0" rtlCol="0" anchor="ctr"/>
          <a:lstStyle/>
          <a:p>
            <a:pPr indent="0" marL="0">
              <a:buNone/>
            </a:pPr>
            <a:r>
              <a:rPr lang="en-US" sz="2100" b="1" dirty="0">
                <a:solidFill>
                  <a:srgbClr val="1FA184"/>
                </a:solidFill>
                <a:latin typeface="Cambria" pitchFamily="34" charset="0"/>
                <a:ea typeface="Cambria" pitchFamily="34" charset="-122"/>
                <a:cs typeface="Cambria" pitchFamily="34" charset="-120"/>
              </a:rPr>
              <a:t>ρ = 0.30–0.47</a:t>
            </a:r>
            <a:endParaRPr lang="en-US" sz="2100" dirty="0"/>
          </a:p>
        </p:txBody>
      </p:sp>
      <p:sp>
        <p:nvSpPr>
          <p:cNvPr id="6" name="Text 4"/>
          <p:cNvSpPr/>
          <p:nvPr/>
        </p:nvSpPr>
        <p:spPr>
          <a:xfrm>
            <a:off x="786384" y="2139696"/>
            <a:ext cx="3035808" cy="822960"/>
          </a:xfrm>
          <a:prstGeom prst="rect">
            <a:avLst/>
          </a:prstGeom>
          <a:noFill/>
          <a:ln/>
        </p:spPr>
        <p:txBody>
          <a:bodyPr wrap="square" lIns="0" tIns="0" rIns="0" bIns="0" rtlCol="0" anchor="ctr"/>
          <a:lstStyle/>
          <a:p>
            <a:pPr indent="0" marL="0">
              <a:lnSpc>
                <a:spcPct val="116000"/>
              </a:lnSpc>
              <a:buNone/>
            </a:pPr>
            <a:r>
              <a:rPr lang="en-US" sz="1050" dirty="0">
                <a:solidFill>
                  <a:srgbClr val="16202F"/>
                </a:solidFill>
                <a:latin typeface="Calibri" pitchFamily="34" charset="0"/>
                <a:ea typeface="Calibri" pitchFamily="34" charset="-122"/>
                <a:cs typeface="Calibri" pitchFamily="34" charset="-120"/>
              </a:rPr>
              <a:t>Reasoning-tuned models track human task-level difficulty (p &lt; .001); coder and instruct models sit near zero.</a:t>
            </a:r>
            <a:endParaRPr lang="en-US" sz="1050" dirty="0"/>
          </a:p>
        </p:txBody>
      </p:sp>
      <p:sp>
        <p:nvSpPr>
          <p:cNvPr id="7" name="Shape 5"/>
          <p:cNvSpPr/>
          <p:nvPr/>
        </p:nvSpPr>
        <p:spPr>
          <a:xfrm>
            <a:off x="4352544" y="1572768"/>
            <a:ext cx="3474720" cy="1481328"/>
          </a:xfrm>
          <a:prstGeom prst="roundRect">
            <a:avLst>
              <a:gd name="adj" fmla="val 3086"/>
            </a:avLst>
          </a:prstGeom>
          <a:solidFill>
            <a:srgbClr val="F3F5F8"/>
          </a:solidFill>
          <a:ln w="12700">
            <a:solidFill>
              <a:srgbClr val="333333"/>
            </a:solidFill>
            <a:prstDash val="solid"/>
          </a:ln>
        </p:spPr>
      </p:sp>
      <p:sp>
        <p:nvSpPr>
          <p:cNvPr id="8" name="Text 6"/>
          <p:cNvSpPr/>
          <p:nvPr/>
        </p:nvSpPr>
        <p:spPr>
          <a:xfrm>
            <a:off x="4572000" y="1700784"/>
            <a:ext cx="3035808" cy="420624"/>
          </a:xfrm>
          <a:prstGeom prst="rect">
            <a:avLst/>
          </a:prstGeom>
          <a:noFill/>
          <a:ln/>
        </p:spPr>
        <p:txBody>
          <a:bodyPr wrap="square" lIns="0" tIns="0" rIns="0" bIns="0" rtlCol="0" anchor="ctr"/>
          <a:lstStyle/>
          <a:p>
            <a:pPr indent="0" marL="0">
              <a:buNone/>
            </a:pPr>
            <a:r>
              <a:rPr lang="en-US" sz="2100" b="1" dirty="0">
                <a:solidFill>
                  <a:srgbClr val="1FA184"/>
                </a:solidFill>
                <a:latin typeface="Cambria" pitchFamily="34" charset="0"/>
                <a:ea typeface="Cambria" pitchFamily="34" charset="-122"/>
                <a:cs typeface="Cambria" pitchFamily="34" charset="-120"/>
              </a:rPr>
              <a:t>OR = 0.57</a:t>
            </a:r>
            <a:endParaRPr lang="en-US" sz="2100" dirty="0"/>
          </a:p>
        </p:txBody>
      </p:sp>
      <p:sp>
        <p:nvSpPr>
          <p:cNvPr id="9" name="Text 7"/>
          <p:cNvSpPr/>
          <p:nvPr/>
        </p:nvSpPr>
        <p:spPr>
          <a:xfrm>
            <a:off x="4572000" y="2139696"/>
            <a:ext cx="3035808" cy="822960"/>
          </a:xfrm>
          <a:prstGeom prst="rect">
            <a:avLst/>
          </a:prstGeom>
          <a:noFill/>
          <a:ln/>
        </p:spPr>
        <p:txBody>
          <a:bodyPr wrap="square" lIns="0" tIns="0" rIns="0" bIns="0" rtlCol="0" anchor="ctr"/>
          <a:lstStyle/>
          <a:p>
            <a:pPr indent="0" marL="0">
              <a:lnSpc>
                <a:spcPct val="116000"/>
              </a:lnSpc>
              <a:buNone/>
            </a:pPr>
            <a:r>
              <a:rPr lang="en-US" sz="1050" dirty="0">
                <a:solidFill>
                  <a:srgbClr val="16202F"/>
                </a:solidFill>
                <a:latin typeface="Calibri" pitchFamily="34" charset="0"/>
                <a:ea typeface="Calibri" pitchFamily="34" charset="-122"/>
                <a:cs typeface="Calibri" pitchFamily="34" charset="-120"/>
              </a:rPr>
              <a:t>Only control-flow (L2) carries a reliable accuracy penalty; renaming’s pooled effect cancels by item route.</a:t>
            </a:r>
            <a:endParaRPr lang="en-US" sz="1050" dirty="0"/>
          </a:p>
        </p:txBody>
      </p:sp>
      <p:sp>
        <p:nvSpPr>
          <p:cNvPr id="10" name="Shape 8"/>
          <p:cNvSpPr/>
          <p:nvPr/>
        </p:nvSpPr>
        <p:spPr>
          <a:xfrm>
            <a:off x="8138160" y="1572768"/>
            <a:ext cx="3474720" cy="1481328"/>
          </a:xfrm>
          <a:prstGeom prst="roundRect">
            <a:avLst>
              <a:gd name="adj" fmla="val 3086"/>
            </a:avLst>
          </a:prstGeom>
          <a:solidFill>
            <a:srgbClr val="F3F5F8"/>
          </a:solidFill>
          <a:ln w="12700">
            <a:solidFill>
              <a:srgbClr val="333333"/>
            </a:solidFill>
            <a:prstDash val="solid"/>
          </a:ln>
        </p:spPr>
      </p:sp>
      <p:sp>
        <p:nvSpPr>
          <p:cNvPr id="11" name="Text 9"/>
          <p:cNvSpPr/>
          <p:nvPr/>
        </p:nvSpPr>
        <p:spPr>
          <a:xfrm>
            <a:off x="8357616" y="1700784"/>
            <a:ext cx="3035808" cy="420624"/>
          </a:xfrm>
          <a:prstGeom prst="rect">
            <a:avLst/>
          </a:prstGeom>
          <a:noFill/>
          <a:ln/>
        </p:spPr>
        <p:txBody>
          <a:bodyPr wrap="square" lIns="0" tIns="0" rIns="0" bIns="0" rtlCol="0" anchor="ctr"/>
          <a:lstStyle/>
          <a:p>
            <a:pPr indent="0" marL="0">
              <a:buNone/>
            </a:pPr>
            <a:r>
              <a:rPr lang="en-US" sz="2100" b="1" dirty="0">
                <a:solidFill>
                  <a:srgbClr val="2F6383"/>
                </a:solidFill>
                <a:latin typeface="Cambria" pitchFamily="34" charset="0"/>
                <a:ea typeface="Cambria" pitchFamily="34" charset="-122"/>
                <a:cs typeface="Cambria" pitchFamily="34" charset="-120"/>
              </a:rPr>
              <a:t>r = −0.196</a:t>
            </a:r>
            <a:endParaRPr lang="en-US" sz="2100" dirty="0"/>
          </a:p>
        </p:txBody>
      </p:sp>
      <p:sp>
        <p:nvSpPr>
          <p:cNvPr id="12" name="Text 10"/>
          <p:cNvSpPr/>
          <p:nvPr/>
        </p:nvSpPr>
        <p:spPr>
          <a:xfrm>
            <a:off x="8357616" y="2139696"/>
            <a:ext cx="3035808" cy="822960"/>
          </a:xfrm>
          <a:prstGeom prst="rect">
            <a:avLst/>
          </a:prstGeom>
          <a:noFill/>
          <a:ln/>
        </p:spPr>
        <p:txBody>
          <a:bodyPr wrap="square" lIns="0" tIns="0" rIns="0" bIns="0" rtlCol="0" anchor="ctr"/>
          <a:lstStyle/>
          <a:p>
            <a:pPr indent="0" marL="0">
              <a:lnSpc>
                <a:spcPct val="116000"/>
              </a:lnSpc>
              <a:buNone/>
            </a:pPr>
            <a:r>
              <a:rPr lang="en-US" sz="1050" dirty="0">
                <a:solidFill>
                  <a:srgbClr val="16202F"/>
                </a:solidFill>
                <a:latin typeface="Calibri" pitchFamily="34" charset="0"/>
                <a:ea typeface="Calibri" pitchFamily="34" charset="-122"/>
                <a:cs typeface="Calibri" pitchFamily="34" charset="-120"/>
              </a:rPr>
              <a:t>Dispatcher state count predicts failure under control-flow flattening (q = 3.1×10⁻²³) — a relational bottleneck.</a:t>
            </a:r>
            <a:endParaRPr lang="en-US" sz="1050" dirty="0"/>
          </a:p>
        </p:txBody>
      </p:sp>
      <p:sp>
        <p:nvSpPr>
          <p:cNvPr id="13" name="Shape 11"/>
          <p:cNvSpPr/>
          <p:nvPr/>
        </p:nvSpPr>
        <p:spPr>
          <a:xfrm>
            <a:off x="566928" y="3291840"/>
            <a:ext cx="3474720" cy="1481328"/>
          </a:xfrm>
          <a:prstGeom prst="roundRect">
            <a:avLst>
              <a:gd name="adj" fmla="val 3086"/>
            </a:avLst>
          </a:prstGeom>
          <a:solidFill>
            <a:srgbClr val="F3F5F8"/>
          </a:solidFill>
          <a:ln w="12700">
            <a:solidFill>
              <a:srgbClr val="333333"/>
            </a:solidFill>
            <a:prstDash val="solid"/>
          </a:ln>
        </p:spPr>
      </p:sp>
      <p:sp>
        <p:nvSpPr>
          <p:cNvPr id="14" name="Text 12"/>
          <p:cNvSpPr/>
          <p:nvPr/>
        </p:nvSpPr>
        <p:spPr>
          <a:xfrm>
            <a:off x="786384" y="3419856"/>
            <a:ext cx="3035808" cy="420624"/>
          </a:xfrm>
          <a:prstGeom prst="rect">
            <a:avLst/>
          </a:prstGeom>
          <a:noFill/>
          <a:ln/>
        </p:spPr>
        <p:txBody>
          <a:bodyPr wrap="square" lIns="0" tIns="0" rIns="0" bIns="0" rtlCol="0" anchor="ctr"/>
          <a:lstStyle/>
          <a:p>
            <a:pPr indent="0" marL="0">
              <a:buNone/>
            </a:pPr>
            <a:r>
              <a:rPr lang="en-US" sz="2100" b="1" dirty="0">
                <a:solidFill>
                  <a:srgbClr val="2F6383"/>
                </a:solidFill>
                <a:latin typeface="Cambria" pitchFamily="34" charset="0"/>
                <a:ea typeface="Cambria" pitchFamily="34" charset="-122"/>
                <a:cs typeface="Cambria" pitchFamily="34" charset="-120"/>
              </a:rPr>
              <a:t>× 3.22</a:t>
            </a:r>
            <a:endParaRPr lang="en-US" sz="2100" dirty="0"/>
          </a:p>
        </p:txBody>
      </p:sp>
      <p:sp>
        <p:nvSpPr>
          <p:cNvPr id="15" name="Text 13"/>
          <p:cNvSpPr/>
          <p:nvPr/>
        </p:nvSpPr>
        <p:spPr>
          <a:xfrm>
            <a:off x="786384" y="3858768"/>
            <a:ext cx="3035808" cy="822960"/>
          </a:xfrm>
          <a:prstGeom prst="rect">
            <a:avLst/>
          </a:prstGeom>
          <a:noFill/>
          <a:ln/>
        </p:spPr>
        <p:txBody>
          <a:bodyPr wrap="square" lIns="0" tIns="0" rIns="0" bIns="0" rtlCol="0" anchor="ctr"/>
          <a:lstStyle/>
          <a:p>
            <a:pPr indent="0" marL="0">
              <a:lnSpc>
                <a:spcPct val="116000"/>
              </a:lnSpc>
              <a:buNone/>
            </a:pPr>
            <a:r>
              <a:rPr lang="en-US" sz="1050" dirty="0">
                <a:solidFill>
                  <a:srgbClr val="16202F"/>
                </a:solidFill>
                <a:latin typeface="Calibri" pitchFamily="34" charset="0"/>
                <a:ea typeface="Calibri" pitchFamily="34" charset="-122"/>
                <a:cs typeface="Calibri" pitchFamily="34" charset="-120"/>
              </a:rPr>
              <a:t>Renaming triples “confused-by-names, then traced” — Stroop-like interference, not a confident trap (HCI OR 0.85, n.s.).</a:t>
            </a:r>
            <a:endParaRPr lang="en-US" sz="1050" dirty="0"/>
          </a:p>
        </p:txBody>
      </p:sp>
      <p:sp>
        <p:nvSpPr>
          <p:cNvPr id="16" name="Shape 14"/>
          <p:cNvSpPr/>
          <p:nvPr/>
        </p:nvSpPr>
        <p:spPr>
          <a:xfrm>
            <a:off x="4352544" y="3291840"/>
            <a:ext cx="3474720" cy="1481328"/>
          </a:xfrm>
          <a:prstGeom prst="roundRect">
            <a:avLst>
              <a:gd name="adj" fmla="val 3086"/>
            </a:avLst>
          </a:prstGeom>
          <a:solidFill>
            <a:srgbClr val="F3F5F8"/>
          </a:solidFill>
          <a:ln w="12700">
            <a:solidFill>
              <a:srgbClr val="333333"/>
            </a:solidFill>
            <a:prstDash val="solid"/>
          </a:ln>
        </p:spPr>
      </p:sp>
      <p:sp>
        <p:nvSpPr>
          <p:cNvPr id="17" name="Text 15"/>
          <p:cNvSpPr/>
          <p:nvPr/>
        </p:nvSpPr>
        <p:spPr>
          <a:xfrm>
            <a:off x="4572000" y="3419856"/>
            <a:ext cx="3035808" cy="420624"/>
          </a:xfrm>
          <a:prstGeom prst="rect">
            <a:avLst/>
          </a:prstGeom>
          <a:noFill/>
          <a:ln/>
        </p:spPr>
        <p:txBody>
          <a:bodyPr wrap="square" lIns="0" tIns="0" rIns="0" bIns="0" rtlCol="0" anchor="ctr"/>
          <a:lstStyle/>
          <a:p>
            <a:pPr indent="0" marL="0">
              <a:buNone/>
            </a:pPr>
            <a:r>
              <a:rPr lang="en-US" sz="2100" b="1" dirty="0">
                <a:solidFill>
                  <a:srgbClr val="C9534B"/>
                </a:solidFill>
                <a:latin typeface="Cambria" pitchFamily="34" charset="0"/>
                <a:ea typeface="Cambria" pitchFamily="34" charset="-122"/>
                <a:cs typeface="Cambria" pitchFamily="34" charset="-120"/>
              </a:rPr>
              <a:t>21.3% / 10.0%</a:t>
            </a:r>
            <a:endParaRPr lang="en-US" sz="2100" dirty="0"/>
          </a:p>
        </p:txBody>
      </p:sp>
      <p:sp>
        <p:nvSpPr>
          <p:cNvPr id="18" name="Text 16"/>
          <p:cNvSpPr/>
          <p:nvPr/>
        </p:nvSpPr>
        <p:spPr>
          <a:xfrm>
            <a:off x="4572000" y="3858768"/>
            <a:ext cx="3035808" cy="822960"/>
          </a:xfrm>
          <a:prstGeom prst="rect">
            <a:avLst/>
          </a:prstGeom>
          <a:noFill/>
          <a:ln/>
        </p:spPr>
        <p:txBody>
          <a:bodyPr wrap="square" lIns="0" tIns="0" rIns="0" bIns="0" rtlCol="0" anchor="ctr"/>
          <a:lstStyle/>
          <a:p>
            <a:pPr indent="0" marL="0">
              <a:lnSpc>
                <a:spcPct val="116000"/>
              </a:lnSpc>
              <a:buNone/>
            </a:pPr>
            <a:r>
              <a:rPr lang="en-US" sz="1050" dirty="0">
                <a:solidFill>
                  <a:srgbClr val="16202F"/>
                </a:solidFill>
                <a:latin typeface="Calibri" pitchFamily="34" charset="0"/>
                <a:ea typeface="Calibri" pitchFamily="34" charset="-122"/>
                <a:cs typeface="Calibri" pitchFamily="34" charset="-120"/>
              </a:rPr>
              <a:t>At L1b accuracy collapses and HCI peaks only where semantic displacement ∩ identifier spikes co-occur — atom-level failure.</a:t>
            </a:r>
            <a:endParaRPr lang="en-US" sz="1050" dirty="0"/>
          </a:p>
        </p:txBody>
      </p:sp>
      <p:sp>
        <p:nvSpPr>
          <p:cNvPr id="19" name="Shape 17"/>
          <p:cNvSpPr/>
          <p:nvPr/>
        </p:nvSpPr>
        <p:spPr>
          <a:xfrm>
            <a:off x="8138160" y="3291840"/>
            <a:ext cx="3474720" cy="1481328"/>
          </a:xfrm>
          <a:prstGeom prst="roundRect">
            <a:avLst>
              <a:gd name="adj" fmla="val 3086"/>
            </a:avLst>
          </a:prstGeom>
          <a:solidFill>
            <a:srgbClr val="F3F5F8"/>
          </a:solidFill>
          <a:ln w="12700">
            <a:solidFill>
              <a:srgbClr val="333333"/>
            </a:solidFill>
            <a:prstDash val="solid"/>
          </a:ln>
        </p:spPr>
      </p:sp>
      <p:sp>
        <p:nvSpPr>
          <p:cNvPr id="20" name="Text 18"/>
          <p:cNvSpPr/>
          <p:nvPr/>
        </p:nvSpPr>
        <p:spPr>
          <a:xfrm>
            <a:off x="8357616" y="3419856"/>
            <a:ext cx="3035808" cy="420624"/>
          </a:xfrm>
          <a:prstGeom prst="rect">
            <a:avLst/>
          </a:prstGeom>
          <a:noFill/>
          <a:ln/>
        </p:spPr>
        <p:txBody>
          <a:bodyPr wrap="square" lIns="0" tIns="0" rIns="0" bIns="0" rtlCol="0" anchor="ctr"/>
          <a:lstStyle/>
          <a:p>
            <a:pPr indent="0" marL="0">
              <a:buNone/>
            </a:pPr>
            <a:r>
              <a:rPr lang="en-US" sz="2100" b="1" dirty="0">
                <a:solidFill>
                  <a:srgbClr val="B5842B"/>
                </a:solidFill>
                <a:latin typeface="Cambria" pitchFamily="34" charset="0"/>
                <a:ea typeface="Cambria" pitchFamily="34" charset="-122"/>
                <a:cs typeface="Cambria" pitchFamily="34" charset="-120"/>
              </a:rPr>
              <a:t>~2,048 tok</a:t>
            </a:r>
            <a:endParaRPr lang="en-US" sz="2100" dirty="0"/>
          </a:p>
        </p:txBody>
      </p:sp>
      <p:sp>
        <p:nvSpPr>
          <p:cNvPr id="21" name="Text 19"/>
          <p:cNvSpPr/>
          <p:nvPr/>
        </p:nvSpPr>
        <p:spPr>
          <a:xfrm>
            <a:off x="8357616" y="3858768"/>
            <a:ext cx="3035808" cy="822960"/>
          </a:xfrm>
          <a:prstGeom prst="rect">
            <a:avLst/>
          </a:prstGeom>
          <a:noFill/>
          <a:ln/>
        </p:spPr>
        <p:txBody>
          <a:bodyPr wrap="square" lIns="0" tIns="0" rIns="0" bIns="0" rtlCol="0" anchor="ctr"/>
          <a:lstStyle/>
          <a:p>
            <a:pPr indent="0" marL="0">
              <a:lnSpc>
                <a:spcPct val="116000"/>
              </a:lnSpc>
              <a:buNone/>
            </a:pPr>
            <a:r>
              <a:rPr lang="en-US" sz="1050" dirty="0">
                <a:solidFill>
                  <a:srgbClr val="16202F"/>
                </a:solidFill>
                <a:latin typeface="Calibri" pitchFamily="34" charset="0"/>
                <a:ea typeface="Calibri" pitchFamily="34" charset="-122"/>
                <a:cs typeface="Calibri" pitchFamily="34" charset="-120"/>
              </a:rPr>
              <a:t>Model System-2 accuracy saturates: a bounded reasoning budget, the machine analog of the human cognitive limit.</a:t>
            </a:r>
            <a:endParaRPr lang="en-US" sz="1050" dirty="0"/>
          </a:p>
        </p:txBody>
      </p:sp>
      <p:sp>
        <p:nvSpPr>
          <p:cNvPr id="22" name="Shape 20"/>
          <p:cNvSpPr/>
          <p:nvPr/>
        </p:nvSpPr>
        <p:spPr>
          <a:xfrm>
            <a:off x="566928" y="5138928"/>
            <a:ext cx="11057839" cy="987552"/>
          </a:xfrm>
          <a:prstGeom prst="roundRect">
            <a:avLst>
              <a:gd name="adj" fmla="val 5556"/>
            </a:avLst>
          </a:prstGeom>
          <a:solidFill>
            <a:srgbClr val="141B2E"/>
          </a:solidFill>
          <a:ln w="12700">
            <a:solidFill>
              <a:srgbClr val="333333"/>
            </a:solidFill>
            <a:prstDash val="solid"/>
          </a:ln>
        </p:spPr>
      </p:sp>
      <p:sp>
        <p:nvSpPr>
          <p:cNvPr id="23" name="Text 21"/>
          <p:cNvSpPr/>
          <p:nvPr/>
        </p:nvSpPr>
        <p:spPr>
          <a:xfrm>
            <a:off x="841248" y="5230368"/>
            <a:ext cx="10509199" cy="804672"/>
          </a:xfrm>
          <a:prstGeom prst="rect">
            <a:avLst/>
          </a:prstGeom>
          <a:noFill/>
          <a:ln/>
        </p:spPr>
        <p:txBody>
          <a:bodyPr wrap="square" lIns="0" tIns="0" rIns="0" bIns="0" rtlCol="0" anchor="ctr"/>
          <a:lstStyle/>
          <a:p>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Bottom line   </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We know </a:t>
            </a:r>
            <a:pPr indent="0" marL="0">
              <a:lnSpc>
                <a:spcPct val="118000"/>
              </a:lnSpc>
              <a:buNone/>
            </a:pPr>
            <a:r>
              <a:rPr lang="en-US" sz="1250" b="1" dirty="0">
                <a:solidFill>
                  <a:srgbClr val="FFFFFF"/>
                </a:solidFill>
                <a:latin typeface="Calibri" pitchFamily="34" charset="0"/>
                <a:ea typeface="Calibri" pitchFamily="34" charset="-122"/>
                <a:cs typeface="Calibri" pitchFamily="34" charset="-120"/>
              </a:rPr>
              <a:t>which</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 tasks break humans and models, and we know the two failure routes (atom-level interference vs. relational overload). We do not know </a:t>
            </a:r>
            <a:pPr indent="0" marL="0">
              <a:lnSpc>
                <a:spcPct val="118000"/>
              </a:lnSpc>
              <a:buNone/>
            </a:pPr>
            <a:r>
              <a:rPr lang="en-US" sz="1250" b="1" dirty="0">
                <a:solidFill>
                  <a:srgbClr val="FFFFFF"/>
                </a:solidFill>
                <a:latin typeface="Calibri" pitchFamily="34" charset="0"/>
                <a:ea typeface="Calibri" pitchFamily="34" charset="-122"/>
                <a:cs typeface="Calibri" pitchFamily="34" charset="-120"/>
              </a:rPr>
              <a:t>how</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 the model’s internals implement — or fail to implement — either route.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The Gap: We See the Answer, Not the Understanding</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A model reads code and produces an answer. In between, its computation is a stream of vectors that no measure we have taken inspects directly.</a:t>
            </a:r>
            <a:endParaRPr lang="en-US" sz="1250" dirty="0"/>
          </a:p>
        </p:txBody>
      </p:sp>
      <p:sp>
        <p:nvSpPr>
          <p:cNvPr id="4" name="Shape 2"/>
          <p:cNvSpPr/>
          <p:nvPr/>
        </p:nvSpPr>
        <p:spPr>
          <a:xfrm>
            <a:off x="1014984" y="1572768"/>
            <a:ext cx="2926080" cy="1188720"/>
          </a:xfrm>
          <a:prstGeom prst="roundRect">
            <a:avLst>
              <a:gd name="adj" fmla="val 3846"/>
            </a:avLst>
          </a:prstGeom>
          <a:solidFill>
            <a:srgbClr val="F3F5F8"/>
          </a:solidFill>
          <a:ln w="12700">
            <a:solidFill>
              <a:srgbClr val="333333"/>
            </a:solidFill>
            <a:prstDash val="solid"/>
          </a:ln>
        </p:spPr>
      </p:sp>
      <p:pic>
        <p:nvPicPr>
          <p:cNvPr id="5" name="Image 0" descr="preencoded.png">    </p:cNvPr>
          <p:cNvPicPr>
            <a:picLocks noChangeAspect="1"/>
          </p:cNvPicPr>
          <p:nvPr/>
        </p:nvPicPr>
        <p:blipFill>
          <a:blip r:embed="rId1"/>
          <a:stretch>
            <a:fillRect/>
          </a:stretch>
        </p:blipFill>
        <p:spPr>
          <a:xfrm>
            <a:off x="2276856" y="1719072"/>
            <a:ext cx="402336" cy="402336"/>
          </a:xfrm>
          <a:prstGeom prst="rect">
            <a:avLst/>
          </a:prstGeom>
        </p:spPr>
      </p:pic>
      <p:sp>
        <p:nvSpPr>
          <p:cNvPr id="6" name="Text 3"/>
          <p:cNvSpPr/>
          <p:nvPr/>
        </p:nvSpPr>
        <p:spPr>
          <a:xfrm>
            <a:off x="1014984" y="2176272"/>
            <a:ext cx="2926080" cy="274320"/>
          </a:xfrm>
          <a:prstGeom prst="rect">
            <a:avLst/>
          </a:prstGeom>
          <a:noFill/>
          <a:ln/>
        </p:spPr>
        <p:txBody>
          <a:bodyPr wrap="square" lIns="0" tIns="0" rIns="0" bIns="0" rtlCol="0" anchor="ctr"/>
          <a:lstStyle/>
          <a:p>
            <a:pPr algn="ctr" indent="0" marL="0">
              <a:buNone/>
            </a:pPr>
            <a:r>
              <a:rPr lang="en-US" sz="1400" b="1" dirty="0">
                <a:solidFill>
                  <a:srgbClr val="16202F"/>
                </a:solidFill>
                <a:latin typeface="Calibri" pitchFamily="34" charset="0"/>
                <a:ea typeface="Calibri" pitchFamily="34" charset="-122"/>
                <a:cs typeface="Calibri" pitchFamily="34" charset="-120"/>
              </a:rPr>
              <a:t>Code in</a:t>
            </a:r>
            <a:endParaRPr lang="en-US" sz="1400" dirty="0"/>
          </a:p>
        </p:txBody>
      </p:sp>
      <p:sp>
        <p:nvSpPr>
          <p:cNvPr id="7" name="Text 4"/>
          <p:cNvSpPr/>
          <p:nvPr/>
        </p:nvSpPr>
        <p:spPr>
          <a:xfrm>
            <a:off x="1014984" y="2441448"/>
            <a:ext cx="2926080" cy="237744"/>
          </a:xfrm>
          <a:prstGeom prst="rect">
            <a:avLst/>
          </a:prstGeom>
          <a:noFill/>
          <a:ln/>
        </p:spPr>
        <p:txBody>
          <a:bodyPr wrap="square" lIns="0" tIns="0" rIns="0" bIns="0" rtlCol="0" anchor="ctr"/>
          <a:lstStyle/>
          <a:p>
            <a:pPr algn="ctr" indent="0" marL="0">
              <a:buNone/>
            </a:pPr>
            <a:r>
              <a:rPr lang="en-US" sz="1050" dirty="0">
                <a:solidFill>
                  <a:srgbClr val="68788B"/>
                </a:solidFill>
                <a:latin typeface="Calibri" pitchFamily="34" charset="0"/>
                <a:ea typeface="Calibri" pitchFamily="34" charset="-122"/>
                <a:cs typeface="Calibri" pitchFamily="34" charset="-120"/>
              </a:rPr>
              <a:t>function + concrete input</a:t>
            </a:r>
            <a:endParaRPr lang="en-US" sz="1050" dirty="0"/>
          </a:p>
        </p:txBody>
      </p:sp>
      <p:sp>
        <p:nvSpPr>
          <p:cNvPr id="8" name="Shape 5"/>
          <p:cNvSpPr/>
          <p:nvPr/>
        </p:nvSpPr>
        <p:spPr>
          <a:xfrm>
            <a:off x="4096512" y="2048256"/>
            <a:ext cx="384048" cy="237744"/>
          </a:xfrm>
          <a:prstGeom prst="rightArrow">
            <a:avLst/>
          </a:prstGeom>
          <a:solidFill>
            <a:srgbClr val="9AA9BC"/>
          </a:solidFill>
          <a:ln w="12700">
            <a:solidFill>
              <a:srgbClr val="333333"/>
            </a:solidFill>
            <a:prstDash val="solid"/>
          </a:ln>
        </p:spPr>
      </p:sp>
      <p:sp>
        <p:nvSpPr>
          <p:cNvPr id="9" name="Shape 6"/>
          <p:cNvSpPr/>
          <p:nvPr/>
        </p:nvSpPr>
        <p:spPr>
          <a:xfrm>
            <a:off x="4626864" y="1572768"/>
            <a:ext cx="2926080" cy="1188720"/>
          </a:xfrm>
          <a:prstGeom prst="roundRect">
            <a:avLst>
              <a:gd name="adj" fmla="val 3846"/>
            </a:avLst>
          </a:prstGeom>
          <a:solidFill>
            <a:srgbClr val="141B2E"/>
          </a:solidFill>
          <a:ln w="12700">
            <a:solidFill>
              <a:srgbClr val="333333"/>
            </a:solidFill>
            <a:prstDash val="solid"/>
          </a:ln>
        </p:spPr>
      </p:sp>
      <p:pic>
        <p:nvPicPr>
          <p:cNvPr id="10" name="Image 1" descr="preencoded.png">    </p:cNvPr>
          <p:cNvPicPr>
            <a:picLocks noChangeAspect="1"/>
          </p:cNvPicPr>
          <p:nvPr/>
        </p:nvPicPr>
        <p:blipFill>
          <a:blip r:embed="rId2"/>
          <a:stretch>
            <a:fillRect/>
          </a:stretch>
        </p:blipFill>
        <p:spPr>
          <a:xfrm>
            <a:off x="5888736" y="1719072"/>
            <a:ext cx="402336" cy="402336"/>
          </a:xfrm>
          <a:prstGeom prst="rect">
            <a:avLst/>
          </a:prstGeom>
        </p:spPr>
      </p:pic>
      <p:sp>
        <p:nvSpPr>
          <p:cNvPr id="11" name="Text 7"/>
          <p:cNvSpPr/>
          <p:nvPr/>
        </p:nvSpPr>
        <p:spPr>
          <a:xfrm>
            <a:off x="4626864" y="2176272"/>
            <a:ext cx="29260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Internal state</a:t>
            </a:r>
            <a:endParaRPr lang="en-US" sz="1400" dirty="0"/>
          </a:p>
        </p:txBody>
      </p:sp>
      <p:sp>
        <p:nvSpPr>
          <p:cNvPr id="12" name="Text 8"/>
          <p:cNvSpPr/>
          <p:nvPr/>
        </p:nvSpPr>
        <p:spPr>
          <a:xfrm>
            <a:off x="4626864" y="2441448"/>
            <a:ext cx="2926080" cy="237744"/>
          </a:xfrm>
          <a:prstGeom prst="rect">
            <a:avLst/>
          </a:prstGeom>
          <a:noFill/>
          <a:ln/>
        </p:spPr>
        <p:txBody>
          <a:bodyPr wrap="square" lIns="0" tIns="0" rIns="0" bIns="0" rtlCol="0" anchor="ctr"/>
          <a:lstStyle/>
          <a:p>
            <a:pPr algn="ctr" indent="0" marL="0">
              <a:buNone/>
            </a:pPr>
            <a:r>
              <a:rPr lang="en-US" sz="1000" dirty="0">
                <a:solidFill>
                  <a:srgbClr val="8FA3BD"/>
                </a:solidFill>
                <a:latin typeface="Courier New" pitchFamily="34" charset="0"/>
                <a:ea typeface="Courier New" pitchFamily="34" charset="-122"/>
                <a:cs typeface="Courier New" pitchFamily="34" charset="-120"/>
              </a:rPr>
              <a:t>0.21   −1.84   0.07   0.99  …</a:t>
            </a:r>
            <a:endParaRPr lang="en-US" sz="1000" dirty="0"/>
          </a:p>
        </p:txBody>
      </p:sp>
      <p:sp>
        <p:nvSpPr>
          <p:cNvPr id="13" name="Shape 9"/>
          <p:cNvSpPr/>
          <p:nvPr/>
        </p:nvSpPr>
        <p:spPr>
          <a:xfrm>
            <a:off x="7708392" y="2048256"/>
            <a:ext cx="384048" cy="237744"/>
          </a:xfrm>
          <a:prstGeom prst="rightArrow">
            <a:avLst/>
          </a:prstGeom>
          <a:solidFill>
            <a:srgbClr val="9AA9BC"/>
          </a:solidFill>
          <a:ln w="12700">
            <a:solidFill>
              <a:srgbClr val="333333"/>
            </a:solidFill>
            <a:prstDash val="solid"/>
          </a:ln>
        </p:spPr>
      </p:sp>
      <p:sp>
        <p:nvSpPr>
          <p:cNvPr id="14" name="Shape 10"/>
          <p:cNvSpPr/>
          <p:nvPr/>
        </p:nvSpPr>
        <p:spPr>
          <a:xfrm>
            <a:off x="8238744" y="1572768"/>
            <a:ext cx="2926080" cy="1188720"/>
          </a:xfrm>
          <a:prstGeom prst="roundRect">
            <a:avLst>
              <a:gd name="adj" fmla="val 3846"/>
            </a:avLst>
          </a:prstGeom>
          <a:solidFill>
            <a:srgbClr val="F3F5F8"/>
          </a:solidFill>
          <a:ln w="12700">
            <a:solidFill>
              <a:srgbClr val="333333"/>
            </a:solidFill>
            <a:prstDash val="solid"/>
          </a:ln>
        </p:spPr>
      </p:sp>
      <p:pic>
        <p:nvPicPr>
          <p:cNvPr id="15" name="Image 2" descr="preencoded.png">    </p:cNvPr>
          <p:cNvPicPr>
            <a:picLocks noChangeAspect="1"/>
          </p:cNvPicPr>
          <p:nvPr/>
        </p:nvPicPr>
        <p:blipFill>
          <a:blip r:embed="rId3"/>
          <a:stretch>
            <a:fillRect/>
          </a:stretch>
        </p:blipFill>
        <p:spPr>
          <a:xfrm>
            <a:off x="9500616" y="1719072"/>
            <a:ext cx="402336" cy="402336"/>
          </a:xfrm>
          <a:prstGeom prst="rect">
            <a:avLst/>
          </a:prstGeom>
        </p:spPr>
      </p:pic>
      <p:sp>
        <p:nvSpPr>
          <p:cNvPr id="16" name="Text 11"/>
          <p:cNvSpPr/>
          <p:nvPr/>
        </p:nvSpPr>
        <p:spPr>
          <a:xfrm>
            <a:off x="8238744" y="2176272"/>
            <a:ext cx="2926080" cy="274320"/>
          </a:xfrm>
          <a:prstGeom prst="rect">
            <a:avLst/>
          </a:prstGeom>
          <a:noFill/>
          <a:ln/>
        </p:spPr>
        <p:txBody>
          <a:bodyPr wrap="square" lIns="0" tIns="0" rIns="0" bIns="0" rtlCol="0" anchor="ctr"/>
          <a:lstStyle/>
          <a:p>
            <a:pPr algn="ctr" indent="0" marL="0">
              <a:buNone/>
            </a:pPr>
            <a:r>
              <a:rPr lang="en-US" sz="1400" b="1" dirty="0">
                <a:solidFill>
                  <a:srgbClr val="16202F"/>
                </a:solidFill>
                <a:latin typeface="Calibri" pitchFamily="34" charset="0"/>
                <a:ea typeface="Calibri" pitchFamily="34" charset="-122"/>
                <a:cs typeface="Calibri" pitchFamily="34" charset="-120"/>
              </a:rPr>
              <a:t>Answer out</a:t>
            </a:r>
            <a:endParaRPr lang="en-US" sz="1400" dirty="0"/>
          </a:p>
        </p:txBody>
      </p:sp>
      <p:sp>
        <p:nvSpPr>
          <p:cNvPr id="17" name="Text 12"/>
          <p:cNvSpPr/>
          <p:nvPr/>
        </p:nvSpPr>
        <p:spPr>
          <a:xfrm>
            <a:off x="8238744" y="2441448"/>
            <a:ext cx="2926080" cy="237744"/>
          </a:xfrm>
          <a:prstGeom prst="rect">
            <a:avLst/>
          </a:prstGeom>
          <a:noFill/>
          <a:ln/>
        </p:spPr>
        <p:txBody>
          <a:bodyPr wrap="square" lIns="0" tIns="0" rIns="0" bIns="0" rtlCol="0" anchor="ctr"/>
          <a:lstStyle/>
          <a:p>
            <a:pPr algn="ctr" indent="0" marL="0">
              <a:buNone/>
            </a:pPr>
            <a:r>
              <a:rPr lang="en-US" sz="1050" dirty="0">
                <a:solidFill>
                  <a:srgbClr val="68788B"/>
                </a:solidFill>
                <a:latin typeface="Calibri" pitchFamily="34" charset="0"/>
                <a:ea typeface="Calibri" pitchFamily="34" charset="-122"/>
                <a:cs typeface="Calibri" pitchFamily="34" charset="-120"/>
              </a:rPr>
              <a:t>one bit: right / wrong</a:t>
            </a:r>
            <a:endParaRPr lang="en-US" sz="1050" dirty="0"/>
          </a:p>
        </p:txBody>
      </p:sp>
      <p:sp>
        <p:nvSpPr>
          <p:cNvPr id="18" name="Shape 13"/>
          <p:cNvSpPr/>
          <p:nvPr/>
        </p:nvSpPr>
        <p:spPr>
          <a:xfrm>
            <a:off x="566928" y="3054096"/>
            <a:ext cx="5394960" cy="1783080"/>
          </a:xfrm>
          <a:prstGeom prst="roundRect">
            <a:avLst>
              <a:gd name="adj" fmla="val 2564"/>
            </a:avLst>
          </a:prstGeom>
          <a:solidFill>
            <a:srgbClr val="E9F5F1"/>
          </a:solidFill>
          <a:ln w="12700">
            <a:solidFill>
              <a:srgbClr val="333333"/>
            </a:solidFill>
            <a:prstDash val="solid"/>
          </a:ln>
        </p:spPr>
      </p:sp>
      <p:sp>
        <p:nvSpPr>
          <p:cNvPr id="19" name="Shape 14"/>
          <p:cNvSpPr/>
          <p:nvPr/>
        </p:nvSpPr>
        <p:spPr>
          <a:xfrm>
            <a:off x="822960" y="3291840"/>
            <a:ext cx="457200" cy="457200"/>
          </a:xfrm>
          <a:prstGeom prst="ellipse">
            <a:avLst/>
          </a:prstGeom>
          <a:solidFill>
            <a:srgbClr val="1FA184"/>
          </a:solidFill>
          <a:ln w="12700">
            <a:solidFill>
              <a:srgbClr val="333333"/>
            </a:solidFill>
            <a:prstDash val="solid"/>
          </a:ln>
        </p:spPr>
      </p:sp>
      <p:pic>
        <p:nvPicPr>
          <p:cNvPr id="20" name="Image 3" descr="preencoded.png">    </p:cNvPr>
          <p:cNvPicPr>
            <a:picLocks noChangeAspect="1"/>
          </p:cNvPicPr>
          <p:nvPr/>
        </p:nvPicPr>
        <p:blipFill>
          <a:blip r:embed="rId4"/>
          <a:stretch>
            <a:fillRect/>
          </a:stretch>
        </p:blipFill>
        <p:spPr>
          <a:xfrm>
            <a:off x="946404" y="3415284"/>
            <a:ext cx="210312" cy="210312"/>
          </a:xfrm>
          <a:prstGeom prst="rect">
            <a:avLst/>
          </a:prstGeom>
        </p:spPr>
      </p:pic>
      <p:sp>
        <p:nvSpPr>
          <p:cNvPr id="21" name="Text 15"/>
          <p:cNvSpPr/>
          <p:nvPr/>
        </p:nvSpPr>
        <p:spPr>
          <a:xfrm>
            <a:off x="1408176" y="3328416"/>
            <a:ext cx="4297680" cy="384048"/>
          </a:xfrm>
          <a:prstGeom prst="rect">
            <a:avLst/>
          </a:prstGeom>
          <a:noFill/>
          <a:ln/>
        </p:spPr>
        <p:txBody>
          <a:bodyPr wrap="square" lIns="0" tIns="0" rIns="0" bIns="0" rtlCol="0" anchor="ctr"/>
          <a:lstStyle/>
          <a:p>
            <a:pPr indent="0" marL="0">
              <a:buNone/>
            </a:pPr>
            <a:r>
              <a:rPr lang="en-US" sz="1350" b="1" dirty="0">
                <a:solidFill>
                  <a:srgbClr val="1FA184"/>
                </a:solidFill>
                <a:latin typeface="Calibri" pitchFamily="34" charset="0"/>
                <a:ea typeface="Calibri" pitchFamily="34" charset="-122"/>
                <a:cs typeface="Calibri" pitchFamily="34" charset="-120"/>
              </a:rPr>
              <a:t>Missing readout 1 — WHERE</a:t>
            </a:r>
            <a:endParaRPr lang="en-US" sz="1350" dirty="0"/>
          </a:p>
        </p:txBody>
      </p:sp>
      <p:sp>
        <p:nvSpPr>
          <p:cNvPr id="22" name="Text 16"/>
          <p:cNvSpPr/>
          <p:nvPr/>
        </p:nvSpPr>
        <p:spPr>
          <a:xfrm>
            <a:off x="822960" y="3840480"/>
            <a:ext cx="4882896" cy="868680"/>
          </a:xfrm>
          <a:prstGeom prst="rect">
            <a:avLst/>
          </a:prstGeom>
          <a:noFill/>
          <a:ln/>
        </p:spPr>
        <p:txBody>
          <a:bodyPr wrap="square" lIns="0" tIns="0" rIns="0" bIns="0" rtlCol="0" anchor="ctr"/>
          <a:lstStyle/>
          <a:p>
            <a:pPr indent="0" marL="0">
              <a:lnSpc>
                <a:spcPct val="118000"/>
              </a:lnSpc>
              <a:buNone/>
            </a:pPr>
            <a:r>
              <a:rPr lang="en-US" sz="1100" dirty="0">
                <a:solidFill>
                  <a:srgbClr val="16202F"/>
                </a:solidFill>
                <a:latin typeface="Calibri" pitchFamily="34" charset="0"/>
                <a:ea typeface="Calibri" pitchFamily="34" charset="-122"/>
                <a:cs typeface="Calibri" pitchFamily="34" charset="-120"/>
              </a:rPr>
              <a:t>Attention allocation over code tokens: how a finite budget splits between identifiers, dispatcher structure, and sinks — and how that split moves from L0 to L3. This is the H1–H4 hypothesis space (Part II).</a:t>
            </a:r>
            <a:endParaRPr lang="en-US" sz="1100" dirty="0"/>
          </a:p>
        </p:txBody>
      </p:sp>
      <p:sp>
        <p:nvSpPr>
          <p:cNvPr id="23" name="Shape 17"/>
          <p:cNvSpPr/>
          <p:nvPr/>
        </p:nvSpPr>
        <p:spPr>
          <a:xfrm>
            <a:off x="6227064" y="3054096"/>
            <a:ext cx="5394960" cy="1783080"/>
          </a:xfrm>
          <a:prstGeom prst="roundRect">
            <a:avLst>
              <a:gd name="adj" fmla="val 2564"/>
            </a:avLst>
          </a:prstGeom>
          <a:solidFill>
            <a:srgbClr val="EBF1F6"/>
          </a:solidFill>
          <a:ln w="12700">
            <a:solidFill>
              <a:srgbClr val="333333"/>
            </a:solidFill>
            <a:prstDash val="solid"/>
          </a:ln>
        </p:spPr>
      </p:sp>
      <p:sp>
        <p:nvSpPr>
          <p:cNvPr id="24" name="Shape 18"/>
          <p:cNvSpPr/>
          <p:nvPr/>
        </p:nvSpPr>
        <p:spPr>
          <a:xfrm>
            <a:off x="6483096" y="3291840"/>
            <a:ext cx="457200" cy="457200"/>
          </a:xfrm>
          <a:prstGeom prst="ellipse">
            <a:avLst/>
          </a:prstGeom>
          <a:solidFill>
            <a:srgbClr val="2F6383"/>
          </a:solidFill>
          <a:ln w="12700">
            <a:solidFill>
              <a:srgbClr val="333333"/>
            </a:solidFill>
            <a:prstDash val="solid"/>
          </a:ln>
        </p:spPr>
      </p:sp>
      <p:pic>
        <p:nvPicPr>
          <p:cNvPr id="25" name="Image 4" descr="preencoded.png">    </p:cNvPr>
          <p:cNvPicPr>
            <a:picLocks noChangeAspect="1"/>
          </p:cNvPicPr>
          <p:nvPr/>
        </p:nvPicPr>
        <p:blipFill>
          <a:blip r:embed="rId5"/>
          <a:stretch>
            <a:fillRect/>
          </a:stretch>
        </p:blipFill>
        <p:spPr>
          <a:xfrm>
            <a:off x="6606540" y="3415284"/>
            <a:ext cx="210312" cy="210312"/>
          </a:xfrm>
          <a:prstGeom prst="rect">
            <a:avLst/>
          </a:prstGeom>
        </p:spPr>
      </p:pic>
      <p:sp>
        <p:nvSpPr>
          <p:cNvPr id="26" name="Text 19"/>
          <p:cNvSpPr/>
          <p:nvPr/>
        </p:nvSpPr>
        <p:spPr>
          <a:xfrm>
            <a:off x="7068312" y="3328416"/>
            <a:ext cx="4297680" cy="384048"/>
          </a:xfrm>
          <a:prstGeom prst="rect">
            <a:avLst/>
          </a:prstGeom>
          <a:noFill/>
          <a:ln/>
        </p:spPr>
        <p:txBody>
          <a:bodyPr wrap="square" lIns="0" tIns="0" rIns="0" bIns="0" rtlCol="0" anchor="ctr"/>
          <a:lstStyle/>
          <a:p>
            <a:pPr indent="0" marL="0">
              <a:buNone/>
            </a:pPr>
            <a:r>
              <a:rPr lang="en-US" sz="1350" b="1" dirty="0">
                <a:solidFill>
                  <a:srgbClr val="2F6383"/>
                </a:solidFill>
                <a:latin typeface="Calibri" pitchFamily="34" charset="0"/>
                <a:ea typeface="Calibri" pitchFamily="34" charset="-122"/>
                <a:cs typeface="Calibri" pitchFamily="34" charset="-120"/>
              </a:rPr>
              <a:t>Missing readout 2 — WHAT</a:t>
            </a:r>
            <a:endParaRPr lang="en-US" sz="1350" dirty="0"/>
          </a:p>
        </p:txBody>
      </p:sp>
      <p:sp>
        <p:nvSpPr>
          <p:cNvPr id="27" name="Text 20"/>
          <p:cNvSpPr/>
          <p:nvPr/>
        </p:nvSpPr>
        <p:spPr>
          <a:xfrm>
            <a:off x="6483096" y="3840480"/>
            <a:ext cx="4882896" cy="868680"/>
          </a:xfrm>
          <a:prstGeom prst="rect">
            <a:avLst/>
          </a:prstGeom>
          <a:noFill/>
          <a:ln/>
        </p:spPr>
        <p:txBody>
          <a:bodyPr wrap="square" lIns="0" tIns="0" rIns="0" bIns="0" rtlCol="0" anchor="ctr"/>
          <a:lstStyle/>
          <a:p>
            <a:pPr indent="0" marL="0">
              <a:lnSpc>
                <a:spcPct val="118000"/>
              </a:lnSpc>
              <a:buNone/>
            </a:pPr>
            <a:r>
              <a:rPr lang="en-US" sz="1100" dirty="0">
                <a:solidFill>
                  <a:srgbClr val="16202F"/>
                </a:solidFill>
                <a:latin typeface="Calibri" pitchFamily="34" charset="0"/>
                <a:ea typeface="Calibri" pitchFamily="34" charset="-122"/>
                <a:cs typeface="Calibri" pitchFamily="34" charset="-120"/>
              </a:rPr>
              <a:t>Representation content: what the residual stream encodes while reading obfuscated code — does the model recover the true function, adopt the adversarial frame, or silently flag the deception? NLAs answer in plain language (Part III).</a:t>
            </a:r>
            <a:endParaRPr lang="en-US" sz="1100" dirty="0"/>
          </a:p>
        </p:txBody>
      </p:sp>
      <p:sp>
        <p:nvSpPr>
          <p:cNvPr id="28" name="Shape 21"/>
          <p:cNvSpPr/>
          <p:nvPr/>
        </p:nvSpPr>
        <p:spPr>
          <a:xfrm>
            <a:off x="566928" y="5047488"/>
            <a:ext cx="11057839" cy="1078992"/>
          </a:xfrm>
          <a:prstGeom prst="roundRect">
            <a:avLst>
              <a:gd name="adj" fmla="val 5085"/>
            </a:avLst>
          </a:prstGeom>
          <a:solidFill>
            <a:srgbClr val="141B2E"/>
          </a:solidFill>
          <a:ln w="12700">
            <a:solidFill>
              <a:srgbClr val="333333"/>
            </a:solidFill>
            <a:prstDash val="solid"/>
          </a:ln>
        </p:spPr>
      </p:sp>
      <p:sp>
        <p:nvSpPr>
          <p:cNvPr id="29" name="Text 22"/>
          <p:cNvSpPr/>
          <p:nvPr/>
        </p:nvSpPr>
        <p:spPr>
          <a:xfrm>
            <a:off x="841248" y="5138928"/>
            <a:ext cx="10509199" cy="896112"/>
          </a:xfrm>
          <a:prstGeom prst="rect">
            <a:avLst/>
          </a:prstGeom>
          <a:noFill/>
          <a:ln/>
        </p:spPr>
        <p:txBody>
          <a:bodyPr wrap="square" lIns="0" tIns="0" rIns="0" bIns="0" rtlCol="0" anchor="ctr"/>
          <a:lstStyle/>
          <a:p>
            <a:pPr indent="0" marL="0">
              <a:lnSpc>
                <a:spcPct val="118000"/>
              </a:lnSpc>
              <a:buNone/>
            </a:pPr>
            <a:r>
              <a:rPr lang="en-US" sz="1200" b="1" dirty="0">
                <a:solidFill>
                  <a:srgbClr val="6FD3B8"/>
                </a:solidFill>
                <a:latin typeface="Calibri" pitchFamily="34" charset="0"/>
                <a:ea typeface="Calibri" pitchFamily="34" charset="-122"/>
                <a:cs typeface="Calibri" pitchFamily="34" charset="-120"/>
              </a:rPr>
              <a:t>Why stacked obfuscation (L3) is the decisive test.   </a:t>
            </a:r>
            <a:pPr indent="0" marL="0">
              <a:lnSpc>
                <a:spcPct val="118000"/>
              </a:lnSpc>
              <a:buNone/>
            </a:pPr>
            <a:r>
              <a:rPr lang="en-US" sz="1200" dirty="0">
                <a:solidFill>
                  <a:srgbClr val="DCE6F2"/>
                </a:solidFill>
                <a:latin typeface="Calibri" pitchFamily="34" charset="0"/>
                <a:ea typeface="Calibri" pitchFamily="34" charset="-122"/>
                <a:cs typeface="Calibri" pitchFamily="34" charset="-120"/>
              </a:rPr>
              <a:t>L3 attacks the atom level (misleading identifiers) and the relational level (dispatcher indirection) at once, so the two documented failure routes compete for one finite budget. Which signal the model privileges — identifiers, structure, both, or neither — is invisible to accuracy, CoT length, or confidence.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Why Obfuscated Code Is the Ideal Testbed</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Obfuscation preserves program behavior while stripping the cues a reader relies on — manufacturing ambiguity, traps, and hidden state on demand.</a:t>
            </a:r>
            <a:endParaRPr lang="en-US" sz="1250" dirty="0"/>
          </a:p>
        </p:txBody>
      </p:sp>
      <p:sp>
        <p:nvSpPr>
          <p:cNvPr id="4" name="Shape 2"/>
          <p:cNvSpPr/>
          <p:nvPr/>
        </p:nvSpPr>
        <p:spPr>
          <a:xfrm>
            <a:off x="566928" y="1572768"/>
            <a:ext cx="3474720" cy="2286000"/>
          </a:xfrm>
          <a:prstGeom prst="roundRect">
            <a:avLst>
              <a:gd name="adj" fmla="val 2000"/>
            </a:avLst>
          </a:prstGeom>
          <a:solidFill>
            <a:srgbClr val="E9F5F1"/>
          </a:solidFill>
          <a:ln w="12700">
            <a:solidFill>
              <a:srgbClr val="333333"/>
            </a:solidFill>
            <a:prstDash val="solid"/>
          </a:ln>
        </p:spPr>
      </p:sp>
      <p:sp>
        <p:nvSpPr>
          <p:cNvPr id="5" name="Shape 3"/>
          <p:cNvSpPr/>
          <p:nvPr/>
        </p:nvSpPr>
        <p:spPr>
          <a:xfrm>
            <a:off x="841248" y="1847088"/>
            <a:ext cx="566928" cy="566928"/>
          </a:xfrm>
          <a:prstGeom prst="ellipse">
            <a:avLst/>
          </a:prstGeom>
          <a:solidFill>
            <a:srgbClr val="1FA184"/>
          </a:solidFill>
          <a:ln w="12700">
            <a:solidFill>
              <a:srgbClr val="333333"/>
            </a:solidFill>
            <a:prstDash val="solid"/>
          </a:ln>
        </p:spPr>
      </p:sp>
      <p:pic>
        <p:nvPicPr>
          <p:cNvPr id="6" name="Image 0" descr="preencoded.png">    </p:cNvPr>
          <p:cNvPicPr>
            <a:picLocks noChangeAspect="1"/>
          </p:cNvPicPr>
          <p:nvPr/>
        </p:nvPicPr>
        <p:blipFill>
          <a:blip r:embed="rId1"/>
          <a:stretch>
            <a:fillRect/>
          </a:stretch>
        </p:blipFill>
        <p:spPr>
          <a:xfrm>
            <a:off x="994319" y="2000159"/>
            <a:ext cx="260787" cy="260787"/>
          </a:xfrm>
          <a:prstGeom prst="rect">
            <a:avLst/>
          </a:prstGeom>
        </p:spPr>
      </p:pic>
      <p:sp>
        <p:nvSpPr>
          <p:cNvPr id="7" name="Text 4"/>
          <p:cNvSpPr/>
          <p:nvPr/>
        </p:nvSpPr>
        <p:spPr>
          <a:xfrm>
            <a:off x="3172968" y="1901952"/>
            <a:ext cx="594360" cy="329184"/>
          </a:xfrm>
          <a:prstGeom prst="rect">
            <a:avLst/>
          </a:prstGeom>
          <a:noFill/>
          <a:ln/>
        </p:spPr>
        <p:txBody>
          <a:bodyPr wrap="square" lIns="0" tIns="0" rIns="0" bIns="0" rtlCol="0" anchor="ctr"/>
          <a:lstStyle/>
          <a:p>
            <a:pPr algn="r" indent="0" marL="0">
              <a:buNone/>
            </a:pPr>
            <a:r>
              <a:rPr lang="en-US" sz="1400" b="1" dirty="0">
                <a:solidFill>
                  <a:srgbClr val="1FA184"/>
                </a:solidFill>
                <a:latin typeface="Courier New" pitchFamily="34" charset="0"/>
                <a:ea typeface="Courier New" pitchFamily="34" charset="-122"/>
                <a:cs typeface="Courier New" pitchFamily="34" charset="-120"/>
              </a:rPr>
              <a:t>L1</a:t>
            </a:r>
            <a:endParaRPr lang="en-US" sz="1400" dirty="0"/>
          </a:p>
        </p:txBody>
      </p:sp>
      <p:sp>
        <p:nvSpPr>
          <p:cNvPr id="8" name="Text 5"/>
          <p:cNvSpPr/>
          <p:nvPr/>
        </p:nvSpPr>
        <p:spPr>
          <a:xfrm>
            <a:off x="841248" y="2560320"/>
            <a:ext cx="2926080" cy="347472"/>
          </a:xfrm>
          <a:prstGeom prst="rect">
            <a:avLst/>
          </a:prstGeom>
          <a:noFill/>
          <a:ln/>
        </p:spPr>
        <p:txBody>
          <a:bodyPr wrap="square" lIns="0" tIns="0" rIns="0" bIns="0" rtlCol="0" anchor="ctr"/>
          <a:lstStyle/>
          <a:p>
            <a:pPr indent="0" marL="0">
              <a:buNone/>
            </a:pPr>
            <a:r>
              <a:rPr lang="en-US" sz="1400" b="1" dirty="0">
                <a:solidFill>
                  <a:srgbClr val="16202F"/>
                </a:solidFill>
                <a:latin typeface="Calibri" pitchFamily="34" charset="0"/>
                <a:ea typeface="Calibri" pitchFamily="34" charset="-122"/>
                <a:cs typeface="Calibri" pitchFamily="34" charset="-120"/>
              </a:rPr>
              <a:t>Rename to nonsense</a:t>
            </a:r>
            <a:endParaRPr lang="en-US" sz="1400" dirty="0"/>
          </a:p>
        </p:txBody>
      </p:sp>
      <p:sp>
        <p:nvSpPr>
          <p:cNvPr id="9" name="Text 6"/>
          <p:cNvSpPr/>
          <p:nvPr/>
        </p:nvSpPr>
        <p:spPr>
          <a:xfrm>
            <a:off x="841248" y="2944368"/>
            <a:ext cx="2926080" cy="822960"/>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Strip meaningful names. The model loses its lexical shortcuts and must reason about structure instead — an atom-level cue removal.</a:t>
            </a:r>
            <a:endParaRPr lang="en-US" sz="1100" dirty="0"/>
          </a:p>
        </p:txBody>
      </p:sp>
      <p:sp>
        <p:nvSpPr>
          <p:cNvPr id="10" name="Shape 7"/>
          <p:cNvSpPr/>
          <p:nvPr/>
        </p:nvSpPr>
        <p:spPr>
          <a:xfrm>
            <a:off x="4352544" y="1572768"/>
            <a:ext cx="3474720" cy="2286000"/>
          </a:xfrm>
          <a:prstGeom prst="roundRect">
            <a:avLst>
              <a:gd name="adj" fmla="val 2000"/>
            </a:avLst>
          </a:prstGeom>
          <a:solidFill>
            <a:srgbClr val="FAECEA"/>
          </a:solidFill>
          <a:ln w="12700">
            <a:solidFill>
              <a:srgbClr val="333333"/>
            </a:solidFill>
            <a:prstDash val="solid"/>
          </a:ln>
        </p:spPr>
      </p:sp>
      <p:sp>
        <p:nvSpPr>
          <p:cNvPr id="11" name="Shape 8"/>
          <p:cNvSpPr/>
          <p:nvPr/>
        </p:nvSpPr>
        <p:spPr>
          <a:xfrm>
            <a:off x="4626864" y="1847088"/>
            <a:ext cx="566928" cy="566928"/>
          </a:xfrm>
          <a:prstGeom prst="ellipse">
            <a:avLst/>
          </a:prstGeom>
          <a:solidFill>
            <a:srgbClr val="C9534B"/>
          </a:solidFill>
          <a:ln w="12700">
            <a:solidFill>
              <a:srgbClr val="333333"/>
            </a:solidFill>
            <a:prstDash val="solid"/>
          </a:ln>
        </p:spPr>
      </p:sp>
      <p:pic>
        <p:nvPicPr>
          <p:cNvPr id="12" name="Image 1" descr="preencoded.png">    </p:cNvPr>
          <p:cNvPicPr>
            <a:picLocks noChangeAspect="1"/>
          </p:cNvPicPr>
          <p:nvPr/>
        </p:nvPicPr>
        <p:blipFill>
          <a:blip r:embed="rId2"/>
          <a:stretch>
            <a:fillRect/>
          </a:stretch>
        </p:blipFill>
        <p:spPr>
          <a:xfrm>
            <a:off x="4779935" y="2000159"/>
            <a:ext cx="260787" cy="260787"/>
          </a:xfrm>
          <a:prstGeom prst="rect">
            <a:avLst/>
          </a:prstGeom>
        </p:spPr>
      </p:pic>
      <p:sp>
        <p:nvSpPr>
          <p:cNvPr id="13" name="Text 9"/>
          <p:cNvSpPr/>
          <p:nvPr/>
        </p:nvSpPr>
        <p:spPr>
          <a:xfrm>
            <a:off x="6958584" y="1901952"/>
            <a:ext cx="594360" cy="329184"/>
          </a:xfrm>
          <a:prstGeom prst="rect">
            <a:avLst/>
          </a:prstGeom>
          <a:noFill/>
          <a:ln/>
        </p:spPr>
        <p:txBody>
          <a:bodyPr wrap="square" lIns="0" tIns="0" rIns="0" bIns="0" rtlCol="0" anchor="ctr"/>
          <a:lstStyle/>
          <a:p>
            <a:pPr algn="r" indent="0" marL="0">
              <a:buNone/>
            </a:pPr>
            <a:r>
              <a:rPr lang="en-US" sz="1400" b="1" dirty="0">
                <a:solidFill>
                  <a:srgbClr val="C9534B"/>
                </a:solidFill>
                <a:latin typeface="Courier New" pitchFamily="34" charset="0"/>
                <a:ea typeface="Courier New" pitchFamily="34" charset="-122"/>
                <a:cs typeface="Courier New" pitchFamily="34" charset="-120"/>
              </a:rPr>
              <a:t>L1b</a:t>
            </a:r>
            <a:endParaRPr lang="en-US" sz="1400" dirty="0"/>
          </a:p>
        </p:txBody>
      </p:sp>
      <p:sp>
        <p:nvSpPr>
          <p:cNvPr id="14" name="Text 10"/>
          <p:cNvSpPr/>
          <p:nvPr/>
        </p:nvSpPr>
        <p:spPr>
          <a:xfrm>
            <a:off x="4626864" y="2560320"/>
            <a:ext cx="2926080" cy="347472"/>
          </a:xfrm>
          <a:prstGeom prst="rect">
            <a:avLst/>
          </a:prstGeom>
          <a:noFill/>
          <a:ln/>
        </p:spPr>
        <p:txBody>
          <a:bodyPr wrap="square" lIns="0" tIns="0" rIns="0" bIns="0" rtlCol="0" anchor="ctr"/>
          <a:lstStyle/>
          <a:p>
            <a:pPr indent="0" marL="0">
              <a:buNone/>
            </a:pPr>
            <a:r>
              <a:rPr lang="en-US" sz="1400" b="1" dirty="0">
                <a:solidFill>
                  <a:srgbClr val="16202F"/>
                </a:solidFill>
                <a:latin typeface="Calibri" pitchFamily="34" charset="0"/>
                <a:ea typeface="Calibri" pitchFamily="34" charset="-122"/>
                <a:cs typeface="Calibri" pitchFamily="34" charset="-120"/>
              </a:rPr>
              <a:t>Adversarial renaming</a:t>
            </a:r>
            <a:endParaRPr lang="en-US" sz="1400" dirty="0"/>
          </a:p>
        </p:txBody>
      </p:sp>
      <p:sp>
        <p:nvSpPr>
          <p:cNvPr id="15" name="Text 11"/>
          <p:cNvSpPr/>
          <p:nvPr/>
        </p:nvSpPr>
        <p:spPr>
          <a:xfrm>
            <a:off x="4626864" y="2944368"/>
            <a:ext cx="2926080" cy="822960"/>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Swap in plausible-but-wrong names. A Stroop-like trap that baits confident, incorrect answers — an atom-level cue corruption.</a:t>
            </a:r>
            <a:endParaRPr lang="en-US" sz="1100" dirty="0"/>
          </a:p>
        </p:txBody>
      </p:sp>
      <p:sp>
        <p:nvSpPr>
          <p:cNvPr id="16" name="Shape 12"/>
          <p:cNvSpPr/>
          <p:nvPr/>
        </p:nvSpPr>
        <p:spPr>
          <a:xfrm>
            <a:off x="8138160" y="1572768"/>
            <a:ext cx="3474720" cy="2286000"/>
          </a:xfrm>
          <a:prstGeom prst="roundRect">
            <a:avLst>
              <a:gd name="adj" fmla="val 2000"/>
            </a:avLst>
          </a:prstGeom>
          <a:solidFill>
            <a:srgbClr val="EBF1F6"/>
          </a:solidFill>
          <a:ln w="12700">
            <a:solidFill>
              <a:srgbClr val="333333"/>
            </a:solidFill>
            <a:prstDash val="solid"/>
          </a:ln>
        </p:spPr>
      </p:sp>
      <p:sp>
        <p:nvSpPr>
          <p:cNvPr id="17" name="Shape 13"/>
          <p:cNvSpPr/>
          <p:nvPr/>
        </p:nvSpPr>
        <p:spPr>
          <a:xfrm>
            <a:off x="8412480" y="1847088"/>
            <a:ext cx="566928" cy="566928"/>
          </a:xfrm>
          <a:prstGeom prst="ellipse">
            <a:avLst/>
          </a:prstGeom>
          <a:solidFill>
            <a:srgbClr val="2F6383"/>
          </a:solidFill>
          <a:ln w="12700">
            <a:solidFill>
              <a:srgbClr val="333333"/>
            </a:solidFill>
            <a:prstDash val="solid"/>
          </a:ln>
        </p:spPr>
      </p:sp>
      <p:pic>
        <p:nvPicPr>
          <p:cNvPr id="18" name="Image 2" descr="preencoded.png">    </p:cNvPr>
          <p:cNvPicPr>
            <a:picLocks noChangeAspect="1"/>
          </p:cNvPicPr>
          <p:nvPr/>
        </p:nvPicPr>
        <p:blipFill>
          <a:blip r:embed="rId3"/>
          <a:stretch>
            <a:fillRect/>
          </a:stretch>
        </p:blipFill>
        <p:spPr>
          <a:xfrm>
            <a:off x="8565551" y="2000159"/>
            <a:ext cx="260787" cy="260787"/>
          </a:xfrm>
          <a:prstGeom prst="rect">
            <a:avLst/>
          </a:prstGeom>
        </p:spPr>
      </p:pic>
      <p:sp>
        <p:nvSpPr>
          <p:cNvPr id="19" name="Text 14"/>
          <p:cNvSpPr/>
          <p:nvPr/>
        </p:nvSpPr>
        <p:spPr>
          <a:xfrm>
            <a:off x="10744200" y="1901952"/>
            <a:ext cx="594360" cy="329184"/>
          </a:xfrm>
          <a:prstGeom prst="rect">
            <a:avLst/>
          </a:prstGeom>
          <a:noFill/>
          <a:ln/>
        </p:spPr>
        <p:txBody>
          <a:bodyPr wrap="square" lIns="0" tIns="0" rIns="0" bIns="0" rtlCol="0" anchor="ctr"/>
          <a:lstStyle/>
          <a:p>
            <a:pPr algn="r" indent="0" marL="0">
              <a:buNone/>
            </a:pPr>
            <a:r>
              <a:rPr lang="en-US" sz="1400" b="1" dirty="0">
                <a:solidFill>
                  <a:srgbClr val="2F6383"/>
                </a:solidFill>
                <a:latin typeface="Courier New" pitchFamily="34" charset="0"/>
                <a:ea typeface="Courier New" pitchFamily="34" charset="-122"/>
                <a:cs typeface="Courier New" pitchFamily="34" charset="-120"/>
              </a:rPr>
              <a:t>L2</a:t>
            </a:r>
            <a:endParaRPr lang="en-US" sz="1400" dirty="0"/>
          </a:p>
        </p:txBody>
      </p:sp>
      <p:sp>
        <p:nvSpPr>
          <p:cNvPr id="20" name="Text 15"/>
          <p:cNvSpPr/>
          <p:nvPr/>
        </p:nvSpPr>
        <p:spPr>
          <a:xfrm>
            <a:off x="8412480" y="2560320"/>
            <a:ext cx="2926080" cy="347472"/>
          </a:xfrm>
          <a:prstGeom prst="rect">
            <a:avLst/>
          </a:prstGeom>
          <a:noFill/>
          <a:ln/>
        </p:spPr>
        <p:txBody>
          <a:bodyPr wrap="square" lIns="0" tIns="0" rIns="0" bIns="0" rtlCol="0" anchor="ctr"/>
          <a:lstStyle/>
          <a:p>
            <a:pPr indent="0" marL="0">
              <a:buNone/>
            </a:pPr>
            <a:r>
              <a:rPr lang="en-US" sz="1400" b="1" dirty="0">
                <a:solidFill>
                  <a:srgbClr val="16202F"/>
                </a:solidFill>
                <a:latin typeface="Calibri" pitchFamily="34" charset="0"/>
                <a:ea typeface="Calibri" pitchFamily="34" charset="-122"/>
                <a:cs typeface="Calibri" pitchFamily="34" charset="-120"/>
              </a:rPr>
              <a:t>Control-flow flattening</a:t>
            </a:r>
            <a:endParaRPr lang="en-US" sz="1400" dirty="0"/>
          </a:p>
        </p:txBody>
      </p:sp>
      <p:sp>
        <p:nvSpPr>
          <p:cNvPr id="21" name="Text 16"/>
          <p:cNvSpPr/>
          <p:nvPr/>
        </p:nvSpPr>
        <p:spPr>
          <a:xfrm>
            <a:off x="8412480" y="2944368"/>
            <a:ext cx="2926080" cy="822960"/>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Scramble execution order behind a dispatcher. Forces hidden state tracking — a relational and macro-level break.</a:t>
            </a:r>
            <a:endParaRPr lang="en-US" sz="1100" dirty="0"/>
          </a:p>
        </p:txBody>
      </p:sp>
      <p:sp>
        <p:nvSpPr>
          <p:cNvPr id="22" name="Text 17"/>
          <p:cNvSpPr/>
          <p:nvPr/>
        </p:nvSpPr>
        <p:spPr>
          <a:xfrm>
            <a:off x="566928" y="4041648"/>
            <a:ext cx="5486400" cy="256032"/>
          </a:xfrm>
          <a:prstGeom prst="rect">
            <a:avLst/>
          </a:prstGeom>
          <a:noFill/>
          <a:ln/>
        </p:spPr>
        <p:txBody>
          <a:bodyPr wrap="square" lIns="0" tIns="0" rIns="0" bIns="0" rtlCol="0" anchor="ctr"/>
          <a:lstStyle/>
          <a:p>
            <a:pPr indent="0" marL="0">
              <a:buNone/>
            </a:pPr>
            <a:r>
              <a:rPr lang="en-US" sz="950" b="1" spc="160" kern="0" dirty="0">
                <a:solidFill>
                  <a:srgbClr val="68788B"/>
                </a:solidFill>
                <a:latin typeface="Calibri" pitchFamily="34" charset="0"/>
                <a:ea typeface="Calibri" pitchFamily="34" charset="-122"/>
                <a:cs typeface="Calibri" pitchFamily="34" charset="-120"/>
              </a:rPr>
              <a:t>OBFUSCATION LADDER USED THROUGHOUT</a:t>
            </a:r>
            <a:endParaRPr lang="en-US" sz="950" dirty="0"/>
          </a:p>
        </p:txBody>
      </p:sp>
      <p:sp>
        <p:nvSpPr>
          <p:cNvPr id="23" name="Shape 18"/>
          <p:cNvSpPr/>
          <p:nvPr/>
        </p:nvSpPr>
        <p:spPr>
          <a:xfrm>
            <a:off x="664312" y="4352544"/>
            <a:ext cx="2011680" cy="457200"/>
          </a:xfrm>
          <a:prstGeom prst="roundRect">
            <a:avLst>
              <a:gd name="adj" fmla="val 16000"/>
            </a:avLst>
          </a:prstGeom>
          <a:solidFill>
            <a:srgbClr val="F3F5F8"/>
          </a:solidFill>
          <a:ln w="12700">
            <a:solidFill>
              <a:srgbClr val="DDE3EB"/>
            </a:solidFill>
            <a:prstDash val="solid"/>
          </a:ln>
        </p:spPr>
      </p:sp>
      <p:sp>
        <p:nvSpPr>
          <p:cNvPr id="24" name="Text 19"/>
          <p:cNvSpPr/>
          <p:nvPr/>
        </p:nvSpPr>
        <p:spPr>
          <a:xfrm>
            <a:off x="664312" y="4352544"/>
            <a:ext cx="2011680" cy="457200"/>
          </a:xfrm>
          <a:prstGeom prst="rect">
            <a:avLst/>
          </a:prstGeom>
          <a:noFill/>
          <a:ln/>
        </p:spPr>
        <p:txBody>
          <a:bodyPr wrap="square" lIns="0" tIns="0" rIns="0" bIns="0" rtlCol="0" anchor="ctr"/>
          <a:lstStyle/>
          <a:p>
            <a:pPr algn="ctr" indent="0" marL="0">
              <a:buNone/>
            </a:pPr>
            <a:r>
              <a:rPr lang="en-US" sz="1100" dirty="0">
                <a:solidFill>
                  <a:srgbClr val="3A4859"/>
                </a:solidFill>
                <a:latin typeface="Calibri" pitchFamily="34" charset="0"/>
                <a:ea typeface="Calibri" pitchFamily="34" charset="-122"/>
                <a:cs typeface="Calibri" pitchFamily="34" charset="-120"/>
              </a:rPr>
              <a:t>L0  original</a:t>
            </a:r>
            <a:endParaRPr lang="en-US" sz="1100" dirty="0"/>
          </a:p>
        </p:txBody>
      </p:sp>
      <p:sp>
        <p:nvSpPr>
          <p:cNvPr id="25" name="Shape 20"/>
          <p:cNvSpPr/>
          <p:nvPr/>
        </p:nvSpPr>
        <p:spPr>
          <a:xfrm>
            <a:off x="2877160" y="4352544"/>
            <a:ext cx="2011680" cy="457200"/>
          </a:xfrm>
          <a:prstGeom prst="roundRect">
            <a:avLst>
              <a:gd name="adj" fmla="val 16000"/>
            </a:avLst>
          </a:prstGeom>
          <a:solidFill>
            <a:srgbClr val="F3F5F8"/>
          </a:solidFill>
          <a:ln w="12700">
            <a:solidFill>
              <a:srgbClr val="DDE3EB"/>
            </a:solidFill>
            <a:prstDash val="solid"/>
          </a:ln>
        </p:spPr>
      </p:sp>
      <p:sp>
        <p:nvSpPr>
          <p:cNvPr id="26" name="Text 21"/>
          <p:cNvSpPr/>
          <p:nvPr/>
        </p:nvSpPr>
        <p:spPr>
          <a:xfrm>
            <a:off x="2877160" y="4352544"/>
            <a:ext cx="2011680" cy="457200"/>
          </a:xfrm>
          <a:prstGeom prst="rect">
            <a:avLst/>
          </a:prstGeom>
          <a:noFill/>
          <a:ln/>
        </p:spPr>
        <p:txBody>
          <a:bodyPr wrap="square" lIns="0" tIns="0" rIns="0" bIns="0" rtlCol="0" anchor="ctr"/>
          <a:lstStyle/>
          <a:p>
            <a:pPr algn="ctr" indent="0" marL="0">
              <a:buNone/>
            </a:pPr>
            <a:r>
              <a:rPr lang="en-US" sz="1100" dirty="0">
                <a:solidFill>
                  <a:srgbClr val="3A4859"/>
                </a:solidFill>
                <a:latin typeface="Calibri" pitchFamily="34" charset="0"/>
                <a:ea typeface="Calibri" pitchFamily="34" charset="-122"/>
                <a:cs typeface="Calibri" pitchFamily="34" charset="-120"/>
              </a:rPr>
              <a:t>L1  renaming</a:t>
            </a:r>
            <a:endParaRPr lang="en-US" sz="1100" dirty="0"/>
          </a:p>
        </p:txBody>
      </p:sp>
      <p:sp>
        <p:nvSpPr>
          <p:cNvPr id="27" name="Shape 22"/>
          <p:cNvSpPr/>
          <p:nvPr/>
        </p:nvSpPr>
        <p:spPr>
          <a:xfrm>
            <a:off x="5090008" y="4352544"/>
            <a:ext cx="2011680" cy="457200"/>
          </a:xfrm>
          <a:prstGeom prst="roundRect">
            <a:avLst>
              <a:gd name="adj" fmla="val 16000"/>
            </a:avLst>
          </a:prstGeom>
          <a:solidFill>
            <a:srgbClr val="F3F5F8"/>
          </a:solidFill>
          <a:ln w="12700">
            <a:solidFill>
              <a:srgbClr val="DDE3EB"/>
            </a:solidFill>
            <a:prstDash val="solid"/>
          </a:ln>
        </p:spPr>
      </p:sp>
      <p:sp>
        <p:nvSpPr>
          <p:cNvPr id="28" name="Text 23"/>
          <p:cNvSpPr/>
          <p:nvPr/>
        </p:nvSpPr>
        <p:spPr>
          <a:xfrm>
            <a:off x="5090008" y="4352544"/>
            <a:ext cx="2011680" cy="457200"/>
          </a:xfrm>
          <a:prstGeom prst="rect">
            <a:avLst/>
          </a:prstGeom>
          <a:noFill/>
          <a:ln/>
        </p:spPr>
        <p:txBody>
          <a:bodyPr wrap="square" lIns="0" tIns="0" rIns="0" bIns="0" rtlCol="0" anchor="ctr"/>
          <a:lstStyle/>
          <a:p>
            <a:pPr algn="ctr" indent="0" marL="0">
              <a:buNone/>
            </a:pPr>
            <a:r>
              <a:rPr lang="en-US" sz="1100" dirty="0">
                <a:solidFill>
                  <a:srgbClr val="3A4859"/>
                </a:solidFill>
                <a:latin typeface="Calibri" pitchFamily="34" charset="0"/>
                <a:ea typeface="Calibri" pitchFamily="34" charset="-122"/>
                <a:cs typeface="Calibri" pitchFamily="34" charset="-120"/>
              </a:rPr>
              <a:t>L1b  adversarial</a:t>
            </a:r>
            <a:endParaRPr lang="en-US" sz="1100" dirty="0"/>
          </a:p>
        </p:txBody>
      </p:sp>
      <p:sp>
        <p:nvSpPr>
          <p:cNvPr id="29" name="Shape 24"/>
          <p:cNvSpPr/>
          <p:nvPr/>
        </p:nvSpPr>
        <p:spPr>
          <a:xfrm>
            <a:off x="7302856" y="4352544"/>
            <a:ext cx="2011680" cy="457200"/>
          </a:xfrm>
          <a:prstGeom prst="roundRect">
            <a:avLst>
              <a:gd name="adj" fmla="val 16000"/>
            </a:avLst>
          </a:prstGeom>
          <a:solidFill>
            <a:srgbClr val="F3F5F8"/>
          </a:solidFill>
          <a:ln w="12700">
            <a:solidFill>
              <a:srgbClr val="DDE3EB"/>
            </a:solidFill>
            <a:prstDash val="solid"/>
          </a:ln>
        </p:spPr>
      </p:sp>
      <p:sp>
        <p:nvSpPr>
          <p:cNvPr id="30" name="Text 25"/>
          <p:cNvSpPr/>
          <p:nvPr/>
        </p:nvSpPr>
        <p:spPr>
          <a:xfrm>
            <a:off x="7302856" y="4352544"/>
            <a:ext cx="2011680" cy="457200"/>
          </a:xfrm>
          <a:prstGeom prst="rect">
            <a:avLst/>
          </a:prstGeom>
          <a:noFill/>
          <a:ln/>
        </p:spPr>
        <p:txBody>
          <a:bodyPr wrap="square" lIns="0" tIns="0" rIns="0" bIns="0" rtlCol="0" anchor="ctr"/>
          <a:lstStyle/>
          <a:p>
            <a:pPr algn="ctr" indent="0" marL="0">
              <a:buNone/>
            </a:pPr>
            <a:r>
              <a:rPr lang="en-US" sz="1100" dirty="0">
                <a:solidFill>
                  <a:srgbClr val="3A4859"/>
                </a:solidFill>
                <a:latin typeface="Calibri" pitchFamily="34" charset="0"/>
                <a:ea typeface="Calibri" pitchFamily="34" charset="-122"/>
                <a:cs typeface="Calibri" pitchFamily="34" charset="-120"/>
              </a:rPr>
              <a:t>L2  flattening</a:t>
            </a:r>
            <a:endParaRPr lang="en-US" sz="1100" dirty="0"/>
          </a:p>
        </p:txBody>
      </p:sp>
      <p:sp>
        <p:nvSpPr>
          <p:cNvPr id="31" name="Shape 26"/>
          <p:cNvSpPr/>
          <p:nvPr/>
        </p:nvSpPr>
        <p:spPr>
          <a:xfrm>
            <a:off x="9515704" y="4352544"/>
            <a:ext cx="2011680" cy="457200"/>
          </a:xfrm>
          <a:prstGeom prst="roundRect">
            <a:avLst>
              <a:gd name="adj" fmla="val 16000"/>
            </a:avLst>
          </a:prstGeom>
          <a:solidFill>
            <a:srgbClr val="141B2E"/>
          </a:solidFill>
          <a:ln w="12700">
            <a:solidFill>
              <a:srgbClr val="141B2E"/>
            </a:solidFill>
            <a:prstDash val="solid"/>
          </a:ln>
        </p:spPr>
      </p:sp>
      <p:sp>
        <p:nvSpPr>
          <p:cNvPr id="32" name="Text 27"/>
          <p:cNvSpPr/>
          <p:nvPr/>
        </p:nvSpPr>
        <p:spPr>
          <a:xfrm>
            <a:off x="9515704" y="4352544"/>
            <a:ext cx="20116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  stacked</a:t>
            </a:r>
            <a:endParaRPr lang="en-US" sz="1100" dirty="0"/>
          </a:p>
        </p:txBody>
      </p:sp>
      <p:sp>
        <p:nvSpPr>
          <p:cNvPr id="33" name="Shape 28"/>
          <p:cNvSpPr/>
          <p:nvPr/>
        </p:nvSpPr>
        <p:spPr>
          <a:xfrm>
            <a:off x="566928" y="5084064"/>
            <a:ext cx="11057839" cy="841248"/>
          </a:xfrm>
          <a:prstGeom prst="roundRect">
            <a:avLst>
              <a:gd name="adj" fmla="val 6522"/>
            </a:avLst>
          </a:prstGeom>
          <a:solidFill>
            <a:srgbClr val="141B2E"/>
          </a:solidFill>
          <a:ln w="12700">
            <a:solidFill>
              <a:srgbClr val="333333"/>
            </a:solidFill>
            <a:prstDash val="solid"/>
          </a:ln>
        </p:spPr>
      </p:sp>
      <p:sp>
        <p:nvSpPr>
          <p:cNvPr id="34" name="Text 29"/>
          <p:cNvSpPr/>
          <p:nvPr/>
        </p:nvSpPr>
        <p:spPr>
          <a:xfrm>
            <a:off x="841248" y="5175504"/>
            <a:ext cx="10509199" cy="658368"/>
          </a:xfrm>
          <a:prstGeom prst="rect">
            <a:avLst/>
          </a:prstGeom>
          <a:noFill/>
          <a:ln/>
        </p:spPr>
        <p:txBody>
          <a:bodyPr wrap="square" lIns="0" tIns="0" rIns="0" bIns="0" rtlCol="0" anchor="ctr"/>
          <a:lstStyle/>
          <a:p>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These are precisely the conditions where an internal window is most useful — and where any explanation is most likely to crack. </a:t>
            </a:r>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Either outcome is a result.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2E"/>
        </a:solidFill>
      </p:bgPr>
    </p:bg>
    <p:spTree>
      <p:nvGrpSpPr>
        <p:cNvPr id="1" name=""/>
        <p:cNvGrpSpPr/>
        <p:nvPr/>
      </p:nvGrpSpPr>
      <p:grpSpPr>
        <a:xfrm>
          <a:off x="0" y="0"/>
          <a:ext cx="0" cy="0"/>
          <a:chOff x="0" y="0"/>
          <a:chExt cx="0" cy="0"/>
        </a:xfrm>
      </p:grpSpPr>
      <p:sp>
        <p:nvSpPr>
          <p:cNvPr id="2" name="Shape 0"/>
          <p:cNvSpPr/>
          <p:nvPr/>
        </p:nvSpPr>
        <p:spPr>
          <a:xfrm>
            <a:off x="9509760" y="-1737360"/>
            <a:ext cx="4754880" cy="4754880"/>
          </a:xfrm>
          <a:prstGeom prst="ellipse">
            <a:avLst/>
          </a:prstGeom>
          <a:solidFill>
            <a:srgbClr val="1B3A44"/>
          </a:solidFill>
          <a:ln w="12700">
            <a:solidFill>
              <a:srgbClr val="333333"/>
            </a:solidFill>
            <a:prstDash val="solid"/>
          </a:ln>
        </p:spPr>
      </p:sp>
      <p:sp>
        <p:nvSpPr>
          <p:cNvPr id="3" name="Shape 1"/>
          <p:cNvSpPr/>
          <p:nvPr/>
        </p:nvSpPr>
        <p:spPr>
          <a:xfrm>
            <a:off x="9966960" y="4846320"/>
            <a:ext cx="3291840" cy="3291840"/>
          </a:xfrm>
          <a:prstGeom prst="ellipse">
            <a:avLst/>
          </a:prstGeom>
          <a:solidFill>
            <a:srgbClr val="3A2430"/>
          </a:solidFill>
          <a:ln w="12700">
            <a:solidFill>
              <a:srgbClr val="333333"/>
            </a:solidFill>
            <a:prstDash val="solid"/>
          </a:ln>
        </p:spPr>
      </p:sp>
      <p:sp>
        <p:nvSpPr>
          <p:cNvPr id="4" name="Shape 2"/>
          <p:cNvSpPr/>
          <p:nvPr/>
        </p:nvSpPr>
        <p:spPr>
          <a:xfrm>
            <a:off x="566928" y="713232"/>
            <a:ext cx="786384" cy="786384"/>
          </a:xfrm>
          <a:prstGeom prst="ellipse">
            <a:avLst/>
          </a:prstGeom>
          <a:solidFill>
            <a:srgbClr val="1FA184"/>
          </a:solidFill>
          <a:ln w="12700">
            <a:solidFill>
              <a:srgbClr val="333333"/>
            </a:solidFill>
            <a:prstDash val="solid"/>
          </a:ln>
        </p:spPr>
      </p:sp>
      <p:pic>
        <p:nvPicPr>
          <p:cNvPr id="5" name="Image 0" descr="preencoded.png">    </p:cNvPr>
          <p:cNvPicPr>
            <a:picLocks noChangeAspect="1"/>
          </p:cNvPicPr>
          <p:nvPr/>
        </p:nvPicPr>
        <p:blipFill>
          <a:blip r:embed="rId1"/>
          <a:stretch>
            <a:fillRect/>
          </a:stretch>
        </p:blipFill>
        <p:spPr>
          <a:xfrm>
            <a:off x="779252" y="925556"/>
            <a:ext cx="361737" cy="361737"/>
          </a:xfrm>
          <a:prstGeom prst="rect">
            <a:avLst/>
          </a:prstGeom>
        </p:spPr>
      </p:pic>
      <p:sp>
        <p:nvSpPr>
          <p:cNvPr id="6" name="Text 3"/>
          <p:cNvSpPr/>
          <p:nvPr/>
        </p:nvSpPr>
        <p:spPr>
          <a:xfrm>
            <a:off x="1591056" y="905256"/>
            <a:ext cx="7315200" cy="365760"/>
          </a:xfrm>
          <a:prstGeom prst="rect">
            <a:avLst/>
          </a:prstGeom>
          <a:noFill/>
          <a:ln/>
        </p:spPr>
        <p:txBody>
          <a:bodyPr wrap="square" lIns="0" tIns="0" rIns="0" bIns="0" rtlCol="0" anchor="ctr"/>
          <a:lstStyle/>
          <a:p>
            <a:pPr indent="0" marL="0">
              <a:buNone/>
            </a:pPr>
            <a:r>
              <a:rPr lang="en-US" sz="1150" b="1" spc="240" kern="0" dirty="0">
                <a:solidFill>
                  <a:srgbClr val="8FA3BD"/>
                </a:solidFill>
                <a:latin typeface="Calibri" pitchFamily="34" charset="0"/>
                <a:ea typeface="Calibri" pitchFamily="34" charset="-122"/>
                <a:cs typeface="Calibri" pitchFamily="34" charset="-120"/>
              </a:rPr>
              <a:t>PART I  ·  THEORETICAL FOUNDATION</a:t>
            </a:r>
            <a:endParaRPr lang="en-US" sz="1150" dirty="0"/>
          </a:p>
        </p:txBody>
      </p:sp>
      <p:sp>
        <p:nvSpPr>
          <p:cNvPr id="7" name="Text 4"/>
          <p:cNvSpPr/>
          <p:nvPr/>
        </p:nvSpPr>
        <p:spPr>
          <a:xfrm>
            <a:off x="566928" y="2148840"/>
            <a:ext cx="9692640" cy="137160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The Block Model, In Full</a:t>
            </a:r>
            <a:endParaRPr lang="en-US" sz="4000" dirty="0"/>
          </a:p>
        </p:txBody>
      </p:sp>
      <p:sp>
        <p:nvSpPr>
          <p:cNvPr id="8" name="Text 5"/>
          <p:cNvSpPr/>
          <p:nvPr/>
        </p:nvSpPr>
        <p:spPr>
          <a:xfrm>
            <a:off x="566928" y="3886200"/>
            <a:ext cx="9326880" cy="1005840"/>
          </a:xfrm>
          <a:prstGeom prst="rect">
            <a:avLst/>
          </a:prstGeom>
          <a:noFill/>
          <a:ln/>
        </p:spPr>
        <p:txBody>
          <a:bodyPr wrap="square" lIns="0" tIns="0" rIns="0" bIns="0" rtlCol="0" anchor="ctr"/>
          <a:lstStyle/>
          <a:p>
            <a:pPr indent="0" marL="0">
              <a:lnSpc>
                <a:spcPct val="125000"/>
              </a:lnSpc>
              <a:buNone/>
            </a:pPr>
            <a:r>
              <a:rPr lang="en-US" sz="1500" dirty="0">
                <a:solidFill>
                  <a:srgbClr val="AFC0D4"/>
                </a:solidFill>
                <a:latin typeface="Calibri" pitchFamily="34" charset="0"/>
                <a:ea typeface="Calibri" pitchFamily="34" charset="-122"/>
                <a:cs typeface="Calibri" pitchFamily="34" charset="-120"/>
              </a:rPr>
              <a:t>Schulte’s 4 × 3 educational model of program comprehension — the coordinate system that every measurement in this proposal maps onto, for humans and machines alike.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The Block Model: 4 Levels × 3 Dimensions</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Schulte (ICER ’08): every level crosses three dimensions of understanding, giving twelve comprehension cells — not a single ladder.</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7839" cy="914400"/>
        </p:xfrm>
        <a:graphic>
          <a:graphicData uri="http://schemas.openxmlformats.org/drawingml/2006/table">
            <a:tbl>
              <a:tblPr/>
              <a:tblGrid>
                <a:gridCol w="2423160"/>
                <a:gridCol w="2651760"/>
                <a:gridCol w="3017520"/>
                <a:gridCol w="2962656"/>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Level  \  Dimension</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Text surface (structure)</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Program execution (data &amp; control flow)</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Function (purpose / goals)</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r>
              <a:tr h="0">
                <a:tc>
                  <a:txBody>
                    <a:bodyPr/>
                    <a:lstStyle/>
                    <a:p>
                      <a:pPr indent="0" marL="0">
                        <a:buNone/>
                      </a:pPr>
                      <a:r>
                        <a:rPr lang="en-US" sz="1000" b="1" dirty="0">
                          <a:solidFill>
                            <a:srgbClr val="16202F"/>
                          </a:solidFill>
                          <a:latin typeface="Calibri" pitchFamily="34" charset="0"/>
                          <a:ea typeface="Calibri" pitchFamily="34" charset="-122"/>
                          <a:cs typeface="Calibri" pitchFamily="34" charset="-120"/>
                        </a:rPr>
                        <a:t>Macro structure</a:t>
                      </a:r>
                      <a:endParaRPr lang="en-US" sz="1000" dirty="0">
                        <a:latin typeface="Calibri" charset="0"/>
                        <a:ea typeface="Calibri" charset="0"/>
                        <a:cs typeface="Calibri" charset="0"/>
                      </a:endParaRPr>
                    </a:p>
                    <a:p>
                      <a:pPr indent="0" marL="0">
                        <a:buNone/>
                      </a:pPr>
                      <a:r>
                        <a:rPr lang="en-US" sz="1000" b="1" dirty="0">
                          <a:solidFill>
                            <a:srgbClr val="16202F"/>
                          </a:solidFill>
                          <a:latin typeface="Calibri" pitchFamily="34" charset="0"/>
                          <a:ea typeface="Calibri" pitchFamily="34" charset="-122"/>
                          <a:cs typeface="Calibri" pitchFamily="34" charset="-120"/>
                        </a:rPr>
                        <a:t>the program as a whole</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Overall layout and organisation of the source text</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Understanding the algorithm’s full execution behaviour</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The goal of the program in its context</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16202F"/>
                          </a:solidFill>
                          <a:latin typeface="Calibri" pitchFamily="34" charset="0"/>
                          <a:ea typeface="Calibri" pitchFamily="34" charset="-122"/>
                          <a:cs typeface="Calibri" pitchFamily="34" charset="-120"/>
                        </a:rPr>
                        <a:t>Relations</a:t>
                      </a:r>
                      <a:endParaRPr lang="en-US" sz="1000" dirty="0">
                        <a:latin typeface="Calibri" charset="0"/>
                        <a:ea typeface="Calibri" charset="0"/>
                        <a:cs typeface="Calibri" charset="0"/>
                      </a:endParaRPr>
                    </a:p>
                    <a:p>
                      <a:pPr indent="0" marL="0">
                        <a:buNone/>
                      </a:pPr>
                      <a:r>
                        <a:rPr lang="en-US" sz="1000" b="1" dirty="0">
                          <a:solidFill>
                            <a:srgbClr val="16202F"/>
                          </a:solidFill>
                          <a:latin typeface="Calibri" pitchFamily="34" charset="0"/>
                          <a:ea typeface="Calibri" pitchFamily="34" charset="-122"/>
                          <a:cs typeface="Calibri" pitchFamily="34" charset="-120"/>
                        </a:rPr>
                        <a:t>connections between blocks</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References between blocks (calls, includes)</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Control and data flow across blocks; sequence of calls</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How subgoals connect to goals; how functions compose</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16202F"/>
                          </a:solidFill>
                          <a:latin typeface="Calibri" pitchFamily="34" charset="0"/>
                          <a:ea typeface="Calibri" pitchFamily="34" charset="-122"/>
                          <a:cs typeface="Calibri" pitchFamily="34" charset="-120"/>
                        </a:rPr>
                        <a:t>Blocks</a:t>
                      </a:r>
                      <a:endParaRPr lang="en-US" sz="1000" dirty="0">
                        <a:latin typeface="Calibri" charset="0"/>
                        <a:ea typeface="Calibri" charset="0"/>
                        <a:cs typeface="Calibri" charset="0"/>
                      </a:endParaRPr>
                    </a:p>
                    <a:p>
                      <a:pPr indent="0" marL="0">
                        <a:buNone/>
                      </a:pPr>
                      <a:r>
                        <a:rPr lang="en-US" sz="1000" b="1" dirty="0">
                          <a:solidFill>
                            <a:srgbClr val="16202F"/>
                          </a:solidFill>
                          <a:latin typeface="Calibri" pitchFamily="34" charset="0"/>
                          <a:ea typeface="Calibri" pitchFamily="34" charset="-122"/>
                          <a:cs typeface="Calibri" pitchFamily="34" charset="-120"/>
                        </a:rPr>
                        <a:t>regions that belong together</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Recognising a region of interest (loop body, method) syntactically</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Operation of a block — what a loop or method does when run</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The purpose of a block — its role in the plan</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16202F"/>
                          </a:solidFill>
                          <a:latin typeface="Calibri" pitchFamily="34" charset="0"/>
                          <a:ea typeface="Calibri" pitchFamily="34" charset="-122"/>
                          <a:cs typeface="Calibri" pitchFamily="34" charset="-120"/>
                        </a:rPr>
                        <a:t>Atoms</a:t>
                      </a:r>
                      <a:endParaRPr lang="en-US" sz="1000" dirty="0">
                        <a:latin typeface="Calibri" charset="0"/>
                        <a:ea typeface="Calibri" charset="0"/>
                        <a:cs typeface="Calibri" charset="0"/>
                      </a:endParaRPr>
                    </a:p>
                    <a:p>
                      <a:pPr indent="0" marL="0">
                        <a:buNone/>
                      </a:pPr>
                      <a:r>
                        <a:rPr lang="en-US" sz="1000" b="1" dirty="0">
                          <a:solidFill>
                            <a:srgbClr val="16202F"/>
                          </a:solidFill>
                          <a:latin typeface="Calibri" pitchFamily="34" charset="0"/>
                          <a:ea typeface="Calibri" pitchFamily="34" charset="-122"/>
                          <a:cs typeface="Calibri" pitchFamily="34" charset="-120"/>
                        </a:rPr>
                        <a:t>language elements</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Keywords, identifiers, operators as text</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Operational semantics of a single statement</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Purpose of a single element — what an identifier is for</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566928" y="4901184"/>
            <a:ext cx="5394960" cy="1325880"/>
          </a:xfrm>
          <a:prstGeom prst="roundRect">
            <a:avLst>
              <a:gd name="adj" fmla="val 3448"/>
            </a:avLst>
          </a:prstGeom>
          <a:solidFill>
            <a:srgbClr val="F3F5F8"/>
          </a:solidFill>
          <a:ln w="12700">
            <a:solidFill>
              <a:srgbClr val="333333"/>
            </a:solidFill>
            <a:prstDash val="solid"/>
          </a:ln>
        </p:spPr>
      </p:sp>
      <p:sp>
        <p:nvSpPr>
          <p:cNvPr id="6" name="Shape 3"/>
          <p:cNvSpPr/>
          <p:nvPr/>
        </p:nvSpPr>
        <p:spPr>
          <a:xfrm>
            <a:off x="804672" y="5120640"/>
            <a:ext cx="402336" cy="402336"/>
          </a:xfrm>
          <a:prstGeom prst="ellipse">
            <a:avLst/>
          </a:prstGeom>
          <a:solidFill>
            <a:srgbClr val="1FA184"/>
          </a:solidFill>
          <a:ln w="12700">
            <a:solidFill>
              <a:srgbClr val="333333"/>
            </a:solidFill>
            <a:prstDash val="solid"/>
          </a:ln>
        </p:spPr>
      </p:sp>
      <p:pic>
        <p:nvPicPr>
          <p:cNvPr id="7" name="Image 0" descr="preencoded.png">    </p:cNvPr>
          <p:cNvPicPr>
            <a:picLocks noChangeAspect="1"/>
          </p:cNvPicPr>
          <p:nvPr/>
        </p:nvPicPr>
        <p:blipFill>
          <a:blip r:embed="rId1"/>
          <a:stretch>
            <a:fillRect/>
          </a:stretch>
        </p:blipFill>
        <p:spPr>
          <a:xfrm>
            <a:off x="913303" y="5229271"/>
            <a:ext cx="185075" cy="185075"/>
          </a:xfrm>
          <a:prstGeom prst="rect">
            <a:avLst/>
          </a:prstGeom>
        </p:spPr>
      </p:pic>
      <p:sp>
        <p:nvSpPr>
          <p:cNvPr id="8" name="Text 4"/>
          <p:cNvSpPr/>
          <p:nvPr/>
        </p:nvSpPr>
        <p:spPr>
          <a:xfrm>
            <a:off x="1335024" y="5084064"/>
            <a:ext cx="4480560" cy="292608"/>
          </a:xfrm>
          <a:prstGeom prst="rect">
            <a:avLst/>
          </a:prstGeom>
          <a:noFill/>
          <a:ln/>
        </p:spPr>
        <p:txBody>
          <a:bodyPr wrap="square" lIns="0" tIns="0" rIns="0" bIns="0" rtlCol="0" anchor="ctr"/>
          <a:lstStyle/>
          <a:p>
            <a:pPr indent="0" marL="0">
              <a:buNone/>
            </a:pPr>
            <a:r>
              <a:rPr lang="en-US" sz="1200" b="1" dirty="0">
                <a:solidFill>
                  <a:srgbClr val="16202F"/>
                </a:solidFill>
                <a:latin typeface="Calibri" pitchFamily="34" charset="0"/>
                <a:ea typeface="Calibri" pitchFamily="34" charset="-122"/>
                <a:cs typeface="Calibri" pitchFamily="34" charset="-120"/>
              </a:rPr>
              <a:t>Duality of structure &amp; function</a:t>
            </a:r>
            <a:endParaRPr lang="en-US" sz="1200" dirty="0"/>
          </a:p>
        </p:txBody>
      </p:sp>
      <p:sp>
        <p:nvSpPr>
          <p:cNvPr id="9" name="Text 5"/>
          <p:cNvSpPr/>
          <p:nvPr/>
        </p:nvSpPr>
        <p:spPr>
          <a:xfrm>
            <a:off x="804672" y="5449824"/>
            <a:ext cx="4919472" cy="713232"/>
          </a:xfrm>
          <a:prstGeom prst="rect">
            <a:avLst/>
          </a:prstGeom>
          <a:noFill/>
          <a:ln/>
        </p:spPr>
        <p:txBody>
          <a:bodyPr wrap="square" lIns="0" tIns="0" rIns="0" bIns="0" rtlCol="0" anchor="ctr"/>
          <a:lstStyle/>
          <a:p>
            <a:pPr indent="0" marL="0">
              <a:lnSpc>
                <a:spcPct val="114000"/>
              </a:lnSpc>
              <a:buNone/>
            </a:pPr>
            <a:r>
              <a:rPr lang="en-US" sz="1000" dirty="0">
                <a:solidFill>
                  <a:srgbClr val="3A4859"/>
                </a:solidFill>
                <a:latin typeface="Calibri" pitchFamily="34" charset="0"/>
                <a:ea typeface="Calibri" pitchFamily="34" charset="-122"/>
                <a:cs typeface="Calibri" pitchFamily="34" charset="-120"/>
              </a:rPr>
              <a:t>The same code is simultaneously a static text, a dynamic execution, and a purposeful plan. Comprehension means building bridges across the three columns.</a:t>
            </a:r>
            <a:endParaRPr lang="en-US" sz="1000" dirty="0"/>
          </a:p>
        </p:txBody>
      </p:sp>
      <p:sp>
        <p:nvSpPr>
          <p:cNvPr id="10" name="Shape 6"/>
          <p:cNvSpPr/>
          <p:nvPr/>
        </p:nvSpPr>
        <p:spPr>
          <a:xfrm>
            <a:off x="6227064" y="4901184"/>
            <a:ext cx="5394960" cy="1325880"/>
          </a:xfrm>
          <a:prstGeom prst="roundRect">
            <a:avLst>
              <a:gd name="adj" fmla="val 3448"/>
            </a:avLst>
          </a:prstGeom>
          <a:solidFill>
            <a:srgbClr val="F3F5F8"/>
          </a:solidFill>
          <a:ln w="12700">
            <a:solidFill>
              <a:srgbClr val="333333"/>
            </a:solidFill>
            <a:prstDash val="solid"/>
          </a:ln>
        </p:spPr>
      </p:sp>
      <p:sp>
        <p:nvSpPr>
          <p:cNvPr id="11" name="Shape 7"/>
          <p:cNvSpPr/>
          <p:nvPr/>
        </p:nvSpPr>
        <p:spPr>
          <a:xfrm>
            <a:off x="6464808" y="5120640"/>
            <a:ext cx="402336" cy="402336"/>
          </a:xfrm>
          <a:prstGeom prst="ellipse">
            <a:avLst/>
          </a:prstGeom>
          <a:solidFill>
            <a:srgbClr val="1FA184"/>
          </a:solidFill>
          <a:ln w="12700">
            <a:solidFill>
              <a:srgbClr val="333333"/>
            </a:solidFill>
            <a:prstDash val="solid"/>
          </a:ln>
        </p:spPr>
      </p:sp>
      <p:pic>
        <p:nvPicPr>
          <p:cNvPr id="12" name="Image 1" descr="preencoded.png">    </p:cNvPr>
          <p:cNvPicPr>
            <a:picLocks noChangeAspect="1"/>
          </p:cNvPicPr>
          <p:nvPr/>
        </p:nvPicPr>
        <p:blipFill>
          <a:blip r:embed="rId2"/>
          <a:stretch>
            <a:fillRect/>
          </a:stretch>
        </p:blipFill>
        <p:spPr>
          <a:xfrm>
            <a:off x="6573439" y="5229271"/>
            <a:ext cx="185075" cy="185075"/>
          </a:xfrm>
          <a:prstGeom prst="rect">
            <a:avLst/>
          </a:prstGeom>
        </p:spPr>
      </p:pic>
      <p:sp>
        <p:nvSpPr>
          <p:cNvPr id="13" name="Text 8"/>
          <p:cNvSpPr/>
          <p:nvPr/>
        </p:nvSpPr>
        <p:spPr>
          <a:xfrm>
            <a:off x="6995160" y="5084064"/>
            <a:ext cx="4480560" cy="292608"/>
          </a:xfrm>
          <a:prstGeom prst="rect">
            <a:avLst/>
          </a:prstGeom>
          <a:noFill/>
          <a:ln/>
        </p:spPr>
        <p:txBody>
          <a:bodyPr wrap="square" lIns="0" tIns="0" rIns="0" bIns="0" rtlCol="0" anchor="ctr"/>
          <a:lstStyle/>
          <a:p>
            <a:pPr indent="0" marL="0">
              <a:buNone/>
            </a:pPr>
            <a:r>
              <a:rPr lang="en-US" sz="1200" b="1" dirty="0">
                <a:solidFill>
                  <a:srgbClr val="16202F"/>
                </a:solidFill>
                <a:latin typeface="Calibri" pitchFamily="34" charset="0"/>
                <a:ea typeface="Calibri" pitchFamily="34" charset="-122"/>
                <a:cs typeface="Calibri" pitchFamily="34" charset="-120"/>
              </a:rPr>
              <a:t>Beacons &amp; reading direction</a:t>
            </a:r>
            <a:endParaRPr lang="en-US" sz="1200" dirty="0"/>
          </a:p>
        </p:txBody>
      </p:sp>
      <p:sp>
        <p:nvSpPr>
          <p:cNvPr id="14" name="Text 9"/>
          <p:cNvSpPr/>
          <p:nvPr/>
        </p:nvSpPr>
        <p:spPr>
          <a:xfrm>
            <a:off x="6464808" y="5449824"/>
            <a:ext cx="4919472" cy="713232"/>
          </a:xfrm>
          <a:prstGeom prst="rect">
            <a:avLst/>
          </a:prstGeom>
          <a:noFill/>
          <a:ln/>
        </p:spPr>
        <p:txBody>
          <a:bodyPr wrap="square" lIns="0" tIns="0" rIns="0" bIns="0" rtlCol="0" anchor="ctr"/>
          <a:lstStyle/>
          <a:p>
            <a:pPr indent="0" marL="0">
              <a:lnSpc>
                <a:spcPct val="114000"/>
              </a:lnSpc>
              <a:buNone/>
            </a:pPr>
            <a:r>
              <a:rPr lang="en-US" sz="1000" dirty="0">
                <a:solidFill>
                  <a:srgbClr val="3A4859"/>
                </a:solidFill>
                <a:latin typeface="Calibri" pitchFamily="34" charset="0"/>
                <a:ea typeface="Calibri" pitchFamily="34" charset="-122"/>
                <a:cs typeface="Calibri" pitchFamily="34" charset="-120"/>
              </a:rPr>
              <a:t>Experts read top-down, anchored on beacons (meaningful names, familiar structures); novices read bottom-up, atom by atom (Soloway &amp; Ehrlich ’84; Pennington ’87; Corritore &amp; Wiedenbeck ’01).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What Obfuscation Does to the Matrix</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Each tier is a targeted strike on specific Block-Model cells — and each row names what still goes unmeasured inside the model.</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7839" cy="914400"/>
        </p:xfrm>
        <a:graphic>
          <a:graphicData uri="http://schemas.openxmlformats.org/drawingml/2006/table">
            <a:tbl>
              <a:tblPr/>
              <a:tblGrid>
                <a:gridCol w="1371600"/>
                <a:gridCol w="2011680"/>
                <a:gridCol w="2880360"/>
                <a:gridCol w="2560320"/>
                <a:gridCol w="2231136"/>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Tier</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Cells attacked</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Mechanism</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Measured so far (Papers 1–3)</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Still unmeasured internally</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r>
              <a:tr h="0">
                <a:tc>
                  <a:txBody>
                    <a:bodyPr/>
                    <a:lstStyle/>
                    <a:p>
                      <a:pPr indent="0" marL="0">
                        <a:buNone/>
                      </a:pPr>
                      <a:r>
                        <a:rPr lang="en-US" sz="950" b="1" dirty="0">
                          <a:solidFill>
                            <a:srgbClr val="16202F"/>
                          </a:solidFill>
                          <a:latin typeface="Calibri" pitchFamily="34" charset="0"/>
                          <a:ea typeface="Calibri" pitchFamily="34" charset="-122"/>
                          <a:cs typeface="Calibri" pitchFamily="34" charset="-120"/>
                        </a:rPr>
                        <a:t>L1</a:t>
                      </a:r>
                      <a:endParaRPr lang="en-US" sz="950" dirty="0">
                        <a:latin typeface="Calibri" charset="0"/>
                        <a:ea typeface="Calibri" charset="0"/>
                        <a:cs typeface="Calibri" charset="0"/>
                      </a:endParaRPr>
                    </a:p>
                    <a:p>
                      <a:pPr indent="0" marL="0">
                        <a:buNone/>
                      </a:pPr>
                      <a:r>
                        <a:rPr lang="en-US" sz="950" b="1" dirty="0">
                          <a:solidFill>
                            <a:srgbClr val="16202F"/>
                          </a:solidFill>
                          <a:latin typeface="Calibri" pitchFamily="34" charset="0"/>
                          <a:ea typeface="Calibri" pitchFamily="34" charset="-122"/>
                          <a:cs typeface="Calibri" pitchFamily="34" charset="-120"/>
                        </a:rPr>
                        <a:t>renaming</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950" dirty="0">
                          <a:solidFill>
                            <a:srgbClr val="16202F"/>
                          </a:solidFill>
                          <a:latin typeface="Calibri" pitchFamily="34" charset="0"/>
                          <a:ea typeface="Calibri" pitchFamily="34" charset="-122"/>
                          <a:cs typeface="Calibri" pitchFamily="34" charset="-120"/>
                        </a:rPr>
                        <a:t>Atom × Text surface</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6202F"/>
                          </a:solidFill>
                          <a:latin typeface="Calibri" pitchFamily="34" charset="0"/>
                          <a:ea typeface="Calibri" pitchFamily="34" charset="-122"/>
                          <a:cs typeface="Calibri" pitchFamily="34" charset="-120"/>
                        </a:rPr>
                        <a:t>Removes the beacon: the identifier gives no cue, forcing execution-dimension reasoning</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6202F"/>
                          </a:solidFill>
                          <a:latin typeface="Calibri" pitchFamily="34" charset="0"/>
                          <a:ea typeface="Calibri" pitchFamily="34" charset="-122"/>
                          <a:cs typeface="Calibri" pitchFamily="34" charset="-120"/>
                        </a:rPr>
                        <a:t>Accuracy; some models improve (pattern-match suppression)</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b="1" dirty="0">
                          <a:solidFill>
                            <a:srgbClr val="C9534B"/>
                          </a:solidFill>
                          <a:latin typeface="Calibri" pitchFamily="34" charset="0"/>
                          <a:ea typeface="Calibri" pitchFamily="34" charset="-122"/>
                          <a:cs typeface="Calibri" pitchFamily="34" charset="-120"/>
                        </a:rPr>
                        <a:t>Whether attention actually leaves identifiers</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950" b="1" dirty="0">
                          <a:solidFill>
                            <a:srgbClr val="16202F"/>
                          </a:solidFill>
                          <a:latin typeface="Calibri" pitchFamily="34" charset="0"/>
                          <a:ea typeface="Calibri" pitchFamily="34" charset="-122"/>
                          <a:cs typeface="Calibri" pitchFamily="34" charset="-120"/>
                        </a:rPr>
                        <a:t>L1b</a:t>
                      </a:r>
                      <a:endParaRPr lang="en-US" sz="950" dirty="0">
                        <a:latin typeface="Calibri" charset="0"/>
                        <a:ea typeface="Calibri" charset="0"/>
                        <a:cs typeface="Calibri" charset="0"/>
                      </a:endParaRPr>
                    </a:p>
                    <a:p>
                      <a:pPr indent="0" marL="0">
                        <a:buNone/>
                      </a:pPr>
                      <a:r>
                        <a:rPr lang="en-US" sz="950" b="1" dirty="0">
                          <a:solidFill>
                            <a:srgbClr val="16202F"/>
                          </a:solidFill>
                          <a:latin typeface="Calibri" pitchFamily="34" charset="0"/>
                          <a:ea typeface="Calibri" pitchFamily="34" charset="-122"/>
                          <a:cs typeface="Calibri" pitchFamily="34" charset="-120"/>
                        </a:rPr>
                        <a:t>adversarial</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950" dirty="0">
                          <a:solidFill>
                            <a:srgbClr val="16202F"/>
                          </a:solidFill>
                          <a:latin typeface="Calibri" pitchFamily="34" charset="0"/>
                          <a:ea typeface="Calibri" pitchFamily="34" charset="-122"/>
                          <a:cs typeface="Calibri" pitchFamily="34" charset="-120"/>
                        </a:rPr>
                        <a:t>Atom × Function</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6202F"/>
                          </a:solidFill>
                          <a:latin typeface="Calibri" pitchFamily="34" charset="0"/>
                          <a:ea typeface="Calibri" pitchFamily="34" charset="-122"/>
                          <a:cs typeface="Calibri" pitchFamily="34" charset="-120"/>
                        </a:rPr>
                        <a:t>Corrupts the beacon: the name asserts a false purpose (Stroop interference)</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6202F"/>
                          </a:solidFill>
                          <a:latin typeface="Calibri" pitchFamily="34" charset="0"/>
                          <a:ea typeface="Calibri" pitchFamily="34" charset="-122"/>
                          <a:cs typeface="Calibri" pitchFamily="34" charset="-120"/>
                        </a:rPr>
                        <a:t>ISF spikes, semantic displacement, HCI; confused-then-traced ×3.22</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b="1" dirty="0">
                          <a:solidFill>
                            <a:srgbClr val="C9534B"/>
                          </a:solidFill>
                          <a:latin typeface="Calibri" pitchFamily="34" charset="0"/>
                          <a:ea typeface="Calibri" pitchFamily="34" charset="-122"/>
                          <a:cs typeface="Calibri" pitchFamily="34" charset="-120"/>
                        </a:rPr>
                        <a:t>Whether internals adopt or reject the false purpose</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950" b="1" dirty="0">
                          <a:solidFill>
                            <a:srgbClr val="16202F"/>
                          </a:solidFill>
                          <a:latin typeface="Calibri" pitchFamily="34" charset="0"/>
                          <a:ea typeface="Calibri" pitchFamily="34" charset="-122"/>
                          <a:cs typeface="Calibri" pitchFamily="34" charset="-120"/>
                        </a:rPr>
                        <a:t>L2</a:t>
                      </a:r>
                      <a:endParaRPr lang="en-US" sz="950" dirty="0">
                        <a:latin typeface="Calibri" charset="0"/>
                        <a:ea typeface="Calibri" charset="0"/>
                        <a:cs typeface="Calibri" charset="0"/>
                      </a:endParaRPr>
                    </a:p>
                    <a:p>
                      <a:pPr indent="0" marL="0">
                        <a:buNone/>
                      </a:pPr>
                      <a:r>
                        <a:rPr lang="en-US" sz="950" b="1" dirty="0">
                          <a:solidFill>
                            <a:srgbClr val="16202F"/>
                          </a:solidFill>
                          <a:latin typeface="Calibri" pitchFamily="34" charset="0"/>
                          <a:ea typeface="Calibri" pitchFamily="34" charset="-122"/>
                          <a:cs typeface="Calibri" pitchFamily="34" charset="-120"/>
                        </a:rPr>
                        <a:t>flattening</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950" dirty="0">
                          <a:solidFill>
                            <a:srgbClr val="16202F"/>
                          </a:solidFill>
                          <a:latin typeface="Calibri" pitchFamily="34" charset="0"/>
                          <a:ea typeface="Calibri" pitchFamily="34" charset="-122"/>
                          <a:cs typeface="Calibri" pitchFamily="34" charset="-120"/>
                        </a:rPr>
                        <a:t>Relations &amp; Macro × Program execution</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6202F"/>
                          </a:solidFill>
                          <a:latin typeface="Calibri" pitchFamily="34" charset="0"/>
                          <a:ea typeface="Calibri" pitchFamily="34" charset="-122"/>
                          <a:cs typeface="Calibri" pitchFamily="34" charset="-120"/>
                        </a:rPr>
                        <a:t>Dispatcher indirection breaks control/data-flow bridges; state must be simulated</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6202F"/>
                          </a:solidFill>
                          <a:latin typeface="Calibri" pitchFamily="34" charset="0"/>
                          <a:ea typeface="Calibri" pitchFamily="34" charset="-122"/>
                          <a:cs typeface="Calibri" pitchFamily="34" charset="-120"/>
                        </a:rPr>
                        <a:t>Dispatcher complexity r = −0.196; time ↑, tracing strategy</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b="1" dirty="0">
                          <a:solidFill>
                            <a:srgbClr val="C9534B"/>
                          </a:solidFill>
                          <a:latin typeface="Calibri" pitchFamily="34" charset="0"/>
                          <a:ea typeface="Calibri" pitchFamily="34" charset="-122"/>
                          <a:cs typeface="Calibri" pitchFamily="34" charset="-120"/>
                        </a:rPr>
                        <a:t>Whether structure tokens gain or lose attention</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950" b="1" dirty="0">
                          <a:solidFill>
                            <a:srgbClr val="16202F"/>
                          </a:solidFill>
                          <a:latin typeface="Calibri" pitchFamily="34" charset="0"/>
                          <a:ea typeface="Calibri" pitchFamily="34" charset="-122"/>
                          <a:cs typeface="Calibri" pitchFamily="34" charset="-120"/>
                        </a:rPr>
                        <a:t>L3</a:t>
                      </a:r>
                      <a:endParaRPr lang="en-US" sz="950" dirty="0">
                        <a:latin typeface="Calibri" charset="0"/>
                        <a:ea typeface="Calibri" charset="0"/>
                        <a:cs typeface="Calibri" charset="0"/>
                      </a:endParaRPr>
                    </a:p>
                    <a:p>
                      <a:pPr indent="0" marL="0">
                        <a:buNone/>
                      </a:pPr>
                      <a:r>
                        <a:rPr lang="en-US" sz="950" b="1" dirty="0">
                          <a:solidFill>
                            <a:srgbClr val="16202F"/>
                          </a:solidFill>
                          <a:latin typeface="Calibri" pitchFamily="34" charset="0"/>
                          <a:ea typeface="Calibri" pitchFamily="34" charset="-122"/>
                          <a:cs typeface="Calibri" pitchFamily="34" charset="-120"/>
                        </a:rPr>
                        <a:t>stacked</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950" dirty="0">
                          <a:solidFill>
                            <a:srgbClr val="16202F"/>
                          </a:solidFill>
                          <a:latin typeface="Calibri" pitchFamily="34" charset="0"/>
                          <a:ea typeface="Calibri" pitchFamily="34" charset="-122"/>
                          <a:cs typeface="Calibri" pitchFamily="34" charset="-120"/>
                        </a:rPr>
                        <a:t>All of the above at once</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6202F"/>
                          </a:solidFill>
                          <a:latin typeface="Calibri" pitchFamily="34" charset="0"/>
                          <a:ea typeface="Calibri" pitchFamily="34" charset="-122"/>
                          <a:cs typeface="Calibri" pitchFamily="34" charset="-120"/>
                        </a:rPr>
                        <a:t>Atom-level interference and relational overload compete for one budget</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16202F"/>
                          </a:solidFill>
                          <a:latin typeface="Calibri" pitchFamily="34" charset="0"/>
                          <a:ea typeface="Calibri" pitchFamily="34" charset="-122"/>
                          <a:cs typeface="Calibri" pitchFamily="34" charset="-120"/>
                        </a:rPr>
                        <a:t>Accuracy floor; CoT spike at L3</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b="1" dirty="0">
                          <a:solidFill>
                            <a:srgbClr val="C9534B"/>
                          </a:solidFill>
                          <a:latin typeface="Calibri" pitchFamily="34" charset="0"/>
                          <a:ea typeface="Calibri" pitchFamily="34" charset="-122"/>
                          <a:cs typeface="Calibri" pitchFamily="34" charset="-120"/>
                        </a:rPr>
                        <a:t>The entire allocation and content question → H1–H4</a:t>
                      </a:r>
                      <a:endParaRPr lang="en-US" sz="95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566928" y="5047488"/>
            <a:ext cx="11057839" cy="1170432"/>
          </a:xfrm>
          <a:prstGeom prst="roundRect">
            <a:avLst>
              <a:gd name="adj" fmla="val 4688"/>
            </a:avLst>
          </a:prstGeom>
          <a:solidFill>
            <a:srgbClr val="141B2E"/>
          </a:solidFill>
          <a:ln w="12700">
            <a:solidFill>
              <a:srgbClr val="333333"/>
            </a:solidFill>
            <a:prstDash val="solid"/>
          </a:ln>
        </p:spPr>
      </p:sp>
      <p:sp>
        <p:nvSpPr>
          <p:cNvPr id="6" name="Text 3"/>
          <p:cNvSpPr/>
          <p:nvPr/>
        </p:nvSpPr>
        <p:spPr>
          <a:xfrm>
            <a:off x="841248" y="5138928"/>
            <a:ext cx="10509199" cy="987552"/>
          </a:xfrm>
          <a:prstGeom prst="rect">
            <a:avLst/>
          </a:prstGeom>
          <a:noFill/>
          <a:ln/>
        </p:spPr>
        <p:txBody>
          <a:bodyPr wrap="square" lIns="0" tIns="0" rIns="0" bIns="0" rtlCol="0" anchor="ctr"/>
          <a:lstStyle/>
          <a:p>
            <a:pPr indent="0" marL="0">
              <a:lnSpc>
                <a:spcPct val="118000"/>
              </a:lnSpc>
              <a:buNone/>
            </a:pPr>
            <a:r>
              <a:rPr lang="en-US" sz="1150" b="1" dirty="0">
                <a:solidFill>
                  <a:srgbClr val="6FD3B8"/>
                </a:solidFill>
                <a:latin typeface="Calibri" pitchFamily="34" charset="0"/>
                <a:ea typeface="Calibri" pitchFamily="34" charset="-122"/>
                <a:cs typeface="Calibri" pitchFamily="34" charset="-120"/>
              </a:rPr>
              <a:t>The instrument mapping this proposal adds.   </a:t>
            </a:r>
            <a:pPr indent="0" marL="0">
              <a:lnSpc>
                <a:spcPct val="118000"/>
              </a:lnSpc>
              <a:buNone/>
            </a:pPr>
            <a:r>
              <a:rPr lang="en-US" sz="1150" dirty="0">
                <a:solidFill>
                  <a:srgbClr val="DCE6F2"/>
                </a:solidFill>
                <a:latin typeface="Calibri" pitchFamily="34" charset="0"/>
                <a:ea typeface="Calibri" pitchFamily="34" charset="-122"/>
                <a:cs typeface="Calibri" pitchFamily="34" charset="-120"/>
              </a:rPr>
              <a:t>Attention mass over token classes instruments the </a:t>
            </a:r>
            <a:pPr indent="0" marL="0">
              <a:lnSpc>
                <a:spcPct val="118000"/>
              </a:lnSpc>
              <a:buNone/>
            </a:pPr>
            <a:r>
              <a:rPr lang="en-US" sz="1150" b="1" dirty="0">
                <a:solidFill>
                  <a:srgbClr val="FFFFFF"/>
                </a:solidFill>
                <a:latin typeface="Calibri" pitchFamily="34" charset="0"/>
                <a:ea typeface="Calibri" pitchFamily="34" charset="-122"/>
                <a:cs typeface="Calibri" pitchFamily="34" charset="-120"/>
              </a:rPr>
              <a:t>Text-surface → Execution</a:t>
            </a:r>
            <a:pPr indent="0" marL="0">
              <a:lnSpc>
                <a:spcPct val="118000"/>
              </a:lnSpc>
              <a:buNone/>
            </a:pPr>
            <a:r>
              <a:rPr lang="en-US" sz="1150" dirty="0">
                <a:solidFill>
                  <a:srgbClr val="DCE6F2"/>
                </a:solidFill>
                <a:latin typeface="Calibri" pitchFamily="34" charset="0"/>
                <a:ea typeface="Calibri" pitchFamily="34" charset="-122"/>
                <a:cs typeface="Calibri" pitchFamily="34" charset="-120"/>
              </a:rPr>
              <a:t> routing — which cells the model spends compute on. NLA verbalisation instruments the </a:t>
            </a:r>
            <a:pPr indent="0" marL="0">
              <a:lnSpc>
                <a:spcPct val="118000"/>
              </a:lnSpc>
              <a:buNone/>
            </a:pPr>
            <a:r>
              <a:rPr lang="en-US" sz="1150" b="1" dirty="0">
                <a:solidFill>
                  <a:srgbClr val="FFFFFF"/>
                </a:solidFill>
                <a:latin typeface="Calibri" pitchFamily="34" charset="0"/>
                <a:ea typeface="Calibri" pitchFamily="34" charset="-122"/>
                <a:cs typeface="Calibri" pitchFamily="34" charset="-120"/>
              </a:rPr>
              <a:t>Function</a:t>
            </a:r>
            <a:pPr indent="0" marL="0">
              <a:lnSpc>
                <a:spcPct val="118000"/>
              </a:lnSpc>
              <a:buNone/>
            </a:pPr>
            <a:r>
              <a:rPr lang="en-US" sz="1150" dirty="0">
                <a:solidFill>
                  <a:srgbClr val="DCE6F2"/>
                </a:solidFill>
                <a:latin typeface="Calibri" pitchFamily="34" charset="0"/>
                <a:ea typeface="Calibri" pitchFamily="34" charset="-122"/>
                <a:cs typeface="Calibri" pitchFamily="34" charset="-120"/>
              </a:rPr>
              <a:t> column — what purpose the model internally assigns to atoms, blocks, and the whole program. Together they cover all three dimensions for the first time.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Localising Failure: One Frame, Two Instruments</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For every Block-Model level, attention says where the budget goes and the NLA says what is being computed with it — replacing a binary outcome with two concrete reads.</a:t>
            </a:r>
            <a:endParaRPr lang="en-US" sz="1250" dirty="0"/>
          </a:p>
        </p:txBody>
      </p:sp>
      <p:sp>
        <p:nvSpPr>
          <p:cNvPr id="4" name="Text 2"/>
          <p:cNvSpPr/>
          <p:nvPr/>
        </p:nvSpPr>
        <p:spPr>
          <a:xfrm>
            <a:off x="1298448" y="1481328"/>
            <a:ext cx="1417320" cy="256032"/>
          </a:xfrm>
          <a:prstGeom prst="rect">
            <a:avLst/>
          </a:prstGeom>
          <a:noFill/>
          <a:ln/>
        </p:spPr>
        <p:txBody>
          <a:bodyPr wrap="square" lIns="0" tIns="0" rIns="0" bIns="0" rtlCol="0" anchor="ctr"/>
          <a:lstStyle/>
          <a:p>
            <a:pPr indent="0" marL="0">
              <a:buNone/>
            </a:pPr>
            <a:r>
              <a:rPr lang="en-US" sz="900" b="1" spc="130" kern="0" dirty="0">
                <a:solidFill>
                  <a:srgbClr val="68788B"/>
                </a:solidFill>
                <a:latin typeface="Calibri" pitchFamily="34" charset="0"/>
                <a:ea typeface="Calibri" pitchFamily="34" charset="-122"/>
                <a:cs typeface="Calibri" pitchFamily="34" charset="-120"/>
              </a:rPr>
              <a:t>LEVEL</a:t>
            </a:r>
            <a:endParaRPr lang="en-US" sz="900" dirty="0"/>
          </a:p>
        </p:txBody>
      </p:sp>
      <p:sp>
        <p:nvSpPr>
          <p:cNvPr id="5" name="Text 3"/>
          <p:cNvSpPr/>
          <p:nvPr/>
        </p:nvSpPr>
        <p:spPr>
          <a:xfrm>
            <a:off x="2798064" y="1481328"/>
            <a:ext cx="2468880" cy="256032"/>
          </a:xfrm>
          <a:prstGeom prst="rect">
            <a:avLst/>
          </a:prstGeom>
          <a:noFill/>
          <a:ln/>
        </p:spPr>
        <p:txBody>
          <a:bodyPr wrap="square" lIns="0" tIns="0" rIns="0" bIns="0" rtlCol="0" anchor="ctr"/>
          <a:lstStyle/>
          <a:p>
            <a:pPr indent="0" marL="0">
              <a:buNone/>
            </a:pPr>
            <a:r>
              <a:rPr lang="en-US" sz="900" b="1" spc="130" kern="0" dirty="0">
                <a:solidFill>
                  <a:srgbClr val="68788B"/>
                </a:solidFill>
                <a:latin typeface="Calibri" pitchFamily="34" charset="0"/>
                <a:ea typeface="Calibri" pitchFamily="34" charset="-122"/>
                <a:cs typeface="Calibri" pitchFamily="34" charset="-120"/>
              </a:rPr>
              <a:t>WHAT OBFUSCATION HITS</a:t>
            </a:r>
            <a:endParaRPr lang="en-US" sz="900" dirty="0"/>
          </a:p>
        </p:txBody>
      </p:sp>
      <p:sp>
        <p:nvSpPr>
          <p:cNvPr id="6" name="Text 4"/>
          <p:cNvSpPr/>
          <p:nvPr/>
        </p:nvSpPr>
        <p:spPr>
          <a:xfrm>
            <a:off x="5394960" y="1481328"/>
            <a:ext cx="2926080" cy="256032"/>
          </a:xfrm>
          <a:prstGeom prst="rect">
            <a:avLst/>
          </a:prstGeom>
          <a:noFill/>
          <a:ln/>
        </p:spPr>
        <p:txBody>
          <a:bodyPr wrap="square" lIns="0" tIns="0" rIns="0" bIns="0" rtlCol="0" anchor="ctr"/>
          <a:lstStyle/>
          <a:p>
            <a:pPr indent="0" marL="0">
              <a:buNone/>
            </a:pPr>
            <a:r>
              <a:rPr lang="en-US" sz="900" b="1" spc="130" kern="0" dirty="0">
                <a:solidFill>
                  <a:srgbClr val="68788B"/>
                </a:solidFill>
                <a:latin typeface="Calibri" pitchFamily="34" charset="0"/>
                <a:ea typeface="Calibri" pitchFamily="34" charset="-122"/>
                <a:cs typeface="Calibri" pitchFamily="34" charset="-120"/>
              </a:rPr>
              <a:t>WHAT ATTENTION MEASURES</a:t>
            </a:r>
            <a:endParaRPr lang="en-US" sz="900" dirty="0"/>
          </a:p>
        </p:txBody>
      </p:sp>
      <p:sp>
        <p:nvSpPr>
          <p:cNvPr id="7" name="Text 5"/>
          <p:cNvSpPr/>
          <p:nvPr/>
        </p:nvSpPr>
        <p:spPr>
          <a:xfrm>
            <a:off x="8449056" y="1481328"/>
            <a:ext cx="3154680" cy="256032"/>
          </a:xfrm>
          <a:prstGeom prst="rect">
            <a:avLst/>
          </a:prstGeom>
          <a:noFill/>
          <a:ln/>
        </p:spPr>
        <p:txBody>
          <a:bodyPr wrap="square" lIns="0" tIns="0" rIns="0" bIns="0" rtlCol="0" anchor="ctr"/>
          <a:lstStyle/>
          <a:p>
            <a:pPr indent="0" marL="0">
              <a:buNone/>
            </a:pPr>
            <a:r>
              <a:rPr lang="en-US" sz="900" b="1" spc="130" kern="0" dirty="0">
                <a:solidFill>
                  <a:srgbClr val="1FA184"/>
                </a:solidFill>
                <a:latin typeface="Calibri" pitchFamily="34" charset="0"/>
                <a:ea typeface="Calibri" pitchFamily="34" charset="-122"/>
                <a:cs typeface="Calibri" pitchFamily="34" charset="-120"/>
              </a:rPr>
              <a:t>WHAT THE NLA READS</a:t>
            </a:r>
            <a:endParaRPr lang="en-US" sz="900" dirty="0"/>
          </a:p>
        </p:txBody>
      </p:sp>
      <p:sp>
        <p:nvSpPr>
          <p:cNvPr id="8" name="Shape 6"/>
          <p:cNvSpPr/>
          <p:nvPr/>
        </p:nvSpPr>
        <p:spPr>
          <a:xfrm>
            <a:off x="566928" y="1792224"/>
            <a:ext cx="11057839" cy="1014984"/>
          </a:xfrm>
          <a:prstGeom prst="roundRect">
            <a:avLst>
              <a:gd name="adj" fmla="val 3604"/>
            </a:avLst>
          </a:prstGeom>
          <a:solidFill>
            <a:srgbClr val="F3F5F8"/>
          </a:solidFill>
          <a:ln w="12700">
            <a:solidFill>
              <a:srgbClr val="E6EBF1"/>
            </a:solidFill>
            <a:prstDash val="solid"/>
          </a:ln>
        </p:spPr>
      </p:sp>
      <p:sp>
        <p:nvSpPr>
          <p:cNvPr id="9" name="Shape 7"/>
          <p:cNvSpPr/>
          <p:nvPr/>
        </p:nvSpPr>
        <p:spPr>
          <a:xfrm>
            <a:off x="786384" y="2071116"/>
            <a:ext cx="457200" cy="457200"/>
          </a:xfrm>
          <a:prstGeom prst="ellipse">
            <a:avLst/>
          </a:prstGeom>
          <a:solidFill>
            <a:srgbClr val="1FA184"/>
          </a:solidFill>
          <a:ln w="12700">
            <a:solidFill>
              <a:srgbClr val="333333"/>
            </a:solidFill>
            <a:prstDash val="solid"/>
          </a:ln>
        </p:spPr>
      </p:sp>
      <p:pic>
        <p:nvPicPr>
          <p:cNvPr id="10" name="Image 0" descr="preencoded.png">    </p:cNvPr>
          <p:cNvPicPr>
            <a:picLocks noChangeAspect="1"/>
          </p:cNvPicPr>
          <p:nvPr/>
        </p:nvPicPr>
        <p:blipFill>
          <a:blip r:embed="rId1"/>
          <a:stretch>
            <a:fillRect/>
          </a:stretch>
        </p:blipFill>
        <p:spPr>
          <a:xfrm>
            <a:off x="909828" y="2194560"/>
            <a:ext cx="210312" cy="210312"/>
          </a:xfrm>
          <a:prstGeom prst="rect">
            <a:avLst/>
          </a:prstGeom>
        </p:spPr>
      </p:pic>
      <p:sp>
        <p:nvSpPr>
          <p:cNvPr id="11" name="Text 8"/>
          <p:cNvSpPr/>
          <p:nvPr/>
        </p:nvSpPr>
        <p:spPr>
          <a:xfrm>
            <a:off x="1298448" y="1792224"/>
            <a:ext cx="1417320" cy="1014984"/>
          </a:xfrm>
          <a:prstGeom prst="rect">
            <a:avLst/>
          </a:prstGeom>
          <a:noFill/>
          <a:ln/>
        </p:spPr>
        <p:txBody>
          <a:bodyPr wrap="square" lIns="0" tIns="0" rIns="0" bIns="0" rtlCol="0" anchor="ctr"/>
          <a:lstStyle/>
          <a:p>
            <a:pPr indent="0" marL="0">
              <a:buNone/>
            </a:pPr>
            <a:r>
              <a:rPr lang="en-US" sz="1500" b="1" dirty="0">
                <a:solidFill>
                  <a:srgbClr val="1FA184"/>
                </a:solidFill>
                <a:latin typeface="Cambria" pitchFamily="34" charset="0"/>
                <a:ea typeface="Cambria" pitchFamily="34" charset="-122"/>
                <a:cs typeface="Cambria" pitchFamily="34" charset="-120"/>
              </a:rPr>
              <a:t>Atoms</a:t>
            </a:r>
            <a:endParaRPr lang="en-US" sz="1500" dirty="0"/>
          </a:p>
        </p:txBody>
      </p:sp>
      <p:sp>
        <p:nvSpPr>
          <p:cNvPr id="12" name="Text 9"/>
          <p:cNvSpPr/>
          <p:nvPr/>
        </p:nvSpPr>
        <p:spPr>
          <a:xfrm>
            <a:off x="2798064" y="1792224"/>
            <a:ext cx="2468880" cy="1014984"/>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Adversarial renaming of identifiers</a:t>
            </a:r>
            <a:endParaRPr lang="en-US" sz="1050" dirty="0"/>
          </a:p>
        </p:txBody>
      </p:sp>
      <p:sp>
        <p:nvSpPr>
          <p:cNvPr id="13" name="Text 10"/>
          <p:cNvSpPr/>
          <p:nvPr/>
        </p:nvSpPr>
        <p:spPr>
          <a:xfrm>
            <a:off x="5394960" y="1792224"/>
            <a:ext cx="2926080" cy="1014984"/>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Identifier mass share A_id over aligned identifier tokens</a:t>
            </a:r>
            <a:endParaRPr lang="en-US" sz="1050" dirty="0"/>
          </a:p>
        </p:txBody>
      </p:sp>
      <p:sp>
        <p:nvSpPr>
          <p:cNvPr id="14" name="Text 11"/>
          <p:cNvSpPr/>
          <p:nvPr/>
        </p:nvSpPr>
        <p:spPr>
          <a:xfrm>
            <a:off x="8449056" y="1792224"/>
            <a:ext cx="3154680" cy="1014984"/>
          </a:xfrm>
          <a:prstGeom prst="rect">
            <a:avLst/>
          </a:prstGeom>
          <a:noFill/>
          <a:ln/>
        </p:spPr>
        <p:txBody>
          <a:bodyPr wrap="square" lIns="0" tIns="0" rIns="0" bIns="0" rtlCol="0" anchor="ctr"/>
          <a:lstStyle/>
          <a:p>
            <a:pPr indent="0" marL="0">
              <a:lnSpc>
                <a:spcPct val="114000"/>
              </a:lnSpc>
              <a:buNone/>
            </a:pPr>
            <a:r>
              <a:rPr lang="en-US" sz="1050" b="1" dirty="0">
                <a:solidFill>
                  <a:srgbClr val="16202F"/>
                </a:solidFill>
                <a:latin typeface="Calibri" pitchFamily="34" charset="0"/>
                <a:ea typeface="Calibri" pitchFamily="34" charset="-122"/>
                <a:cs typeface="Calibri" pitchFamily="34" charset="-120"/>
              </a:rPr>
              <a:t>At the renamed token: the true dataflow role vs. the misleading decoy</a:t>
            </a:r>
            <a:endParaRPr lang="en-US" sz="1050" dirty="0"/>
          </a:p>
        </p:txBody>
      </p:sp>
      <p:sp>
        <p:nvSpPr>
          <p:cNvPr id="15" name="Shape 12"/>
          <p:cNvSpPr/>
          <p:nvPr/>
        </p:nvSpPr>
        <p:spPr>
          <a:xfrm>
            <a:off x="566928" y="2889504"/>
            <a:ext cx="11057839" cy="1014984"/>
          </a:xfrm>
          <a:prstGeom prst="roundRect">
            <a:avLst>
              <a:gd name="adj" fmla="val 3604"/>
            </a:avLst>
          </a:prstGeom>
          <a:solidFill>
            <a:srgbClr val="FAFBFC"/>
          </a:solidFill>
          <a:ln w="12700">
            <a:solidFill>
              <a:srgbClr val="E6EBF1"/>
            </a:solidFill>
            <a:prstDash val="solid"/>
          </a:ln>
        </p:spPr>
      </p:sp>
      <p:sp>
        <p:nvSpPr>
          <p:cNvPr id="16" name="Shape 13"/>
          <p:cNvSpPr/>
          <p:nvPr/>
        </p:nvSpPr>
        <p:spPr>
          <a:xfrm>
            <a:off x="786384" y="3168396"/>
            <a:ext cx="457200" cy="457200"/>
          </a:xfrm>
          <a:prstGeom prst="ellipse">
            <a:avLst/>
          </a:prstGeom>
          <a:solidFill>
            <a:srgbClr val="2E8B72"/>
          </a:solidFill>
          <a:ln w="12700">
            <a:solidFill>
              <a:srgbClr val="333333"/>
            </a:solidFill>
            <a:prstDash val="solid"/>
          </a:ln>
        </p:spPr>
      </p:sp>
      <p:pic>
        <p:nvPicPr>
          <p:cNvPr id="17" name="Image 1" descr="preencoded.png">    </p:cNvPr>
          <p:cNvPicPr>
            <a:picLocks noChangeAspect="1"/>
          </p:cNvPicPr>
          <p:nvPr/>
        </p:nvPicPr>
        <p:blipFill>
          <a:blip r:embed="rId2"/>
          <a:stretch>
            <a:fillRect/>
          </a:stretch>
        </p:blipFill>
        <p:spPr>
          <a:xfrm>
            <a:off x="909828" y="3291840"/>
            <a:ext cx="210312" cy="210312"/>
          </a:xfrm>
          <a:prstGeom prst="rect">
            <a:avLst/>
          </a:prstGeom>
        </p:spPr>
      </p:pic>
      <p:sp>
        <p:nvSpPr>
          <p:cNvPr id="18" name="Text 14"/>
          <p:cNvSpPr/>
          <p:nvPr/>
        </p:nvSpPr>
        <p:spPr>
          <a:xfrm>
            <a:off x="1298448" y="2889504"/>
            <a:ext cx="1417320" cy="1014984"/>
          </a:xfrm>
          <a:prstGeom prst="rect">
            <a:avLst/>
          </a:prstGeom>
          <a:noFill/>
          <a:ln/>
        </p:spPr>
        <p:txBody>
          <a:bodyPr wrap="square" lIns="0" tIns="0" rIns="0" bIns="0" rtlCol="0" anchor="ctr"/>
          <a:lstStyle/>
          <a:p>
            <a:pPr indent="0" marL="0">
              <a:buNone/>
            </a:pPr>
            <a:r>
              <a:rPr lang="en-US" sz="1500" b="1" dirty="0">
                <a:solidFill>
                  <a:srgbClr val="2E8B72"/>
                </a:solidFill>
                <a:latin typeface="Cambria" pitchFamily="34" charset="0"/>
                <a:ea typeface="Cambria" pitchFamily="34" charset="-122"/>
                <a:cs typeface="Cambria" pitchFamily="34" charset="-120"/>
              </a:rPr>
              <a:t>Blocks</a:t>
            </a:r>
            <a:endParaRPr lang="en-US" sz="1500" dirty="0"/>
          </a:p>
        </p:txBody>
      </p:sp>
      <p:sp>
        <p:nvSpPr>
          <p:cNvPr id="19" name="Text 15"/>
          <p:cNvSpPr/>
          <p:nvPr/>
        </p:nvSpPr>
        <p:spPr>
          <a:xfrm>
            <a:off x="2798064" y="2889504"/>
            <a:ext cx="2468880" cy="1014984"/>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Dispatch tables and helper functions</a:t>
            </a:r>
            <a:endParaRPr lang="en-US" sz="1050" dirty="0"/>
          </a:p>
        </p:txBody>
      </p:sp>
      <p:sp>
        <p:nvSpPr>
          <p:cNvPr id="20" name="Text 16"/>
          <p:cNvSpPr/>
          <p:nvPr/>
        </p:nvSpPr>
        <p:spPr>
          <a:xfrm>
            <a:off x="5394960" y="2889504"/>
            <a:ext cx="2926080" cy="1014984"/>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Attention onto helper / dispatch-table tokens</a:t>
            </a:r>
            <a:endParaRPr lang="en-US" sz="1050" dirty="0"/>
          </a:p>
        </p:txBody>
      </p:sp>
      <p:sp>
        <p:nvSpPr>
          <p:cNvPr id="21" name="Text 17"/>
          <p:cNvSpPr/>
          <p:nvPr/>
        </p:nvSpPr>
        <p:spPr>
          <a:xfrm>
            <a:off x="8449056" y="2889504"/>
            <a:ext cx="3154680" cy="1014984"/>
          </a:xfrm>
          <a:prstGeom prst="rect">
            <a:avLst/>
          </a:prstGeom>
          <a:noFill/>
          <a:ln/>
        </p:spPr>
        <p:txBody>
          <a:bodyPr wrap="square" lIns="0" tIns="0" rIns="0" bIns="0" rtlCol="0" anchor="ctr"/>
          <a:lstStyle/>
          <a:p>
            <a:pPr indent="0" marL="0">
              <a:lnSpc>
                <a:spcPct val="114000"/>
              </a:lnSpc>
              <a:buNone/>
            </a:pPr>
            <a:r>
              <a:rPr lang="en-US" sz="1050" b="1" dirty="0">
                <a:solidFill>
                  <a:srgbClr val="16202F"/>
                </a:solidFill>
                <a:latin typeface="Calibri" pitchFamily="34" charset="0"/>
                <a:ea typeface="Calibri" pitchFamily="34" charset="-122"/>
                <a:cs typeface="Calibri" pitchFamily="34" charset="-120"/>
              </a:rPr>
              <a:t>Whether a block-level unit is represented as a unit at all</a:t>
            </a:r>
            <a:endParaRPr lang="en-US" sz="1050" dirty="0"/>
          </a:p>
        </p:txBody>
      </p:sp>
      <p:sp>
        <p:nvSpPr>
          <p:cNvPr id="22" name="Shape 18"/>
          <p:cNvSpPr/>
          <p:nvPr/>
        </p:nvSpPr>
        <p:spPr>
          <a:xfrm>
            <a:off x="566928" y="3986784"/>
            <a:ext cx="11057839" cy="1014984"/>
          </a:xfrm>
          <a:prstGeom prst="roundRect">
            <a:avLst>
              <a:gd name="adj" fmla="val 3604"/>
            </a:avLst>
          </a:prstGeom>
          <a:solidFill>
            <a:srgbClr val="F3F5F8"/>
          </a:solidFill>
          <a:ln w="12700">
            <a:solidFill>
              <a:srgbClr val="E6EBF1"/>
            </a:solidFill>
            <a:prstDash val="solid"/>
          </a:ln>
        </p:spPr>
      </p:sp>
      <p:sp>
        <p:nvSpPr>
          <p:cNvPr id="23" name="Shape 19"/>
          <p:cNvSpPr/>
          <p:nvPr/>
        </p:nvSpPr>
        <p:spPr>
          <a:xfrm>
            <a:off x="786384" y="4265676"/>
            <a:ext cx="457200" cy="457200"/>
          </a:xfrm>
          <a:prstGeom prst="ellipse">
            <a:avLst/>
          </a:prstGeom>
          <a:solidFill>
            <a:srgbClr val="2F6383"/>
          </a:solidFill>
          <a:ln w="12700">
            <a:solidFill>
              <a:srgbClr val="333333"/>
            </a:solidFill>
            <a:prstDash val="solid"/>
          </a:ln>
        </p:spPr>
      </p:sp>
      <p:pic>
        <p:nvPicPr>
          <p:cNvPr id="24" name="Image 2" descr="preencoded.png">    </p:cNvPr>
          <p:cNvPicPr>
            <a:picLocks noChangeAspect="1"/>
          </p:cNvPicPr>
          <p:nvPr/>
        </p:nvPicPr>
        <p:blipFill>
          <a:blip r:embed="rId3"/>
          <a:stretch>
            <a:fillRect/>
          </a:stretch>
        </p:blipFill>
        <p:spPr>
          <a:xfrm>
            <a:off x="909828" y="4389120"/>
            <a:ext cx="210312" cy="210312"/>
          </a:xfrm>
          <a:prstGeom prst="rect">
            <a:avLst/>
          </a:prstGeom>
        </p:spPr>
      </p:pic>
      <p:sp>
        <p:nvSpPr>
          <p:cNvPr id="25" name="Text 20"/>
          <p:cNvSpPr/>
          <p:nvPr/>
        </p:nvSpPr>
        <p:spPr>
          <a:xfrm>
            <a:off x="1298448" y="3986784"/>
            <a:ext cx="1417320" cy="1014984"/>
          </a:xfrm>
          <a:prstGeom prst="rect">
            <a:avLst/>
          </a:prstGeom>
          <a:noFill/>
          <a:ln/>
        </p:spPr>
        <p:txBody>
          <a:bodyPr wrap="square" lIns="0" tIns="0" rIns="0" bIns="0" rtlCol="0" anchor="ctr"/>
          <a:lstStyle/>
          <a:p>
            <a:pPr indent="0" marL="0">
              <a:buNone/>
            </a:pPr>
            <a:r>
              <a:rPr lang="en-US" sz="1500" b="1" dirty="0">
                <a:solidFill>
                  <a:srgbClr val="2F6383"/>
                </a:solidFill>
                <a:latin typeface="Cambria" pitchFamily="34" charset="0"/>
                <a:ea typeface="Cambria" pitchFamily="34" charset="-122"/>
                <a:cs typeface="Cambria" pitchFamily="34" charset="-120"/>
              </a:rPr>
              <a:t>Relations</a:t>
            </a:r>
            <a:endParaRPr lang="en-US" sz="1500" dirty="0"/>
          </a:p>
        </p:txBody>
      </p:sp>
      <p:sp>
        <p:nvSpPr>
          <p:cNvPr id="26" name="Text 21"/>
          <p:cNvSpPr/>
          <p:nvPr/>
        </p:nvSpPr>
        <p:spPr>
          <a:xfrm>
            <a:off x="2798064" y="3986784"/>
            <a:ext cx="2468880" cy="1014984"/>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Dispatcher calls and indirection</a:t>
            </a:r>
            <a:endParaRPr lang="en-US" sz="1050" dirty="0"/>
          </a:p>
        </p:txBody>
      </p:sp>
      <p:sp>
        <p:nvSpPr>
          <p:cNvPr id="27" name="Text 22"/>
          <p:cNvSpPr/>
          <p:nvPr/>
        </p:nvSpPr>
        <p:spPr>
          <a:xfrm>
            <a:off x="5394960" y="3986784"/>
            <a:ext cx="2926080" cy="1014984"/>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Structure mass A_struct; per-head dispatcher-tracking score</a:t>
            </a:r>
            <a:endParaRPr lang="en-US" sz="1050" dirty="0"/>
          </a:p>
        </p:txBody>
      </p:sp>
      <p:sp>
        <p:nvSpPr>
          <p:cNvPr id="28" name="Text 23"/>
          <p:cNvSpPr/>
          <p:nvPr/>
        </p:nvSpPr>
        <p:spPr>
          <a:xfrm>
            <a:off x="8449056" y="3986784"/>
            <a:ext cx="3154680" cy="1014984"/>
          </a:xfrm>
          <a:prstGeom prst="rect">
            <a:avLst/>
          </a:prstGeom>
          <a:noFill/>
          <a:ln/>
        </p:spPr>
        <p:txBody>
          <a:bodyPr wrap="square" lIns="0" tIns="0" rIns="0" bIns="0" rtlCol="0" anchor="ctr"/>
          <a:lstStyle/>
          <a:p>
            <a:pPr indent="0" marL="0">
              <a:lnSpc>
                <a:spcPct val="114000"/>
              </a:lnSpc>
              <a:buNone/>
            </a:pPr>
            <a:r>
              <a:rPr lang="en-US" sz="1050" b="1" dirty="0">
                <a:solidFill>
                  <a:srgbClr val="16202F"/>
                </a:solidFill>
                <a:latin typeface="Calibri" pitchFamily="34" charset="0"/>
                <a:ea typeface="Calibri" pitchFamily="34" charset="-122"/>
                <a:cs typeface="Calibri" pitchFamily="34" charset="-120"/>
              </a:rPr>
              <a:t>Whether the current execution state is tracked at each hop</a:t>
            </a:r>
            <a:endParaRPr lang="en-US" sz="1050" dirty="0"/>
          </a:p>
        </p:txBody>
      </p:sp>
      <p:sp>
        <p:nvSpPr>
          <p:cNvPr id="29" name="Shape 24"/>
          <p:cNvSpPr/>
          <p:nvPr/>
        </p:nvSpPr>
        <p:spPr>
          <a:xfrm>
            <a:off x="566928" y="5084064"/>
            <a:ext cx="11057839" cy="1014984"/>
          </a:xfrm>
          <a:prstGeom prst="roundRect">
            <a:avLst>
              <a:gd name="adj" fmla="val 3604"/>
            </a:avLst>
          </a:prstGeom>
          <a:solidFill>
            <a:srgbClr val="FAFBFC"/>
          </a:solidFill>
          <a:ln w="12700">
            <a:solidFill>
              <a:srgbClr val="E6EBF1"/>
            </a:solidFill>
            <a:prstDash val="solid"/>
          </a:ln>
        </p:spPr>
      </p:sp>
      <p:sp>
        <p:nvSpPr>
          <p:cNvPr id="30" name="Shape 25"/>
          <p:cNvSpPr/>
          <p:nvPr/>
        </p:nvSpPr>
        <p:spPr>
          <a:xfrm>
            <a:off x="786384" y="5362956"/>
            <a:ext cx="457200" cy="457200"/>
          </a:xfrm>
          <a:prstGeom prst="ellipse">
            <a:avLst/>
          </a:prstGeom>
          <a:solidFill>
            <a:srgbClr val="212D48"/>
          </a:solidFill>
          <a:ln w="12700">
            <a:solidFill>
              <a:srgbClr val="333333"/>
            </a:solidFill>
            <a:prstDash val="solid"/>
          </a:ln>
        </p:spPr>
      </p:sp>
      <p:pic>
        <p:nvPicPr>
          <p:cNvPr id="31" name="Image 3" descr="preencoded.png">    </p:cNvPr>
          <p:cNvPicPr>
            <a:picLocks noChangeAspect="1"/>
          </p:cNvPicPr>
          <p:nvPr/>
        </p:nvPicPr>
        <p:blipFill>
          <a:blip r:embed="rId4"/>
          <a:stretch>
            <a:fillRect/>
          </a:stretch>
        </p:blipFill>
        <p:spPr>
          <a:xfrm>
            <a:off x="909828" y="5486400"/>
            <a:ext cx="210312" cy="210312"/>
          </a:xfrm>
          <a:prstGeom prst="rect">
            <a:avLst/>
          </a:prstGeom>
        </p:spPr>
      </p:pic>
      <p:sp>
        <p:nvSpPr>
          <p:cNvPr id="32" name="Text 26"/>
          <p:cNvSpPr/>
          <p:nvPr/>
        </p:nvSpPr>
        <p:spPr>
          <a:xfrm>
            <a:off x="1298448" y="5084064"/>
            <a:ext cx="1417320" cy="1014984"/>
          </a:xfrm>
          <a:prstGeom prst="rect">
            <a:avLst/>
          </a:prstGeom>
          <a:noFill/>
          <a:ln/>
        </p:spPr>
        <p:txBody>
          <a:bodyPr wrap="square" lIns="0" tIns="0" rIns="0" bIns="0" rtlCol="0" anchor="ctr"/>
          <a:lstStyle/>
          <a:p>
            <a:pPr indent="0" marL="0">
              <a:buNone/>
            </a:pPr>
            <a:r>
              <a:rPr lang="en-US" sz="1500" b="1" dirty="0">
                <a:solidFill>
                  <a:srgbClr val="212D48"/>
                </a:solidFill>
                <a:latin typeface="Cambria" pitchFamily="34" charset="0"/>
                <a:ea typeface="Cambria" pitchFamily="34" charset="-122"/>
                <a:cs typeface="Cambria" pitchFamily="34" charset="-120"/>
              </a:rPr>
              <a:t>Macro</a:t>
            </a:r>
            <a:endParaRPr lang="en-US" sz="1500" dirty="0"/>
          </a:p>
        </p:txBody>
      </p:sp>
      <p:sp>
        <p:nvSpPr>
          <p:cNvPr id="33" name="Text 27"/>
          <p:cNvSpPr/>
          <p:nvPr/>
        </p:nvSpPr>
        <p:spPr>
          <a:xfrm>
            <a:off x="2798064" y="5084064"/>
            <a:ext cx="2468880" cy="1014984"/>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Overall algorithm and purpose</a:t>
            </a:r>
            <a:endParaRPr lang="en-US" sz="1050" dirty="0"/>
          </a:p>
        </p:txBody>
      </p:sp>
      <p:sp>
        <p:nvSpPr>
          <p:cNvPr id="34" name="Text 28"/>
          <p:cNvSpPr/>
          <p:nvPr/>
        </p:nvSpPr>
        <p:spPr>
          <a:xfrm>
            <a:off x="5394960" y="5084064"/>
            <a:ext cx="2926080" cy="1014984"/>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Attention entropy over code tokens vs. sink mass</a:t>
            </a:r>
            <a:endParaRPr lang="en-US" sz="1050" dirty="0"/>
          </a:p>
        </p:txBody>
      </p:sp>
      <p:sp>
        <p:nvSpPr>
          <p:cNvPr id="35" name="Text 29"/>
          <p:cNvSpPr/>
          <p:nvPr/>
        </p:nvSpPr>
        <p:spPr>
          <a:xfrm>
            <a:off x="8449056" y="5084064"/>
            <a:ext cx="3154680" cy="1014984"/>
          </a:xfrm>
          <a:prstGeom prst="rect">
            <a:avLst/>
          </a:prstGeom>
          <a:noFill/>
          <a:ln/>
        </p:spPr>
        <p:txBody>
          <a:bodyPr wrap="square" lIns="0" tIns="0" rIns="0" bIns="0" rtlCol="0" anchor="ctr"/>
          <a:lstStyle/>
          <a:p>
            <a:pPr indent="0" marL="0">
              <a:lnSpc>
                <a:spcPct val="114000"/>
              </a:lnSpc>
              <a:buNone/>
            </a:pPr>
            <a:r>
              <a:rPr lang="en-US" sz="1050" b="1" dirty="0">
                <a:solidFill>
                  <a:srgbClr val="16202F"/>
                </a:solidFill>
                <a:latin typeface="Calibri" pitchFamily="34" charset="0"/>
                <a:ea typeface="Calibri" pitchFamily="34" charset="-122"/>
                <a:cs typeface="Calibri" pitchFamily="34" charset="-120"/>
              </a:rPr>
              <a:t>In the trace: a genuine plan vs. a confused, looping search</a:t>
            </a:r>
            <a:endParaRPr lang="en-US" sz="1050" dirty="0"/>
          </a:p>
        </p:txBody>
      </p:sp>
      <p:sp>
        <p:nvSpPr>
          <p:cNvPr id="36" name="Text 30"/>
          <p:cNvSpPr/>
          <p:nvPr/>
        </p:nvSpPr>
        <p:spPr>
          <a:xfrm>
            <a:off x="566928" y="6272784"/>
            <a:ext cx="10515600" cy="292608"/>
          </a:xfrm>
          <a:prstGeom prst="rect">
            <a:avLst/>
          </a:prstGeom>
          <a:noFill/>
          <a:ln/>
        </p:spPr>
        <p:txBody>
          <a:bodyPr wrap="square" lIns="0" tIns="0" rIns="0" bIns="0" rtlCol="0" anchor="ctr"/>
          <a:lstStyle/>
          <a:p>
            <a:pPr indent="0" marL="0">
              <a:buNone/>
            </a:pPr>
            <a:r>
              <a:rPr lang="en-US" sz="1000" i="1" dirty="0">
                <a:solidFill>
                  <a:srgbClr val="68788B"/>
                </a:solidFill>
                <a:latin typeface="Calibri" pitchFamily="34" charset="0"/>
                <a:ea typeface="Calibri" pitchFamily="34" charset="-122"/>
                <a:cs typeface="Calibri" pitchFamily="34" charset="-120"/>
              </a:rPr>
              <a:t>micro → macro   ·   both instruments are read on every level, so agreement between them is evidence neither could produce alone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Hypothesis Space: Four Attention-Budget Strategies</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Scope: stacked obfuscation (L3) · mutually exclusive predictions about how attention mass is allocated.</a:t>
            </a:r>
            <a:endParaRPr lang="en-US" sz="1250" dirty="0"/>
          </a:p>
        </p:txBody>
      </p:sp>
      <p:sp>
        <p:nvSpPr>
          <p:cNvPr id="4" name="Shape 2"/>
          <p:cNvSpPr/>
          <p:nvPr/>
        </p:nvSpPr>
        <p:spPr>
          <a:xfrm>
            <a:off x="658368" y="1517904"/>
            <a:ext cx="2560320" cy="3127248"/>
          </a:xfrm>
          <a:prstGeom prst="roundRect">
            <a:avLst>
              <a:gd name="adj" fmla="val 1786"/>
            </a:avLst>
          </a:prstGeom>
          <a:solidFill>
            <a:srgbClr val="E9F5F1"/>
          </a:solidFill>
          <a:ln w="12700">
            <a:solidFill>
              <a:srgbClr val="333333"/>
            </a:solidFill>
            <a:prstDash val="solid"/>
          </a:ln>
        </p:spPr>
      </p:sp>
      <p:sp>
        <p:nvSpPr>
          <p:cNvPr id="5" name="Shape 3"/>
          <p:cNvSpPr/>
          <p:nvPr/>
        </p:nvSpPr>
        <p:spPr>
          <a:xfrm>
            <a:off x="877824" y="1737360"/>
            <a:ext cx="566928" cy="384048"/>
          </a:xfrm>
          <a:prstGeom prst="roundRect">
            <a:avLst>
              <a:gd name="adj" fmla="val 19048"/>
            </a:avLst>
          </a:prstGeom>
          <a:solidFill>
            <a:srgbClr val="1FA184"/>
          </a:solidFill>
          <a:ln w="12700">
            <a:solidFill>
              <a:srgbClr val="333333"/>
            </a:solidFill>
            <a:prstDash val="solid"/>
          </a:ln>
        </p:spPr>
      </p:sp>
      <p:sp>
        <p:nvSpPr>
          <p:cNvPr id="6" name="Text 4"/>
          <p:cNvSpPr/>
          <p:nvPr/>
        </p:nvSpPr>
        <p:spPr>
          <a:xfrm>
            <a:off x="877824" y="1737360"/>
            <a:ext cx="56692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H1</a:t>
            </a:r>
            <a:endParaRPr lang="en-US" sz="1400" dirty="0"/>
          </a:p>
        </p:txBody>
      </p:sp>
      <p:sp>
        <p:nvSpPr>
          <p:cNvPr id="7" name="Text 5"/>
          <p:cNvSpPr/>
          <p:nvPr/>
        </p:nvSpPr>
        <p:spPr>
          <a:xfrm>
            <a:off x="877824" y="2212848"/>
            <a:ext cx="2121408" cy="310896"/>
          </a:xfrm>
          <a:prstGeom prst="rect">
            <a:avLst/>
          </a:prstGeom>
          <a:noFill/>
          <a:ln/>
        </p:spPr>
        <p:txBody>
          <a:bodyPr wrap="square" lIns="0" tIns="0" rIns="0" bIns="0" rtlCol="0" anchor="ctr"/>
          <a:lstStyle/>
          <a:p>
            <a:pPr indent="0" marL="0">
              <a:buNone/>
            </a:pPr>
            <a:r>
              <a:rPr lang="en-US" sz="1300" b="1" dirty="0">
                <a:solidFill>
                  <a:srgbClr val="16202F"/>
                </a:solidFill>
                <a:latin typeface="Calibri" pitchFamily="34" charset="0"/>
                <a:ea typeface="Calibri" pitchFamily="34" charset="-122"/>
                <a:cs typeface="Calibri" pitchFamily="34" charset="-120"/>
              </a:rPr>
              <a:t>Identifier-focused</a:t>
            </a:r>
            <a:endParaRPr lang="en-US" sz="1300" dirty="0"/>
          </a:p>
        </p:txBody>
      </p:sp>
      <p:sp>
        <p:nvSpPr>
          <p:cNvPr id="8" name="Text 6"/>
          <p:cNvSpPr/>
          <p:nvPr/>
        </p:nvSpPr>
        <p:spPr>
          <a:xfrm>
            <a:off x="877824" y="2542032"/>
            <a:ext cx="2121408" cy="274320"/>
          </a:xfrm>
          <a:prstGeom prst="rect">
            <a:avLst/>
          </a:prstGeom>
          <a:noFill/>
          <a:ln/>
        </p:spPr>
        <p:txBody>
          <a:bodyPr wrap="square" lIns="0" tIns="0" rIns="0" bIns="0" rtlCol="0" anchor="ctr"/>
          <a:lstStyle/>
          <a:p>
            <a:pPr indent="0" marL="0">
              <a:buNone/>
            </a:pPr>
            <a:r>
              <a:rPr lang="en-US" sz="1050" b="1" dirty="0">
                <a:solidFill>
                  <a:srgbClr val="1FA184"/>
                </a:solidFill>
                <a:latin typeface="Courier New" pitchFamily="34" charset="0"/>
                <a:ea typeface="Courier New" pitchFamily="34" charset="-122"/>
                <a:cs typeface="Courier New" pitchFamily="34" charset="-120"/>
              </a:rPr>
              <a:t>↑ identifiers   ↓ structure</a:t>
            </a:r>
            <a:endParaRPr lang="en-US" sz="1050" dirty="0"/>
          </a:p>
        </p:txBody>
      </p:sp>
      <p:sp>
        <p:nvSpPr>
          <p:cNvPr id="9" name="Text 7"/>
          <p:cNvSpPr/>
          <p:nvPr/>
        </p:nvSpPr>
        <p:spPr>
          <a:xfrm>
            <a:off x="877824" y="2889504"/>
            <a:ext cx="2121408" cy="932688"/>
          </a:xfrm>
          <a:prstGeom prst="rect">
            <a:avLst/>
          </a:prstGeom>
          <a:noFill/>
          <a:ln/>
        </p:spPr>
        <p:txBody>
          <a:bodyPr wrap="square" lIns="0" tIns="0" rIns="0" bIns="0" rtlCol="0" anchor="ctr"/>
          <a:lstStyle/>
          <a:p>
            <a:pPr indent="0" marL="0">
              <a:lnSpc>
                <a:spcPct val="116000"/>
              </a:lnSpc>
              <a:buNone/>
            </a:pPr>
            <a:r>
              <a:rPr lang="en-US" sz="1050" dirty="0">
                <a:solidFill>
                  <a:srgbClr val="3A4859"/>
                </a:solidFill>
                <a:latin typeface="Calibri" pitchFamily="34" charset="0"/>
                <a:ea typeface="Calibri" pitchFamily="34" charset="-122"/>
                <a:cs typeface="Calibri" pitchFamily="34" charset="-120"/>
              </a:rPr>
              <a:t>The model treats the (misleading) names as the last usable semantic beacons and doubles down on them.</a:t>
            </a:r>
            <a:endParaRPr lang="en-US" sz="1050" dirty="0"/>
          </a:p>
        </p:txBody>
      </p:sp>
      <p:sp>
        <p:nvSpPr>
          <p:cNvPr id="10" name="Text 8"/>
          <p:cNvSpPr/>
          <p:nvPr/>
        </p:nvSpPr>
        <p:spPr>
          <a:xfrm>
            <a:off x="877824" y="3858768"/>
            <a:ext cx="2121408" cy="676656"/>
          </a:xfrm>
          <a:prstGeom prst="rect">
            <a:avLst/>
          </a:prstGeom>
          <a:noFill/>
          <a:ln/>
        </p:spPr>
        <p:txBody>
          <a:bodyPr wrap="square" lIns="0" tIns="0" rIns="0" bIns="0" rtlCol="0" anchor="ctr"/>
          <a:lstStyle/>
          <a:p>
            <a:pPr indent="0" marL="0">
              <a:lnSpc>
                <a:spcPct val="112000"/>
              </a:lnSpc>
              <a:buNone/>
            </a:pPr>
            <a:r>
              <a:rPr lang="en-US" sz="950" b="1" dirty="0">
                <a:solidFill>
                  <a:srgbClr val="1FA184"/>
                </a:solidFill>
                <a:latin typeface="Calibri" pitchFamily="34" charset="0"/>
                <a:ea typeface="Calibri" pitchFamily="34" charset="-122"/>
                <a:cs typeface="Calibri" pitchFamily="34" charset="-120"/>
              </a:rPr>
              <a:t>Predicts  </a:t>
            </a:r>
            <a:pPr indent="0" marL="0">
              <a:lnSpc>
                <a:spcPct val="112000"/>
              </a:lnSpc>
              <a:buNone/>
            </a:pPr>
            <a:r>
              <a:rPr lang="en-US" sz="950" dirty="0">
                <a:solidFill>
                  <a:srgbClr val="3A4859"/>
                </a:solidFill>
                <a:latin typeface="Calibri" pitchFamily="34" charset="0"/>
                <a:ea typeface="Calibri" pitchFamily="34" charset="-122"/>
                <a:cs typeface="Calibri" pitchFamily="34" charset="-120"/>
              </a:rPr>
              <a:t>identifier mass ↑ at L3 vs L2 · accuracy ↑ when steering toward identifiers</a:t>
            </a:r>
            <a:endParaRPr lang="en-US" sz="950" dirty="0"/>
          </a:p>
        </p:txBody>
      </p:sp>
      <p:sp>
        <p:nvSpPr>
          <p:cNvPr id="11" name="Shape 9"/>
          <p:cNvSpPr/>
          <p:nvPr/>
        </p:nvSpPr>
        <p:spPr>
          <a:xfrm>
            <a:off x="3493008" y="1517904"/>
            <a:ext cx="2560320" cy="3127248"/>
          </a:xfrm>
          <a:prstGeom prst="roundRect">
            <a:avLst>
              <a:gd name="adj" fmla="val 1786"/>
            </a:avLst>
          </a:prstGeom>
          <a:solidFill>
            <a:srgbClr val="EBF1F6"/>
          </a:solidFill>
          <a:ln w="12700">
            <a:solidFill>
              <a:srgbClr val="333333"/>
            </a:solidFill>
            <a:prstDash val="solid"/>
          </a:ln>
        </p:spPr>
      </p:sp>
      <p:sp>
        <p:nvSpPr>
          <p:cNvPr id="12" name="Shape 10"/>
          <p:cNvSpPr/>
          <p:nvPr/>
        </p:nvSpPr>
        <p:spPr>
          <a:xfrm>
            <a:off x="3712464" y="1737360"/>
            <a:ext cx="566928" cy="384048"/>
          </a:xfrm>
          <a:prstGeom prst="roundRect">
            <a:avLst>
              <a:gd name="adj" fmla="val 19048"/>
            </a:avLst>
          </a:prstGeom>
          <a:solidFill>
            <a:srgbClr val="2F6383"/>
          </a:solidFill>
          <a:ln w="12700">
            <a:solidFill>
              <a:srgbClr val="333333"/>
            </a:solidFill>
            <a:prstDash val="solid"/>
          </a:ln>
        </p:spPr>
      </p:sp>
      <p:sp>
        <p:nvSpPr>
          <p:cNvPr id="13" name="Text 11"/>
          <p:cNvSpPr/>
          <p:nvPr/>
        </p:nvSpPr>
        <p:spPr>
          <a:xfrm>
            <a:off x="3712464" y="1737360"/>
            <a:ext cx="56692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H2</a:t>
            </a:r>
            <a:endParaRPr lang="en-US" sz="1400" dirty="0"/>
          </a:p>
        </p:txBody>
      </p:sp>
      <p:sp>
        <p:nvSpPr>
          <p:cNvPr id="14" name="Text 12"/>
          <p:cNvSpPr/>
          <p:nvPr/>
        </p:nvSpPr>
        <p:spPr>
          <a:xfrm>
            <a:off x="3712464" y="2212848"/>
            <a:ext cx="2121408" cy="310896"/>
          </a:xfrm>
          <a:prstGeom prst="rect">
            <a:avLst/>
          </a:prstGeom>
          <a:noFill/>
          <a:ln/>
        </p:spPr>
        <p:txBody>
          <a:bodyPr wrap="square" lIns="0" tIns="0" rIns="0" bIns="0" rtlCol="0" anchor="ctr"/>
          <a:lstStyle/>
          <a:p>
            <a:pPr indent="0" marL="0">
              <a:buNone/>
            </a:pPr>
            <a:r>
              <a:rPr lang="en-US" sz="1300" b="1" dirty="0">
                <a:solidFill>
                  <a:srgbClr val="16202F"/>
                </a:solidFill>
                <a:latin typeface="Calibri" pitchFamily="34" charset="0"/>
                <a:ea typeface="Calibri" pitchFamily="34" charset="-122"/>
                <a:cs typeface="Calibri" pitchFamily="34" charset="-120"/>
              </a:rPr>
              <a:t>Structure-focused</a:t>
            </a:r>
            <a:endParaRPr lang="en-US" sz="1300" dirty="0"/>
          </a:p>
        </p:txBody>
      </p:sp>
      <p:sp>
        <p:nvSpPr>
          <p:cNvPr id="15" name="Text 13"/>
          <p:cNvSpPr/>
          <p:nvPr/>
        </p:nvSpPr>
        <p:spPr>
          <a:xfrm>
            <a:off x="3712464" y="2542032"/>
            <a:ext cx="2121408" cy="274320"/>
          </a:xfrm>
          <a:prstGeom prst="rect">
            <a:avLst/>
          </a:prstGeom>
          <a:noFill/>
          <a:ln/>
        </p:spPr>
        <p:txBody>
          <a:bodyPr wrap="square" lIns="0" tIns="0" rIns="0" bIns="0" rtlCol="0" anchor="ctr"/>
          <a:lstStyle/>
          <a:p>
            <a:pPr indent="0" marL="0">
              <a:buNone/>
            </a:pPr>
            <a:r>
              <a:rPr lang="en-US" sz="1050" b="1" dirty="0">
                <a:solidFill>
                  <a:srgbClr val="2F6383"/>
                </a:solidFill>
                <a:latin typeface="Courier New" pitchFamily="34" charset="0"/>
                <a:ea typeface="Courier New" pitchFamily="34" charset="-122"/>
                <a:cs typeface="Courier New" pitchFamily="34" charset="-120"/>
              </a:rPr>
              <a:t>↓ identifiers   ↑ structure</a:t>
            </a:r>
            <a:endParaRPr lang="en-US" sz="1050" dirty="0"/>
          </a:p>
        </p:txBody>
      </p:sp>
      <p:sp>
        <p:nvSpPr>
          <p:cNvPr id="16" name="Text 14"/>
          <p:cNvSpPr/>
          <p:nvPr/>
        </p:nvSpPr>
        <p:spPr>
          <a:xfrm>
            <a:off x="3712464" y="2889504"/>
            <a:ext cx="2121408" cy="932688"/>
          </a:xfrm>
          <a:prstGeom prst="rect">
            <a:avLst/>
          </a:prstGeom>
          <a:noFill/>
          <a:ln/>
        </p:spPr>
        <p:txBody>
          <a:bodyPr wrap="square" lIns="0" tIns="0" rIns="0" bIns="0" rtlCol="0" anchor="ctr"/>
          <a:lstStyle/>
          <a:p>
            <a:pPr indent="0" marL="0">
              <a:lnSpc>
                <a:spcPct val="116000"/>
              </a:lnSpc>
              <a:buNone/>
            </a:pPr>
            <a:r>
              <a:rPr lang="en-US" sz="1050" dirty="0">
                <a:solidFill>
                  <a:srgbClr val="3A4859"/>
                </a:solidFill>
                <a:latin typeface="Calibri" pitchFamily="34" charset="0"/>
                <a:ea typeface="Calibri" pitchFamily="34" charset="-122"/>
                <a:cs typeface="Calibri" pitchFamily="34" charset="-120"/>
              </a:rPr>
              <a:t>The model discounts corrupted names (expert-like) and reallocates to dispatcher and control tokens.</a:t>
            </a:r>
            <a:endParaRPr lang="en-US" sz="1050" dirty="0"/>
          </a:p>
        </p:txBody>
      </p:sp>
      <p:sp>
        <p:nvSpPr>
          <p:cNvPr id="17" name="Text 15"/>
          <p:cNvSpPr/>
          <p:nvPr/>
        </p:nvSpPr>
        <p:spPr>
          <a:xfrm>
            <a:off x="3712464" y="3858768"/>
            <a:ext cx="2121408" cy="676656"/>
          </a:xfrm>
          <a:prstGeom prst="rect">
            <a:avLst/>
          </a:prstGeom>
          <a:noFill/>
          <a:ln/>
        </p:spPr>
        <p:txBody>
          <a:bodyPr wrap="square" lIns="0" tIns="0" rIns="0" bIns="0" rtlCol="0" anchor="ctr"/>
          <a:lstStyle/>
          <a:p>
            <a:pPr indent="0" marL="0">
              <a:lnSpc>
                <a:spcPct val="112000"/>
              </a:lnSpc>
              <a:buNone/>
            </a:pPr>
            <a:r>
              <a:rPr lang="en-US" sz="950" b="1" dirty="0">
                <a:solidFill>
                  <a:srgbClr val="2F6383"/>
                </a:solidFill>
                <a:latin typeface="Calibri" pitchFamily="34" charset="0"/>
                <a:ea typeface="Calibri" pitchFamily="34" charset="-122"/>
                <a:cs typeface="Calibri" pitchFamily="34" charset="-120"/>
              </a:rPr>
              <a:t>Predicts  </a:t>
            </a:r>
            <a:pPr indent="0" marL="0">
              <a:lnSpc>
                <a:spcPct val="112000"/>
              </a:lnSpc>
              <a:buNone/>
            </a:pPr>
            <a:r>
              <a:rPr lang="en-US" sz="950" dirty="0">
                <a:solidFill>
                  <a:srgbClr val="3A4859"/>
                </a:solidFill>
                <a:latin typeface="Calibri" pitchFamily="34" charset="0"/>
                <a:ea typeface="Calibri" pitchFamily="34" charset="-122"/>
                <a:cs typeface="Calibri" pitchFamily="34" charset="-120"/>
              </a:rPr>
              <a:t>dispatcher mass ↑ at L3 vs L1b · accuracy ↑ when steering toward structure</a:t>
            </a:r>
            <a:endParaRPr lang="en-US" sz="950" dirty="0"/>
          </a:p>
        </p:txBody>
      </p:sp>
      <p:sp>
        <p:nvSpPr>
          <p:cNvPr id="18" name="Shape 16"/>
          <p:cNvSpPr/>
          <p:nvPr/>
        </p:nvSpPr>
        <p:spPr>
          <a:xfrm>
            <a:off x="6327648" y="1517904"/>
            <a:ext cx="2560320" cy="3127248"/>
          </a:xfrm>
          <a:prstGeom prst="roundRect">
            <a:avLst>
              <a:gd name="adj" fmla="val 1786"/>
            </a:avLst>
          </a:prstGeom>
          <a:solidFill>
            <a:srgbClr val="FAECEA"/>
          </a:solidFill>
          <a:ln w="12700">
            <a:solidFill>
              <a:srgbClr val="333333"/>
            </a:solidFill>
            <a:prstDash val="solid"/>
          </a:ln>
        </p:spPr>
      </p:sp>
      <p:sp>
        <p:nvSpPr>
          <p:cNvPr id="19" name="Shape 17"/>
          <p:cNvSpPr/>
          <p:nvPr/>
        </p:nvSpPr>
        <p:spPr>
          <a:xfrm>
            <a:off x="6547104" y="1737360"/>
            <a:ext cx="566928" cy="384048"/>
          </a:xfrm>
          <a:prstGeom prst="roundRect">
            <a:avLst>
              <a:gd name="adj" fmla="val 19048"/>
            </a:avLst>
          </a:prstGeom>
          <a:solidFill>
            <a:srgbClr val="C9534B"/>
          </a:solidFill>
          <a:ln w="12700">
            <a:solidFill>
              <a:srgbClr val="333333"/>
            </a:solidFill>
            <a:prstDash val="solid"/>
          </a:ln>
        </p:spPr>
      </p:sp>
      <p:sp>
        <p:nvSpPr>
          <p:cNvPr id="20" name="Text 18"/>
          <p:cNvSpPr/>
          <p:nvPr/>
        </p:nvSpPr>
        <p:spPr>
          <a:xfrm>
            <a:off x="6547104" y="1737360"/>
            <a:ext cx="56692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H3</a:t>
            </a:r>
            <a:endParaRPr lang="en-US" sz="1400" dirty="0"/>
          </a:p>
        </p:txBody>
      </p:sp>
      <p:sp>
        <p:nvSpPr>
          <p:cNvPr id="21" name="Text 19"/>
          <p:cNvSpPr/>
          <p:nvPr/>
        </p:nvSpPr>
        <p:spPr>
          <a:xfrm>
            <a:off x="6547104" y="2212848"/>
            <a:ext cx="2121408" cy="310896"/>
          </a:xfrm>
          <a:prstGeom prst="rect">
            <a:avLst/>
          </a:prstGeom>
          <a:noFill/>
          <a:ln/>
        </p:spPr>
        <p:txBody>
          <a:bodyPr wrap="square" lIns="0" tIns="0" rIns="0" bIns="0" rtlCol="0" anchor="ctr"/>
          <a:lstStyle/>
          <a:p>
            <a:pPr indent="0" marL="0">
              <a:buNone/>
            </a:pPr>
            <a:r>
              <a:rPr lang="en-US" sz="1300" b="1" dirty="0">
                <a:solidFill>
                  <a:srgbClr val="16202F"/>
                </a:solidFill>
                <a:latin typeface="Calibri" pitchFamily="34" charset="0"/>
                <a:ea typeface="Calibri" pitchFamily="34" charset="-122"/>
                <a:cs typeface="Calibri" pitchFamily="34" charset="-120"/>
              </a:rPr>
              <a:t>Reduced attention</a:t>
            </a:r>
            <a:endParaRPr lang="en-US" sz="1300" dirty="0"/>
          </a:p>
        </p:txBody>
      </p:sp>
      <p:sp>
        <p:nvSpPr>
          <p:cNvPr id="22" name="Text 20"/>
          <p:cNvSpPr/>
          <p:nvPr/>
        </p:nvSpPr>
        <p:spPr>
          <a:xfrm>
            <a:off x="6547104" y="2542032"/>
            <a:ext cx="2121408" cy="274320"/>
          </a:xfrm>
          <a:prstGeom prst="rect">
            <a:avLst/>
          </a:prstGeom>
          <a:noFill/>
          <a:ln/>
        </p:spPr>
        <p:txBody>
          <a:bodyPr wrap="square" lIns="0" tIns="0" rIns="0" bIns="0" rtlCol="0" anchor="ctr"/>
          <a:lstStyle/>
          <a:p>
            <a:pPr indent="0" marL="0">
              <a:buNone/>
            </a:pPr>
            <a:r>
              <a:rPr lang="en-US" sz="1050" b="1" dirty="0">
                <a:solidFill>
                  <a:srgbClr val="C9534B"/>
                </a:solidFill>
                <a:latin typeface="Courier New" pitchFamily="34" charset="0"/>
                <a:ea typeface="Courier New" pitchFamily="34" charset="-122"/>
                <a:cs typeface="Courier New" pitchFamily="34" charset="-120"/>
              </a:rPr>
              <a:t>↓ both (suppression)</a:t>
            </a:r>
            <a:endParaRPr lang="en-US" sz="1050" dirty="0"/>
          </a:p>
        </p:txBody>
      </p:sp>
      <p:sp>
        <p:nvSpPr>
          <p:cNvPr id="23" name="Text 21"/>
          <p:cNvSpPr/>
          <p:nvPr/>
        </p:nvSpPr>
        <p:spPr>
          <a:xfrm>
            <a:off x="6547104" y="2889504"/>
            <a:ext cx="2121408" cy="932688"/>
          </a:xfrm>
          <a:prstGeom prst="rect">
            <a:avLst/>
          </a:prstGeom>
          <a:noFill/>
          <a:ln/>
        </p:spPr>
        <p:txBody>
          <a:bodyPr wrap="square" lIns="0" tIns="0" rIns="0" bIns="0" rtlCol="0" anchor="ctr"/>
          <a:lstStyle/>
          <a:p>
            <a:pPr indent="0" marL="0">
              <a:lnSpc>
                <a:spcPct val="116000"/>
              </a:lnSpc>
              <a:buNone/>
            </a:pPr>
            <a:r>
              <a:rPr lang="en-US" sz="1050" dirty="0">
                <a:solidFill>
                  <a:srgbClr val="3A4859"/>
                </a:solidFill>
                <a:latin typeface="Calibri" pitchFamily="34" charset="0"/>
                <a:ea typeface="Calibri" pitchFamily="34" charset="-122"/>
                <a:cs typeface="Calibri" pitchFamily="34" charset="-120"/>
              </a:rPr>
              <a:t>Both channels are treated as noise; mass migrates to sinks and delimiters; entropy over code drops.</a:t>
            </a:r>
            <a:endParaRPr lang="en-US" sz="1050" dirty="0"/>
          </a:p>
        </p:txBody>
      </p:sp>
      <p:sp>
        <p:nvSpPr>
          <p:cNvPr id="24" name="Text 22"/>
          <p:cNvSpPr/>
          <p:nvPr/>
        </p:nvSpPr>
        <p:spPr>
          <a:xfrm>
            <a:off x="6547104" y="3858768"/>
            <a:ext cx="2121408" cy="676656"/>
          </a:xfrm>
          <a:prstGeom prst="rect">
            <a:avLst/>
          </a:prstGeom>
          <a:noFill/>
          <a:ln/>
        </p:spPr>
        <p:txBody>
          <a:bodyPr wrap="square" lIns="0" tIns="0" rIns="0" bIns="0" rtlCol="0" anchor="ctr"/>
          <a:lstStyle/>
          <a:p>
            <a:pPr indent="0" marL="0">
              <a:lnSpc>
                <a:spcPct val="112000"/>
              </a:lnSpc>
              <a:buNone/>
            </a:pPr>
            <a:r>
              <a:rPr lang="en-US" sz="950" b="1" dirty="0">
                <a:solidFill>
                  <a:srgbClr val="C9534B"/>
                </a:solidFill>
                <a:latin typeface="Calibri" pitchFamily="34" charset="0"/>
                <a:ea typeface="Calibri" pitchFamily="34" charset="-122"/>
                <a:cs typeface="Calibri" pitchFamily="34" charset="-120"/>
              </a:rPr>
              <a:t>Predicts  </a:t>
            </a:r>
            <a:pPr indent="0" marL="0">
              <a:lnSpc>
                <a:spcPct val="112000"/>
              </a:lnSpc>
              <a:buNone/>
            </a:pPr>
            <a:r>
              <a:rPr lang="en-US" sz="950" dirty="0">
                <a:solidFill>
                  <a:srgbClr val="3A4859"/>
                </a:solidFill>
                <a:latin typeface="Calibri" pitchFamily="34" charset="0"/>
                <a:ea typeface="Calibri" pitchFamily="34" charset="-122"/>
                <a:cs typeface="Calibri" pitchFamily="34" charset="-120"/>
              </a:rPr>
              <a:t>code-token mass ↓, sink mass ↑ · steering either way helps about equally</a:t>
            </a:r>
            <a:endParaRPr lang="en-US" sz="950" dirty="0"/>
          </a:p>
        </p:txBody>
      </p:sp>
      <p:sp>
        <p:nvSpPr>
          <p:cNvPr id="25" name="Shape 23"/>
          <p:cNvSpPr/>
          <p:nvPr/>
        </p:nvSpPr>
        <p:spPr>
          <a:xfrm>
            <a:off x="9162288" y="1517904"/>
            <a:ext cx="2560320" cy="3127248"/>
          </a:xfrm>
          <a:prstGeom prst="roundRect">
            <a:avLst>
              <a:gd name="adj" fmla="val 1786"/>
            </a:avLst>
          </a:prstGeom>
          <a:solidFill>
            <a:srgbClr val="FBF3E4"/>
          </a:solidFill>
          <a:ln w="12700">
            <a:solidFill>
              <a:srgbClr val="333333"/>
            </a:solidFill>
            <a:prstDash val="solid"/>
          </a:ln>
        </p:spPr>
      </p:sp>
      <p:sp>
        <p:nvSpPr>
          <p:cNvPr id="26" name="Shape 24"/>
          <p:cNvSpPr/>
          <p:nvPr/>
        </p:nvSpPr>
        <p:spPr>
          <a:xfrm>
            <a:off x="9381744" y="1737360"/>
            <a:ext cx="566928" cy="384048"/>
          </a:xfrm>
          <a:prstGeom prst="roundRect">
            <a:avLst>
              <a:gd name="adj" fmla="val 19048"/>
            </a:avLst>
          </a:prstGeom>
          <a:solidFill>
            <a:srgbClr val="B5842B"/>
          </a:solidFill>
          <a:ln w="12700">
            <a:solidFill>
              <a:srgbClr val="333333"/>
            </a:solidFill>
            <a:prstDash val="solid"/>
          </a:ln>
        </p:spPr>
      </p:sp>
      <p:sp>
        <p:nvSpPr>
          <p:cNvPr id="27" name="Text 25"/>
          <p:cNvSpPr/>
          <p:nvPr/>
        </p:nvSpPr>
        <p:spPr>
          <a:xfrm>
            <a:off x="9381744" y="1737360"/>
            <a:ext cx="56692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H4</a:t>
            </a:r>
            <a:endParaRPr lang="en-US" sz="1400" dirty="0"/>
          </a:p>
        </p:txBody>
      </p:sp>
      <p:sp>
        <p:nvSpPr>
          <p:cNvPr id="28" name="Text 26"/>
          <p:cNvSpPr/>
          <p:nvPr/>
        </p:nvSpPr>
        <p:spPr>
          <a:xfrm>
            <a:off x="9381744" y="2212848"/>
            <a:ext cx="2121408" cy="310896"/>
          </a:xfrm>
          <a:prstGeom prst="rect">
            <a:avLst/>
          </a:prstGeom>
          <a:noFill/>
          <a:ln/>
        </p:spPr>
        <p:txBody>
          <a:bodyPr wrap="square" lIns="0" tIns="0" rIns="0" bIns="0" rtlCol="0" anchor="ctr"/>
          <a:lstStyle/>
          <a:p>
            <a:pPr indent="0" marL="0">
              <a:buNone/>
            </a:pPr>
            <a:r>
              <a:rPr lang="en-US" sz="1300" b="1" dirty="0">
                <a:solidFill>
                  <a:srgbClr val="16202F"/>
                </a:solidFill>
                <a:latin typeface="Calibri" pitchFamily="34" charset="0"/>
                <a:ea typeface="Calibri" pitchFamily="34" charset="-122"/>
                <a:cs typeface="Calibri" pitchFamily="34" charset="-120"/>
              </a:rPr>
              <a:t>Increased attention</a:t>
            </a:r>
            <a:endParaRPr lang="en-US" sz="1300" dirty="0"/>
          </a:p>
        </p:txBody>
      </p:sp>
      <p:sp>
        <p:nvSpPr>
          <p:cNvPr id="29" name="Text 27"/>
          <p:cNvSpPr/>
          <p:nvPr/>
        </p:nvSpPr>
        <p:spPr>
          <a:xfrm>
            <a:off x="9381744" y="2542032"/>
            <a:ext cx="2121408" cy="274320"/>
          </a:xfrm>
          <a:prstGeom prst="rect">
            <a:avLst/>
          </a:prstGeom>
          <a:noFill/>
          <a:ln/>
        </p:spPr>
        <p:txBody>
          <a:bodyPr wrap="square" lIns="0" tIns="0" rIns="0" bIns="0" rtlCol="0" anchor="ctr"/>
          <a:lstStyle/>
          <a:p>
            <a:pPr indent="0" marL="0">
              <a:buNone/>
            </a:pPr>
            <a:r>
              <a:rPr lang="en-US" sz="1050" b="1" dirty="0">
                <a:solidFill>
                  <a:srgbClr val="B5842B"/>
                </a:solidFill>
                <a:latin typeface="Courier New" pitchFamily="34" charset="0"/>
                <a:ea typeface="Courier New" pitchFamily="34" charset="-122"/>
                <a:cs typeface="Courier New" pitchFamily="34" charset="-120"/>
              </a:rPr>
              <a:t>↑ both (vigilance)</a:t>
            </a:r>
            <a:endParaRPr lang="en-US" sz="1050" dirty="0"/>
          </a:p>
        </p:txBody>
      </p:sp>
      <p:sp>
        <p:nvSpPr>
          <p:cNvPr id="30" name="Text 28"/>
          <p:cNvSpPr/>
          <p:nvPr/>
        </p:nvSpPr>
        <p:spPr>
          <a:xfrm>
            <a:off x="9381744" y="2889504"/>
            <a:ext cx="2121408" cy="932688"/>
          </a:xfrm>
          <a:prstGeom prst="rect">
            <a:avLst/>
          </a:prstGeom>
          <a:noFill/>
          <a:ln/>
        </p:spPr>
        <p:txBody>
          <a:bodyPr wrap="square" lIns="0" tIns="0" rIns="0" bIns="0" rtlCol="0" anchor="ctr"/>
          <a:lstStyle/>
          <a:p>
            <a:pPr indent="0" marL="0">
              <a:lnSpc>
                <a:spcPct val="116000"/>
              </a:lnSpc>
              <a:buNone/>
            </a:pPr>
            <a:r>
              <a:rPr lang="en-US" sz="1050" dirty="0">
                <a:solidFill>
                  <a:srgbClr val="3A4859"/>
                </a:solidFill>
                <a:latin typeface="Calibri" pitchFamily="34" charset="0"/>
                <a:ea typeface="Calibri" pitchFamily="34" charset="-122"/>
                <a:cs typeface="Calibri" pitchFamily="34" charset="-120"/>
              </a:rPr>
              <a:t>Global effort rise: attention spreads across all code tokens and entropy over code rises.</a:t>
            </a:r>
            <a:endParaRPr lang="en-US" sz="1050" dirty="0"/>
          </a:p>
        </p:txBody>
      </p:sp>
      <p:sp>
        <p:nvSpPr>
          <p:cNvPr id="31" name="Text 29"/>
          <p:cNvSpPr/>
          <p:nvPr/>
        </p:nvSpPr>
        <p:spPr>
          <a:xfrm>
            <a:off x="9381744" y="3858768"/>
            <a:ext cx="2121408" cy="676656"/>
          </a:xfrm>
          <a:prstGeom prst="rect">
            <a:avLst/>
          </a:prstGeom>
          <a:noFill/>
          <a:ln/>
        </p:spPr>
        <p:txBody>
          <a:bodyPr wrap="square" lIns="0" tIns="0" rIns="0" bIns="0" rtlCol="0" anchor="ctr"/>
          <a:lstStyle/>
          <a:p>
            <a:pPr indent="0" marL="0">
              <a:lnSpc>
                <a:spcPct val="112000"/>
              </a:lnSpc>
              <a:buNone/>
            </a:pPr>
            <a:r>
              <a:rPr lang="en-US" sz="950" b="1" dirty="0">
                <a:solidFill>
                  <a:srgbClr val="B5842B"/>
                </a:solidFill>
                <a:latin typeface="Calibri" pitchFamily="34" charset="0"/>
                <a:ea typeface="Calibri" pitchFamily="34" charset="-122"/>
                <a:cs typeface="Calibri" pitchFamily="34" charset="-120"/>
              </a:rPr>
              <a:t>Predicts  </a:t>
            </a:r>
            <a:pPr indent="0" marL="0">
              <a:lnSpc>
                <a:spcPct val="112000"/>
              </a:lnSpc>
              <a:buNone/>
            </a:pPr>
            <a:r>
              <a:rPr lang="en-US" sz="950" dirty="0">
                <a:solidFill>
                  <a:srgbClr val="3A4859"/>
                </a:solidFill>
                <a:latin typeface="Calibri" pitchFamily="34" charset="0"/>
                <a:ea typeface="Calibri" pitchFamily="34" charset="-122"/>
                <a:cs typeface="Calibri" pitchFamily="34" charset="-120"/>
              </a:rPr>
              <a:t>entropy ↑, no class-selective shift · steering has weak or no effect</a:t>
            </a:r>
            <a:endParaRPr lang="en-US" sz="950" dirty="0"/>
          </a:p>
        </p:txBody>
      </p:sp>
      <p:sp>
        <p:nvSpPr>
          <p:cNvPr id="32" name="Shape 30"/>
          <p:cNvSpPr/>
          <p:nvPr/>
        </p:nvSpPr>
        <p:spPr>
          <a:xfrm>
            <a:off x="566928" y="4882896"/>
            <a:ext cx="11057839" cy="1051560"/>
          </a:xfrm>
          <a:prstGeom prst="roundRect">
            <a:avLst>
              <a:gd name="adj" fmla="val 5217"/>
            </a:avLst>
          </a:prstGeom>
          <a:solidFill>
            <a:srgbClr val="141B2E"/>
          </a:solidFill>
          <a:ln w="12700">
            <a:solidFill>
              <a:srgbClr val="333333"/>
            </a:solidFill>
            <a:prstDash val="solid"/>
          </a:ln>
        </p:spPr>
      </p:sp>
      <p:sp>
        <p:nvSpPr>
          <p:cNvPr id="33" name="Text 31"/>
          <p:cNvSpPr/>
          <p:nvPr/>
        </p:nvSpPr>
        <p:spPr>
          <a:xfrm>
            <a:off x="841248" y="4974336"/>
            <a:ext cx="10509199" cy="868680"/>
          </a:xfrm>
          <a:prstGeom prst="rect">
            <a:avLst/>
          </a:prstGeom>
          <a:noFill/>
          <a:ln/>
        </p:spPr>
        <p:txBody>
          <a:bodyPr wrap="square" lIns="0" tIns="0" rIns="0" bIns="0" rtlCol="0" anchor="ctr"/>
          <a:lstStyle/>
          <a:p>
            <a:pPr indent="0" marL="0">
              <a:lnSpc>
                <a:spcPct val="118000"/>
              </a:lnSpc>
              <a:buNone/>
            </a:pPr>
            <a:r>
              <a:rPr lang="en-US" sz="1150" b="1" dirty="0">
                <a:solidFill>
                  <a:srgbClr val="6FD3B8"/>
                </a:solidFill>
                <a:latin typeface="Calibri" pitchFamily="34" charset="0"/>
                <a:ea typeface="Calibri" pitchFamily="34" charset="-122"/>
                <a:cs typeface="Calibri" pitchFamily="34" charset="-120"/>
              </a:rPr>
              <a:t>Mutual exclusivity.  </a:t>
            </a:r>
            <a:pPr indent="0" marL="0">
              <a:lnSpc>
                <a:spcPct val="118000"/>
              </a:lnSpc>
              <a:buNone/>
            </a:pPr>
            <a:r>
              <a:rPr lang="en-US" sz="1150" dirty="0">
                <a:solidFill>
                  <a:srgbClr val="DCE6F2"/>
                </a:solidFill>
                <a:latin typeface="Calibri" pitchFamily="34" charset="0"/>
                <a:ea typeface="Calibri" pitchFamily="34" charset="-122"/>
                <a:cs typeface="Calibri" pitchFamily="34" charset="-120"/>
              </a:rPr>
              <a:t>H1 and H2 are selective reallocation; H3 and H4 are the non-selective baselines any selective story must beat.
</a:t>
            </a:r>
            <a:pPr indent="0" marL="0">
              <a:lnSpc>
                <a:spcPct val="118000"/>
              </a:lnSpc>
              <a:buNone/>
            </a:pPr>
            <a:r>
              <a:rPr lang="en-US" sz="1150" b="1" dirty="0">
                <a:solidFill>
                  <a:srgbClr val="6FD3B8"/>
                </a:solidFill>
                <a:latin typeface="Calibri" pitchFamily="34" charset="0"/>
                <a:ea typeface="Calibri" pitchFamily="34" charset="-122"/>
                <a:cs typeface="Calibri" pitchFamily="34" charset="-120"/>
              </a:rPr>
              <a:t>Open question, built into the design.  </a:t>
            </a:r>
            <a:pPr indent="0" marL="0">
              <a:lnSpc>
                <a:spcPct val="118000"/>
              </a:lnSpc>
              <a:buNone/>
            </a:pPr>
            <a:r>
              <a:rPr lang="en-US" sz="1150" dirty="0">
                <a:solidFill>
                  <a:srgbClr val="DCE6F2"/>
                </a:solidFill>
                <a:latin typeface="Calibri" pitchFamily="34" charset="0"/>
                <a:ea typeface="Calibri" pitchFamily="34" charset="-122"/>
                <a:cs typeface="Calibri" pitchFamily="34" charset="-120"/>
              </a:rPr>
              <a:t>Universal or interaction-dependent? We fit the winning hypothesis at every single tier (L1, L1b, L2) as well as at L3.</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E"/>
        </a:solidFill>
      </p:bgPr>
    </p:bg>
    <p:spTree>
      <p:nvGrpSpPr>
        <p:cNvPr id="1" name=""/>
        <p:cNvGrpSpPr/>
        <p:nvPr/>
      </p:nvGrpSpPr>
      <p:grpSpPr>
        <a:xfrm>
          <a:off x="0" y="0"/>
          <a:ext cx="0" cy="0"/>
          <a:chOff x="0" y="0"/>
          <a:chExt cx="0" cy="0"/>
        </a:xfrm>
      </p:grpSpPr>
      <p:sp>
        <p:nvSpPr>
          <p:cNvPr id="2" name="Shape 0"/>
          <p:cNvSpPr/>
          <p:nvPr/>
        </p:nvSpPr>
        <p:spPr>
          <a:xfrm>
            <a:off x="9509760" y="-1737360"/>
            <a:ext cx="4754880" cy="4754880"/>
          </a:xfrm>
          <a:prstGeom prst="ellipse">
            <a:avLst/>
          </a:prstGeom>
          <a:solidFill>
            <a:srgbClr val="1B3A44"/>
          </a:solidFill>
          <a:ln w="12700">
            <a:solidFill>
              <a:srgbClr val="333333"/>
            </a:solidFill>
            <a:prstDash val="solid"/>
          </a:ln>
        </p:spPr>
      </p:sp>
      <p:sp>
        <p:nvSpPr>
          <p:cNvPr id="3" name="Shape 1"/>
          <p:cNvSpPr/>
          <p:nvPr/>
        </p:nvSpPr>
        <p:spPr>
          <a:xfrm>
            <a:off x="9966960" y="4846320"/>
            <a:ext cx="3291840" cy="3291840"/>
          </a:xfrm>
          <a:prstGeom prst="ellipse">
            <a:avLst/>
          </a:prstGeom>
          <a:solidFill>
            <a:srgbClr val="3A2430"/>
          </a:solidFill>
          <a:ln w="12700">
            <a:solidFill>
              <a:srgbClr val="333333"/>
            </a:solidFill>
            <a:prstDash val="solid"/>
          </a:ln>
        </p:spPr>
      </p:sp>
      <p:sp>
        <p:nvSpPr>
          <p:cNvPr id="4" name="Shape 2"/>
          <p:cNvSpPr/>
          <p:nvPr/>
        </p:nvSpPr>
        <p:spPr>
          <a:xfrm>
            <a:off x="566928" y="713232"/>
            <a:ext cx="786384" cy="786384"/>
          </a:xfrm>
          <a:prstGeom prst="ellipse">
            <a:avLst/>
          </a:prstGeom>
          <a:solidFill>
            <a:srgbClr val="1FA184"/>
          </a:solidFill>
          <a:ln w="12700">
            <a:solidFill>
              <a:srgbClr val="333333"/>
            </a:solidFill>
            <a:prstDash val="solid"/>
          </a:ln>
        </p:spPr>
      </p:sp>
      <p:pic>
        <p:nvPicPr>
          <p:cNvPr id="5" name="Image 0" descr="preencoded.png">    </p:cNvPr>
          <p:cNvPicPr>
            <a:picLocks noChangeAspect="1"/>
          </p:cNvPicPr>
          <p:nvPr/>
        </p:nvPicPr>
        <p:blipFill>
          <a:blip r:embed="rId1"/>
          <a:stretch>
            <a:fillRect/>
          </a:stretch>
        </p:blipFill>
        <p:spPr>
          <a:xfrm>
            <a:off x="779252" y="925556"/>
            <a:ext cx="361737" cy="361737"/>
          </a:xfrm>
          <a:prstGeom prst="rect">
            <a:avLst/>
          </a:prstGeom>
        </p:spPr>
      </p:pic>
      <p:sp>
        <p:nvSpPr>
          <p:cNvPr id="6" name="Text 3"/>
          <p:cNvSpPr/>
          <p:nvPr/>
        </p:nvSpPr>
        <p:spPr>
          <a:xfrm>
            <a:off x="1591056" y="905256"/>
            <a:ext cx="7315200" cy="365760"/>
          </a:xfrm>
          <a:prstGeom prst="rect">
            <a:avLst/>
          </a:prstGeom>
          <a:noFill/>
          <a:ln/>
        </p:spPr>
        <p:txBody>
          <a:bodyPr wrap="square" lIns="0" tIns="0" rIns="0" bIns="0" rtlCol="0" anchor="ctr"/>
          <a:lstStyle/>
          <a:p>
            <a:pPr indent="0" marL="0">
              <a:buNone/>
            </a:pPr>
            <a:r>
              <a:rPr lang="en-US" sz="1150" b="1" spc="240" kern="0" dirty="0">
                <a:solidFill>
                  <a:srgbClr val="8FA3BD"/>
                </a:solidFill>
                <a:latin typeface="Calibri" pitchFamily="34" charset="0"/>
                <a:ea typeface="Calibri" pitchFamily="34" charset="-122"/>
                <a:cs typeface="Calibri" pitchFamily="34" charset="-120"/>
              </a:rPr>
              <a:t>PART II  ·  INSTRUMENT 1</a:t>
            </a:r>
            <a:endParaRPr lang="en-US" sz="1150" dirty="0"/>
          </a:p>
        </p:txBody>
      </p:sp>
      <p:sp>
        <p:nvSpPr>
          <p:cNvPr id="7" name="Text 4"/>
          <p:cNvSpPr/>
          <p:nvPr/>
        </p:nvSpPr>
        <p:spPr>
          <a:xfrm>
            <a:off x="566928" y="2148840"/>
            <a:ext cx="9692640" cy="137160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Attention Reallocation</a:t>
            </a:r>
            <a:endParaRPr lang="en-US" sz="4000" dirty="0"/>
          </a:p>
        </p:txBody>
      </p:sp>
      <p:sp>
        <p:nvSpPr>
          <p:cNvPr id="8" name="Text 5"/>
          <p:cNvSpPr/>
          <p:nvPr/>
        </p:nvSpPr>
        <p:spPr>
          <a:xfrm>
            <a:off x="566928" y="3886200"/>
            <a:ext cx="9326880" cy="1005840"/>
          </a:xfrm>
          <a:prstGeom prst="rect">
            <a:avLst/>
          </a:prstGeom>
          <a:noFill/>
          <a:ln/>
        </p:spPr>
        <p:txBody>
          <a:bodyPr wrap="square" lIns="0" tIns="0" rIns="0" bIns="0" rtlCol="0" anchor="ctr"/>
          <a:lstStyle/>
          <a:p>
            <a:pPr indent="0" marL="0">
              <a:lnSpc>
                <a:spcPct val="125000"/>
              </a:lnSpc>
              <a:buNone/>
            </a:pPr>
            <a:r>
              <a:rPr lang="en-US" sz="1500" dirty="0">
                <a:solidFill>
                  <a:srgbClr val="AFC0D4"/>
                </a:solidFill>
                <a:latin typeface="Calibri" pitchFamily="34" charset="0"/>
                <a:ea typeface="Calibri" pitchFamily="34" charset="-122"/>
                <a:cs typeface="Calibri" pitchFamily="34" charset="-120"/>
              </a:rPr>
              <a:t>Where does the finite attention budget go when both the atoms and the structure are under attack? Observation first, then causal intervention.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State of the Art: Attention Mechanisms, 2021–2026</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The tooling needed to test H1–H4 already exists — but nobody has aimed it at obfuscated code.</a:t>
            </a:r>
            <a:endParaRPr lang="en-US" sz="1250" dirty="0"/>
          </a:p>
        </p:txBody>
      </p:sp>
      <p:sp>
        <p:nvSpPr>
          <p:cNvPr id="4" name="Shape 2"/>
          <p:cNvSpPr/>
          <p:nvPr/>
        </p:nvSpPr>
        <p:spPr>
          <a:xfrm>
            <a:off x="566928" y="1481328"/>
            <a:ext cx="3474720" cy="2066544"/>
          </a:xfrm>
          <a:prstGeom prst="roundRect">
            <a:avLst>
              <a:gd name="adj" fmla="val 2212"/>
            </a:avLst>
          </a:prstGeom>
          <a:solidFill>
            <a:srgbClr val="F3F5F8"/>
          </a:solidFill>
          <a:ln w="12700">
            <a:solidFill>
              <a:srgbClr val="333333"/>
            </a:solidFill>
            <a:prstDash val="solid"/>
          </a:ln>
        </p:spPr>
      </p:sp>
      <p:sp>
        <p:nvSpPr>
          <p:cNvPr id="5" name="Shape 3"/>
          <p:cNvSpPr/>
          <p:nvPr/>
        </p:nvSpPr>
        <p:spPr>
          <a:xfrm>
            <a:off x="804672" y="1682496"/>
            <a:ext cx="420624" cy="420624"/>
          </a:xfrm>
          <a:prstGeom prst="ellipse">
            <a:avLst/>
          </a:prstGeom>
          <a:solidFill>
            <a:srgbClr val="2F6383"/>
          </a:solidFill>
          <a:ln w="12700">
            <a:solidFill>
              <a:srgbClr val="333333"/>
            </a:solidFill>
            <a:prstDash val="solid"/>
          </a:ln>
        </p:spPr>
      </p:sp>
      <p:pic>
        <p:nvPicPr>
          <p:cNvPr id="6" name="Image 0" descr="preencoded.png">    </p:cNvPr>
          <p:cNvPicPr>
            <a:picLocks noChangeAspect="1"/>
          </p:cNvPicPr>
          <p:nvPr/>
        </p:nvPicPr>
        <p:blipFill>
          <a:blip r:embed="rId1"/>
          <a:stretch>
            <a:fillRect/>
          </a:stretch>
        </p:blipFill>
        <p:spPr>
          <a:xfrm>
            <a:off x="918240" y="1796064"/>
            <a:ext cx="193487" cy="193487"/>
          </a:xfrm>
          <a:prstGeom prst="rect">
            <a:avLst/>
          </a:prstGeom>
        </p:spPr>
      </p:pic>
      <p:sp>
        <p:nvSpPr>
          <p:cNvPr id="7" name="Text 4"/>
          <p:cNvSpPr/>
          <p:nvPr/>
        </p:nvSpPr>
        <p:spPr>
          <a:xfrm>
            <a:off x="1316736" y="1664208"/>
            <a:ext cx="2505456" cy="457200"/>
          </a:xfrm>
          <a:prstGeom prst="rect">
            <a:avLst/>
          </a:prstGeom>
          <a:noFill/>
          <a:ln/>
        </p:spPr>
        <p:txBody>
          <a:bodyPr wrap="square" lIns="0" tIns="0" rIns="0" bIns="0" rtlCol="0" anchor="ctr"/>
          <a:lstStyle/>
          <a:p>
            <a:pPr indent="0" marL="0">
              <a:lnSpc>
                <a:spcPct val="105000"/>
              </a:lnSpc>
              <a:buNone/>
            </a:pPr>
            <a:r>
              <a:rPr lang="en-US" sz="1200" b="1" dirty="0">
                <a:solidFill>
                  <a:srgbClr val="2F6383"/>
                </a:solidFill>
                <a:latin typeface="Calibri" pitchFamily="34" charset="0"/>
                <a:ea typeface="Calibri" pitchFamily="34" charset="-122"/>
                <a:cs typeface="Calibri" pitchFamily="34" charset="-120"/>
              </a:rPr>
              <a:t>Heads are functionally specialised</a:t>
            </a:r>
            <a:endParaRPr lang="en-US" sz="1200" dirty="0"/>
          </a:p>
        </p:txBody>
      </p:sp>
      <p:sp>
        <p:nvSpPr>
          <p:cNvPr id="8" name="Text 5"/>
          <p:cNvSpPr/>
          <p:nvPr/>
        </p:nvSpPr>
        <p:spPr>
          <a:xfrm>
            <a:off x="804672" y="2194560"/>
            <a:ext cx="2999232" cy="1243584"/>
          </a:xfrm>
          <a:prstGeom prst="rect">
            <a:avLst/>
          </a:prstGeom>
          <a:noFill/>
          <a:ln/>
        </p:spPr>
        <p:txBody>
          <a:bodyPr wrap="square" lIns="0" tIns="0" rIns="0" bIns="0" rtlCol="0" anchor="ctr"/>
          <a:lstStyle/>
          <a:p>
            <a:pPr indent="0" marL="0">
              <a:lnSpc>
                <a:spcPct val="112000"/>
              </a:lnSpc>
              <a:buNone/>
            </a:pPr>
            <a:r>
              <a:rPr lang="en-US" sz="950" dirty="0">
                <a:solidFill>
                  <a:srgbClr val="3A4859"/>
                </a:solidFill>
                <a:latin typeface="Calibri" pitchFamily="34" charset="0"/>
                <a:ea typeface="Calibri" pitchFamily="34" charset="-122"/>
                <a:cs typeface="Calibri" pitchFamily="34" charset="-120"/>
              </a:rPr>
              <a:t>Induction heads implement in-context copying (Elhage ’21); the IOI circuit spans 28 heads in 7 classes (Wang ’23); head-function mapping now runs at whole-model scale (MAPS, ACL ’25).</a:t>
            </a:r>
            <a:endParaRPr lang="en-US" sz="950" dirty="0"/>
          </a:p>
        </p:txBody>
      </p:sp>
      <p:sp>
        <p:nvSpPr>
          <p:cNvPr id="9" name="Shape 6"/>
          <p:cNvSpPr/>
          <p:nvPr/>
        </p:nvSpPr>
        <p:spPr>
          <a:xfrm>
            <a:off x="4352544" y="1481328"/>
            <a:ext cx="3474720" cy="2066544"/>
          </a:xfrm>
          <a:prstGeom prst="roundRect">
            <a:avLst>
              <a:gd name="adj" fmla="val 2212"/>
            </a:avLst>
          </a:prstGeom>
          <a:solidFill>
            <a:srgbClr val="F3F5F8"/>
          </a:solidFill>
          <a:ln w="12700">
            <a:solidFill>
              <a:srgbClr val="333333"/>
            </a:solidFill>
            <a:prstDash val="solid"/>
          </a:ln>
        </p:spPr>
      </p:sp>
      <p:sp>
        <p:nvSpPr>
          <p:cNvPr id="10" name="Shape 7"/>
          <p:cNvSpPr/>
          <p:nvPr/>
        </p:nvSpPr>
        <p:spPr>
          <a:xfrm>
            <a:off x="4590288" y="1682496"/>
            <a:ext cx="420624" cy="420624"/>
          </a:xfrm>
          <a:prstGeom prst="ellipse">
            <a:avLst/>
          </a:prstGeom>
          <a:solidFill>
            <a:srgbClr val="2F6383"/>
          </a:solidFill>
          <a:ln w="12700">
            <a:solidFill>
              <a:srgbClr val="333333"/>
            </a:solidFill>
            <a:prstDash val="solid"/>
          </a:ln>
        </p:spPr>
      </p:sp>
      <p:pic>
        <p:nvPicPr>
          <p:cNvPr id="11" name="Image 1" descr="preencoded.png">    </p:cNvPr>
          <p:cNvPicPr>
            <a:picLocks noChangeAspect="1"/>
          </p:cNvPicPr>
          <p:nvPr/>
        </p:nvPicPr>
        <p:blipFill>
          <a:blip r:embed="rId2"/>
          <a:stretch>
            <a:fillRect/>
          </a:stretch>
        </p:blipFill>
        <p:spPr>
          <a:xfrm>
            <a:off x="4703856" y="1796064"/>
            <a:ext cx="193487" cy="193487"/>
          </a:xfrm>
          <a:prstGeom prst="rect">
            <a:avLst/>
          </a:prstGeom>
        </p:spPr>
      </p:pic>
      <p:sp>
        <p:nvSpPr>
          <p:cNvPr id="12" name="Text 8"/>
          <p:cNvSpPr/>
          <p:nvPr/>
        </p:nvSpPr>
        <p:spPr>
          <a:xfrm>
            <a:off x="5102352" y="1664208"/>
            <a:ext cx="2505456" cy="457200"/>
          </a:xfrm>
          <a:prstGeom prst="rect">
            <a:avLst/>
          </a:prstGeom>
          <a:noFill/>
          <a:ln/>
        </p:spPr>
        <p:txBody>
          <a:bodyPr wrap="square" lIns="0" tIns="0" rIns="0" bIns="0" rtlCol="0" anchor="ctr"/>
          <a:lstStyle/>
          <a:p>
            <a:pPr indent="0" marL="0">
              <a:lnSpc>
                <a:spcPct val="105000"/>
              </a:lnSpc>
              <a:buNone/>
            </a:pPr>
            <a:r>
              <a:rPr lang="en-US" sz="1200" b="1" dirty="0">
                <a:solidFill>
                  <a:srgbClr val="2F6383"/>
                </a:solidFill>
                <a:latin typeface="Calibri" pitchFamily="34" charset="0"/>
                <a:ea typeface="Calibri" pitchFamily="34" charset="-122"/>
                <a:cs typeface="Calibri" pitchFamily="34" charset="-120"/>
              </a:rPr>
              <a:t>Code-LM attention is analysable</a:t>
            </a:r>
            <a:endParaRPr lang="en-US" sz="1200" dirty="0"/>
          </a:p>
        </p:txBody>
      </p:sp>
      <p:sp>
        <p:nvSpPr>
          <p:cNvPr id="13" name="Text 9"/>
          <p:cNvSpPr/>
          <p:nvPr/>
        </p:nvSpPr>
        <p:spPr>
          <a:xfrm>
            <a:off x="4590288" y="2194560"/>
            <a:ext cx="2999232" cy="1243584"/>
          </a:xfrm>
          <a:prstGeom prst="rect">
            <a:avLst/>
          </a:prstGeom>
          <a:noFill/>
          <a:ln/>
        </p:spPr>
        <p:txBody>
          <a:bodyPr wrap="square" lIns="0" tIns="0" rIns="0" bIns="0" rtlCol="0" anchor="ctr"/>
          <a:lstStyle/>
          <a:p>
            <a:pPr indent="0" marL="0">
              <a:lnSpc>
                <a:spcPct val="112000"/>
              </a:lnSpc>
              <a:buNone/>
            </a:pPr>
            <a:r>
              <a:rPr lang="en-US" sz="950" dirty="0">
                <a:solidFill>
                  <a:srgbClr val="3A4859"/>
                </a:solidFill>
                <a:latin typeface="Calibri" pitchFamily="34" charset="0"/>
                <a:ea typeface="Calibri" pitchFamily="34" charset="-122"/>
                <a:cs typeface="Calibri" pitchFamily="34" charset="-120"/>
              </a:rPr>
              <a:t>Multi-head attention is the critical sub-layer for syntactic code tasks, with individual heads tracking counts (CodeLlama parenthesis circuit ’25); AP-MAE automates attention-pattern discovery via ASTs (’26).</a:t>
            </a:r>
            <a:endParaRPr lang="en-US" sz="950" dirty="0"/>
          </a:p>
        </p:txBody>
      </p:sp>
      <p:sp>
        <p:nvSpPr>
          <p:cNvPr id="14" name="Shape 10"/>
          <p:cNvSpPr/>
          <p:nvPr/>
        </p:nvSpPr>
        <p:spPr>
          <a:xfrm>
            <a:off x="8138160" y="1481328"/>
            <a:ext cx="3474720" cy="2066544"/>
          </a:xfrm>
          <a:prstGeom prst="roundRect">
            <a:avLst>
              <a:gd name="adj" fmla="val 2212"/>
            </a:avLst>
          </a:prstGeom>
          <a:solidFill>
            <a:srgbClr val="E9F5F1"/>
          </a:solidFill>
          <a:ln w="12700">
            <a:solidFill>
              <a:srgbClr val="333333"/>
            </a:solidFill>
            <a:prstDash val="solid"/>
          </a:ln>
        </p:spPr>
      </p:sp>
      <p:sp>
        <p:nvSpPr>
          <p:cNvPr id="15" name="Shape 11"/>
          <p:cNvSpPr/>
          <p:nvPr/>
        </p:nvSpPr>
        <p:spPr>
          <a:xfrm>
            <a:off x="8375904" y="1682496"/>
            <a:ext cx="420624" cy="420624"/>
          </a:xfrm>
          <a:prstGeom prst="ellipse">
            <a:avLst/>
          </a:prstGeom>
          <a:solidFill>
            <a:srgbClr val="1FA184"/>
          </a:solidFill>
          <a:ln w="12700">
            <a:solidFill>
              <a:srgbClr val="333333"/>
            </a:solidFill>
            <a:prstDash val="solid"/>
          </a:ln>
        </p:spPr>
      </p:sp>
      <p:pic>
        <p:nvPicPr>
          <p:cNvPr id="16" name="Image 2" descr="preencoded.png">    </p:cNvPr>
          <p:cNvPicPr>
            <a:picLocks noChangeAspect="1"/>
          </p:cNvPicPr>
          <p:nvPr/>
        </p:nvPicPr>
        <p:blipFill>
          <a:blip r:embed="rId3"/>
          <a:stretch>
            <a:fillRect/>
          </a:stretch>
        </p:blipFill>
        <p:spPr>
          <a:xfrm>
            <a:off x="8489472" y="1796064"/>
            <a:ext cx="193487" cy="193487"/>
          </a:xfrm>
          <a:prstGeom prst="rect">
            <a:avLst/>
          </a:prstGeom>
        </p:spPr>
      </p:pic>
      <p:sp>
        <p:nvSpPr>
          <p:cNvPr id="17" name="Text 12"/>
          <p:cNvSpPr/>
          <p:nvPr/>
        </p:nvSpPr>
        <p:spPr>
          <a:xfrm>
            <a:off x="8887968" y="1664208"/>
            <a:ext cx="2505456" cy="457200"/>
          </a:xfrm>
          <a:prstGeom prst="rect">
            <a:avLst/>
          </a:prstGeom>
          <a:noFill/>
          <a:ln/>
        </p:spPr>
        <p:txBody>
          <a:bodyPr wrap="square" lIns="0" tIns="0" rIns="0" bIns="0" rtlCol="0" anchor="ctr"/>
          <a:lstStyle/>
          <a:p>
            <a:pPr indent="0" marL="0">
              <a:lnSpc>
                <a:spcPct val="105000"/>
              </a:lnSpc>
              <a:buNone/>
            </a:pPr>
            <a:r>
              <a:rPr lang="en-US" sz="1200" b="1" dirty="0">
                <a:solidFill>
                  <a:srgbClr val="1FA184"/>
                </a:solidFill>
                <a:latin typeface="Calibri" pitchFamily="34" charset="0"/>
                <a:ea typeface="Calibri" pitchFamily="34" charset="-122"/>
                <a:cs typeface="Calibri" pitchFamily="34" charset="-120"/>
              </a:rPr>
              <a:t>Attention is causally steerable</a:t>
            </a:r>
            <a:endParaRPr lang="en-US" sz="1200" dirty="0"/>
          </a:p>
        </p:txBody>
      </p:sp>
      <p:sp>
        <p:nvSpPr>
          <p:cNvPr id="18" name="Text 13"/>
          <p:cNvSpPr/>
          <p:nvPr/>
        </p:nvSpPr>
        <p:spPr>
          <a:xfrm>
            <a:off x="8375904" y="2194560"/>
            <a:ext cx="2999232" cy="1243584"/>
          </a:xfrm>
          <a:prstGeom prst="rect">
            <a:avLst/>
          </a:prstGeom>
          <a:noFill/>
          <a:ln/>
        </p:spPr>
        <p:txBody>
          <a:bodyPr wrap="square" lIns="0" tIns="0" rIns="0" bIns="0" rtlCol="0" anchor="ctr"/>
          <a:lstStyle/>
          <a:p>
            <a:pPr indent="0" marL="0">
              <a:lnSpc>
                <a:spcPct val="112000"/>
              </a:lnSpc>
              <a:buNone/>
            </a:pPr>
            <a:r>
              <a:rPr lang="en-US" sz="950" dirty="0">
                <a:solidFill>
                  <a:srgbClr val="3A4859"/>
                </a:solidFill>
                <a:latin typeface="Calibri" pitchFamily="34" charset="0"/>
                <a:ea typeface="Calibri" pitchFamily="34" charset="-122"/>
                <a:cs typeface="Calibri" pitchFamily="34" charset="-120"/>
              </a:rPr>
              <a:t>PASTA reweights a small head subset at inference for +22% average accuracy on LLaMA-7B (Zhang ’24); AttnReal shifts mass off hallucination-prone tokens at near-zero cost (’25). Our Phase-2 lever.</a:t>
            </a:r>
            <a:endParaRPr lang="en-US" sz="950" dirty="0"/>
          </a:p>
        </p:txBody>
      </p:sp>
      <p:sp>
        <p:nvSpPr>
          <p:cNvPr id="19" name="Shape 14"/>
          <p:cNvSpPr/>
          <p:nvPr/>
        </p:nvSpPr>
        <p:spPr>
          <a:xfrm>
            <a:off x="566928" y="3730752"/>
            <a:ext cx="3474720" cy="2066544"/>
          </a:xfrm>
          <a:prstGeom prst="roundRect">
            <a:avLst>
              <a:gd name="adj" fmla="val 2212"/>
            </a:avLst>
          </a:prstGeom>
          <a:solidFill>
            <a:srgbClr val="E9F5F1"/>
          </a:solidFill>
          <a:ln w="12700">
            <a:solidFill>
              <a:srgbClr val="333333"/>
            </a:solidFill>
            <a:prstDash val="solid"/>
          </a:ln>
        </p:spPr>
      </p:sp>
      <p:sp>
        <p:nvSpPr>
          <p:cNvPr id="20" name="Shape 15"/>
          <p:cNvSpPr/>
          <p:nvPr/>
        </p:nvSpPr>
        <p:spPr>
          <a:xfrm>
            <a:off x="804672" y="3931920"/>
            <a:ext cx="420624" cy="420624"/>
          </a:xfrm>
          <a:prstGeom prst="ellipse">
            <a:avLst/>
          </a:prstGeom>
          <a:solidFill>
            <a:srgbClr val="1FA184"/>
          </a:solidFill>
          <a:ln w="12700">
            <a:solidFill>
              <a:srgbClr val="333333"/>
            </a:solidFill>
            <a:prstDash val="solid"/>
          </a:ln>
        </p:spPr>
      </p:sp>
      <p:pic>
        <p:nvPicPr>
          <p:cNvPr id="21" name="Image 3" descr="preencoded.png">    </p:cNvPr>
          <p:cNvPicPr>
            <a:picLocks noChangeAspect="1"/>
          </p:cNvPicPr>
          <p:nvPr/>
        </p:nvPicPr>
        <p:blipFill>
          <a:blip r:embed="rId4"/>
          <a:stretch>
            <a:fillRect/>
          </a:stretch>
        </p:blipFill>
        <p:spPr>
          <a:xfrm>
            <a:off x="918240" y="4045488"/>
            <a:ext cx="193487" cy="193487"/>
          </a:xfrm>
          <a:prstGeom prst="rect">
            <a:avLst/>
          </a:prstGeom>
        </p:spPr>
      </p:pic>
      <p:sp>
        <p:nvSpPr>
          <p:cNvPr id="22" name="Text 16"/>
          <p:cNvSpPr/>
          <p:nvPr/>
        </p:nvSpPr>
        <p:spPr>
          <a:xfrm>
            <a:off x="1316736" y="3913632"/>
            <a:ext cx="2505456" cy="457200"/>
          </a:xfrm>
          <a:prstGeom prst="rect">
            <a:avLst/>
          </a:prstGeom>
          <a:noFill/>
          <a:ln/>
        </p:spPr>
        <p:txBody>
          <a:bodyPr wrap="square" lIns="0" tIns="0" rIns="0" bIns="0" rtlCol="0" anchor="ctr"/>
          <a:lstStyle/>
          <a:p>
            <a:pPr indent="0" marL="0">
              <a:lnSpc>
                <a:spcPct val="105000"/>
              </a:lnSpc>
              <a:buNone/>
            </a:pPr>
            <a:r>
              <a:rPr lang="en-US" sz="1200" b="1" dirty="0">
                <a:solidFill>
                  <a:srgbClr val="1FA184"/>
                </a:solidFill>
                <a:latin typeface="Calibri" pitchFamily="34" charset="0"/>
                <a:ea typeface="Calibri" pitchFamily="34" charset="-122"/>
                <a:cs typeface="Calibri" pitchFamily="34" charset="-120"/>
              </a:rPr>
              <a:t>Attention dispersion tracks failure</a:t>
            </a:r>
            <a:endParaRPr lang="en-US" sz="1200" dirty="0"/>
          </a:p>
        </p:txBody>
      </p:sp>
      <p:sp>
        <p:nvSpPr>
          <p:cNvPr id="23" name="Text 17"/>
          <p:cNvSpPr/>
          <p:nvPr/>
        </p:nvSpPr>
        <p:spPr>
          <a:xfrm>
            <a:off x="804672" y="4443984"/>
            <a:ext cx="2999232" cy="1243584"/>
          </a:xfrm>
          <a:prstGeom prst="rect">
            <a:avLst/>
          </a:prstGeom>
          <a:noFill/>
          <a:ln/>
        </p:spPr>
        <p:txBody>
          <a:bodyPr wrap="square" lIns="0" tIns="0" rIns="0" bIns="0" rtlCol="0" anchor="ctr"/>
          <a:lstStyle/>
          <a:p>
            <a:pPr indent="0" marL="0">
              <a:lnSpc>
                <a:spcPct val="112000"/>
              </a:lnSpc>
              <a:buNone/>
            </a:pPr>
            <a:r>
              <a:rPr lang="en-US" sz="950" dirty="0">
                <a:solidFill>
                  <a:srgbClr val="3A4859"/>
                </a:solidFill>
                <a:latin typeface="Calibri" pitchFamily="34" charset="0"/>
                <a:ea typeface="Calibri" pitchFamily="34" charset="-122"/>
                <a:cs typeface="Calibri" pitchFamily="34" charset="-120"/>
              </a:rPr>
              <a:t>Under distribution shift, key signals are present but under-attended; differential attention sharpens allocation, lowers entropy, and restores accuracy (’25–’26) — direct precedent for the H3/H4 entropy signatures.</a:t>
            </a:r>
            <a:endParaRPr lang="en-US" sz="950" dirty="0"/>
          </a:p>
        </p:txBody>
      </p:sp>
      <p:sp>
        <p:nvSpPr>
          <p:cNvPr id="24" name="Shape 18"/>
          <p:cNvSpPr/>
          <p:nvPr/>
        </p:nvSpPr>
        <p:spPr>
          <a:xfrm>
            <a:off x="4352544" y="3730752"/>
            <a:ext cx="3474720" cy="2066544"/>
          </a:xfrm>
          <a:prstGeom prst="roundRect">
            <a:avLst>
              <a:gd name="adj" fmla="val 2212"/>
            </a:avLst>
          </a:prstGeom>
          <a:solidFill>
            <a:srgbClr val="F3F5F8"/>
          </a:solidFill>
          <a:ln w="12700">
            <a:solidFill>
              <a:srgbClr val="333333"/>
            </a:solidFill>
            <a:prstDash val="solid"/>
          </a:ln>
        </p:spPr>
      </p:sp>
      <p:sp>
        <p:nvSpPr>
          <p:cNvPr id="25" name="Shape 19"/>
          <p:cNvSpPr/>
          <p:nvPr/>
        </p:nvSpPr>
        <p:spPr>
          <a:xfrm>
            <a:off x="4590288" y="3931920"/>
            <a:ext cx="420624" cy="420624"/>
          </a:xfrm>
          <a:prstGeom prst="ellipse">
            <a:avLst/>
          </a:prstGeom>
          <a:solidFill>
            <a:srgbClr val="2F6383"/>
          </a:solidFill>
          <a:ln w="12700">
            <a:solidFill>
              <a:srgbClr val="333333"/>
            </a:solidFill>
            <a:prstDash val="solid"/>
          </a:ln>
        </p:spPr>
      </p:sp>
      <p:pic>
        <p:nvPicPr>
          <p:cNvPr id="26" name="Image 4" descr="preencoded.png">    </p:cNvPr>
          <p:cNvPicPr>
            <a:picLocks noChangeAspect="1"/>
          </p:cNvPicPr>
          <p:nvPr/>
        </p:nvPicPr>
        <p:blipFill>
          <a:blip r:embed="rId5"/>
          <a:stretch>
            <a:fillRect/>
          </a:stretch>
        </p:blipFill>
        <p:spPr>
          <a:xfrm>
            <a:off x="4703856" y="4045488"/>
            <a:ext cx="193487" cy="193487"/>
          </a:xfrm>
          <a:prstGeom prst="rect">
            <a:avLst/>
          </a:prstGeom>
        </p:spPr>
      </p:pic>
      <p:sp>
        <p:nvSpPr>
          <p:cNvPr id="27" name="Text 20"/>
          <p:cNvSpPr/>
          <p:nvPr/>
        </p:nvSpPr>
        <p:spPr>
          <a:xfrm>
            <a:off x="5102352" y="3913632"/>
            <a:ext cx="2505456" cy="457200"/>
          </a:xfrm>
          <a:prstGeom prst="rect">
            <a:avLst/>
          </a:prstGeom>
          <a:noFill/>
          <a:ln/>
        </p:spPr>
        <p:txBody>
          <a:bodyPr wrap="square" lIns="0" tIns="0" rIns="0" bIns="0" rtlCol="0" anchor="ctr"/>
          <a:lstStyle/>
          <a:p>
            <a:pPr indent="0" marL="0">
              <a:lnSpc>
                <a:spcPct val="105000"/>
              </a:lnSpc>
              <a:buNone/>
            </a:pPr>
            <a:r>
              <a:rPr lang="en-US" sz="1200" b="1" dirty="0">
                <a:solidFill>
                  <a:srgbClr val="2F6383"/>
                </a:solidFill>
                <a:latin typeface="Calibri" pitchFamily="34" charset="0"/>
                <a:ea typeface="Calibri" pitchFamily="34" charset="-122"/>
                <a:cs typeface="Calibri" pitchFamily="34" charset="-120"/>
              </a:rPr>
              <a:t>Human–model attention comparison exists…</a:t>
            </a:r>
            <a:endParaRPr lang="en-US" sz="1200" dirty="0"/>
          </a:p>
        </p:txBody>
      </p:sp>
      <p:sp>
        <p:nvSpPr>
          <p:cNvPr id="28" name="Text 21"/>
          <p:cNvSpPr/>
          <p:nvPr/>
        </p:nvSpPr>
        <p:spPr>
          <a:xfrm>
            <a:off x="4590288" y="4443984"/>
            <a:ext cx="2999232" cy="1243584"/>
          </a:xfrm>
          <a:prstGeom prst="rect">
            <a:avLst/>
          </a:prstGeom>
          <a:noFill/>
          <a:ln/>
        </p:spPr>
        <p:txBody>
          <a:bodyPr wrap="square" lIns="0" tIns="0" rIns="0" bIns="0" rtlCol="0" anchor="ctr"/>
          <a:lstStyle/>
          <a:p>
            <a:pPr indent="0" marL="0">
              <a:lnSpc>
                <a:spcPct val="112000"/>
              </a:lnSpc>
              <a:buNone/>
            </a:pPr>
            <a:r>
              <a:rPr lang="en-US" sz="950" dirty="0">
                <a:solidFill>
                  <a:srgbClr val="3A4859"/>
                </a:solidFill>
                <a:latin typeface="Calibri" pitchFamily="34" charset="0"/>
                <a:ea typeface="Calibri" pitchFamily="34" charset="-122"/>
                <a:cs typeface="Calibri" pitchFamily="34" charset="-120"/>
              </a:rPr>
              <a:t>Eye-tracking versus model attention has been studied for code summarisation (Paltenghi &amp; Pradel ’21; EyeTrans ’24; programmer-attention training ’25) — but only on clean code, never under obfuscation, never against a hypothesis space.</a:t>
            </a:r>
            <a:endParaRPr lang="en-US" sz="950" dirty="0"/>
          </a:p>
        </p:txBody>
      </p:sp>
      <p:sp>
        <p:nvSpPr>
          <p:cNvPr id="29" name="Shape 22"/>
          <p:cNvSpPr/>
          <p:nvPr/>
        </p:nvSpPr>
        <p:spPr>
          <a:xfrm>
            <a:off x="8138160" y="3730752"/>
            <a:ext cx="3474720" cy="2066544"/>
          </a:xfrm>
          <a:prstGeom prst="roundRect">
            <a:avLst>
              <a:gd name="adj" fmla="val 2212"/>
            </a:avLst>
          </a:prstGeom>
          <a:solidFill>
            <a:srgbClr val="FAECEA"/>
          </a:solidFill>
          <a:ln w="12700">
            <a:solidFill>
              <a:srgbClr val="333333"/>
            </a:solidFill>
            <a:prstDash val="solid"/>
          </a:ln>
        </p:spPr>
      </p:sp>
      <p:sp>
        <p:nvSpPr>
          <p:cNvPr id="30" name="Shape 23"/>
          <p:cNvSpPr/>
          <p:nvPr/>
        </p:nvSpPr>
        <p:spPr>
          <a:xfrm>
            <a:off x="8375904" y="3931920"/>
            <a:ext cx="420624" cy="420624"/>
          </a:xfrm>
          <a:prstGeom prst="ellipse">
            <a:avLst/>
          </a:prstGeom>
          <a:solidFill>
            <a:srgbClr val="C9534B"/>
          </a:solidFill>
          <a:ln w="12700">
            <a:solidFill>
              <a:srgbClr val="333333"/>
            </a:solidFill>
            <a:prstDash val="solid"/>
          </a:ln>
        </p:spPr>
      </p:sp>
      <p:pic>
        <p:nvPicPr>
          <p:cNvPr id="31" name="Image 5" descr="preencoded.png">    </p:cNvPr>
          <p:cNvPicPr>
            <a:picLocks noChangeAspect="1"/>
          </p:cNvPicPr>
          <p:nvPr/>
        </p:nvPicPr>
        <p:blipFill>
          <a:blip r:embed="rId6"/>
          <a:stretch>
            <a:fillRect/>
          </a:stretch>
        </p:blipFill>
        <p:spPr>
          <a:xfrm>
            <a:off x="8489472" y="4045488"/>
            <a:ext cx="193487" cy="193487"/>
          </a:xfrm>
          <a:prstGeom prst="rect">
            <a:avLst/>
          </a:prstGeom>
        </p:spPr>
      </p:pic>
      <p:sp>
        <p:nvSpPr>
          <p:cNvPr id="32" name="Text 24"/>
          <p:cNvSpPr/>
          <p:nvPr/>
        </p:nvSpPr>
        <p:spPr>
          <a:xfrm>
            <a:off x="8887968" y="3913632"/>
            <a:ext cx="2505456" cy="457200"/>
          </a:xfrm>
          <a:prstGeom prst="rect">
            <a:avLst/>
          </a:prstGeom>
          <a:noFill/>
          <a:ln/>
        </p:spPr>
        <p:txBody>
          <a:bodyPr wrap="square" lIns="0" tIns="0" rIns="0" bIns="0" rtlCol="0" anchor="ctr"/>
          <a:lstStyle/>
          <a:p>
            <a:pPr indent="0" marL="0">
              <a:lnSpc>
                <a:spcPct val="105000"/>
              </a:lnSpc>
              <a:buNone/>
            </a:pPr>
            <a:r>
              <a:rPr lang="en-US" sz="1200" b="1" dirty="0">
                <a:solidFill>
                  <a:srgbClr val="C9534B"/>
                </a:solidFill>
                <a:latin typeface="Calibri" pitchFamily="34" charset="0"/>
                <a:ea typeface="Calibri" pitchFamily="34" charset="-122"/>
                <a:cs typeface="Calibri" pitchFamily="34" charset="-120"/>
              </a:rPr>
              <a:t>…and obfuscation evals stay behavioural</a:t>
            </a:r>
            <a:endParaRPr lang="en-US" sz="1200" dirty="0"/>
          </a:p>
        </p:txBody>
      </p:sp>
      <p:sp>
        <p:nvSpPr>
          <p:cNvPr id="33" name="Text 25"/>
          <p:cNvSpPr/>
          <p:nvPr/>
        </p:nvSpPr>
        <p:spPr>
          <a:xfrm>
            <a:off x="8375904" y="4443984"/>
            <a:ext cx="2999232" cy="1243584"/>
          </a:xfrm>
          <a:prstGeom prst="rect">
            <a:avLst/>
          </a:prstGeom>
          <a:noFill/>
          <a:ln/>
        </p:spPr>
        <p:txBody>
          <a:bodyPr wrap="square" lIns="0" tIns="0" rIns="0" bIns="0" rtlCol="0" anchor="ctr"/>
          <a:lstStyle/>
          <a:p>
            <a:pPr indent="0" marL="0">
              <a:lnSpc>
                <a:spcPct val="112000"/>
              </a:lnSpc>
              <a:buNone/>
            </a:pPr>
            <a:r>
              <a:rPr lang="en-US" sz="950" dirty="0">
                <a:solidFill>
                  <a:srgbClr val="3A4859"/>
                </a:solidFill>
                <a:latin typeface="Calibri" pitchFamily="34" charset="0"/>
                <a:ea typeface="Calibri" pitchFamily="34" charset="-122"/>
                <a:cs typeface="Calibri" pitchFamily="34" charset="-120"/>
              </a:rPr>
              <a:t>LLM deobfuscation studies report accuracy only (AAAI ’24; Code Barrier ’25; assembly-deobfuscation ’25). Layered transforms are hardest (20–40% correct) — yet no study opens the attention black box. That is the niche.</a:t>
            </a:r>
            <a:endParaRPr lang="en-US" sz="950" dirty="0"/>
          </a:p>
        </p:txBody>
      </p:sp>
      <p:sp>
        <p:nvSpPr>
          <p:cNvPr id="34" name="Text 26"/>
          <p:cNvSpPr/>
          <p:nvPr/>
        </p:nvSpPr>
        <p:spPr>
          <a:xfrm>
            <a:off x="566928" y="5888736"/>
            <a:ext cx="11064240" cy="310896"/>
          </a:xfrm>
          <a:prstGeom prst="rect">
            <a:avLst/>
          </a:prstGeom>
          <a:noFill/>
          <a:ln/>
        </p:spPr>
        <p:txBody>
          <a:bodyPr wrap="square" lIns="0" tIns="0" rIns="0" bIns="0" rtlCol="0" anchor="ctr"/>
          <a:lstStyle/>
          <a:p>
            <a:pPr indent="0" marL="0">
              <a:buNone/>
            </a:pPr>
            <a:r>
              <a:rPr lang="en-US" sz="1100" i="1" dirty="0">
                <a:solidFill>
                  <a:srgbClr val="68788B"/>
                </a:solidFill>
                <a:latin typeface="Calibri" pitchFamily="34" charset="0"/>
                <a:ea typeface="Calibri" pitchFamily="34" charset="-122"/>
                <a:cs typeface="Calibri" pitchFamily="34" charset="-120"/>
              </a:rPr>
              <a:t>Our contribution sits exactly where the last two cards meet: a hypothesis-driven attention analysis of adversarially obfuscated code, validated against human data.</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Operationalising the Attention Budget on the Block Model</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A token-class partition turns Block-Model cells into measurable attention quantities — every measure ties back to a level and a hypothesis.</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7839" cy="914400"/>
        </p:xfrm>
        <a:graphic>
          <a:graphicData uri="http://schemas.openxmlformats.org/drawingml/2006/table">
            <a:tbl>
              <a:tblPr/>
              <a:tblGrid>
                <a:gridCol w="1737360"/>
                <a:gridCol w="4023360"/>
                <a:gridCol w="3566160"/>
                <a:gridCol w="1728216"/>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Block level</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Token class (automatic, AST-based)</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Attention measure</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Discriminates</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r>
              <a:tr h="0">
                <a:tc>
                  <a:txBody>
                    <a:bodyPr/>
                    <a:lstStyle/>
                    <a:p>
                      <a:pPr indent="0" marL="0">
                        <a:buNone/>
                      </a:pPr>
                      <a:r>
                        <a:rPr lang="en-US" sz="1000" b="1" dirty="0">
                          <a:solidFill>
                            <a:srgbClr val="16202F"/>
                          </a:solidFill>
                          <a:latin typeface="Calibri" pitchFamily="34" charset="0"/>
                          <a:ea typeface="Calibri" pitchFamily="34" charset="-122"/>
                          <a:cs typeface="Calibri" pitchFamily="34" charset="-120"/>
                        </a:rPr>
                        <a:t>Atoms</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Identifier tokens, including adversarially renamed ones, aligned across tiers</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ourier New" pitchFamily="34" charset="0"/>
                          <a:ea typeface="Courier New" pitchFamily="34" charset="-122"/>
                          <a:cs typeface="Courier New" pitchFamily="34" charset="-120"/>
                        </a:rPr>
                        <a:t>Identifier mass share</a:t>
                      </a:r>
                      <a:endParaRPr lang="en-US" sz="900" dirty="0">
                        <a:latin typeface="Courier New" charset="0"/>
                        <a:ea typeface="Courier New" charset="0"/>
                        <a:cs typeface="Courier New" charset="0"/>
                      </a:endParaRPr>
                    </a:p>
                    <a:p>
                      <a:pPr indent="0" marL="0">
                        <a:buNone/>
                      </a:pPr>
                      <a:r>
                        <a:rPr lang="en-US" sz="900" dirty="0">
                          <a:solidFill>
                            <a:srgbClr val="16202F"/>
                          </a:solidFill>
                          <a:latin typeface="Courier New" pitchFamily="34" charset="0"/>
                          <a:ea typeface="Courier New" pitchFamily="34" charset="-122"/>
                          <a:cs typeface="Courier New" pitchFamily="34" charset="-120"/>
                        </a:rPr>
                        <a:t>A_id = Σ attn(·→id) / Σ attn(·→code)</a:t>
                      </a:r>
                      <a:endParaRPr lang="en-US" sz="900" dirty="0">
                        <a:latin typeface="Courier New" charset="0"/>
                        <a:ea typeface="Courier New" charset="0"/>
                        <a:cs typeface="Courier New"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FA184"/>
                          </a:solidFill>
                          <a:latin typeface="Calibri" pitchFamily="34" charset="0"/>
                          <a:ea typeface="Calibri" pitchFamily="34" charset="-122"/>
                          <a:cs typeface="Calibri" pitchFamily="34" charset="-120"/>
                        </a:rPr>
                        <a:t>H1 vs H2</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16202F"/>
                          </a:solidFill>
                          <a:latin typeface="Calibri" pitchFamily="34" charset="0"/>
                          <a:ea typeface="Calibri" pitchFamily="34" charset="-122"/>
                          <a:cs typeface="Calibri" pitchFamily="34" charset="-120"/>
                        </a:rPr>
                        <a:t>Blocks / Relations</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Dispatcher tokens: while-if state variables (Python), object-dispatch helpers and call sites (JavaScript) — the constructs Paper 2 counted</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ourier New" pitchFamily="34" charset="0"/>
                          <a:ea typeface="Courier New" pitchFamily="34" charset="-122"/>
                          <a:cs typeface="Courier New" pitchFamily="34" charset="-120"/>
                        </a:rPr>
                        <a:t>Structure mass share A_struct;</a:t>
                      </a:r>
                      <a:endParaRPr lang="en-US" sz="900" dirty="0">
                        <a:latin typeface="Courier New" charset="0"/>
                        <a:ea typeface="Courier New" charset="0"/>
                        <a:cs typeface="Courier New" charset="0"/>
                      </a:endParaRPr>
                    </a:p>
                    <a:p>
                      <a:pPr indent="0" marL="0">
                        <a:buNone/>
                      </a:pPr>
                      <a:r>
                        <a:rPr lang="en-US" sz="900" dirty="0">
                          <a:solidFill>
                            <a:srgbClr val="16202F"/>
                          </a:solidFill>
                          <a:latin typeface="Courier New" pitchFamily="34" charset="0"/>
                          <a:ea typeface="Courier New" pitchFamily="34" charset="-122"/>
                          <a:cs typeface="Courier New" pitchFamily="34" charset="-120"/>
                        </a:rPr>
                        <a:t>per-head dispatcher-tracking score</a:t>
                      </a:r>
                      <a:endParaRPr lang="en-US" sz="900" dirty="0">
                        <a:latin typeface="Courier New" charset="0"/>
                        <a:ea typeface="Courier New" charset="0"/>
                        <a:cs typeface="Courier New"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F6383"/>
                          </a:solidFill>
                          <a:latin typeface="Calibri" pitchFamily="34" charset="0"/>
                          <a:ea typeface="Calibri" pitchFamily="34" charset="-122"/>
                          <a:cs typeface="Calibri" pitchFamily="34" charset="-120"/>
                        </a:rPr>
                        <a:t>H2 vs H1</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16202F"/>
                          </a:solidFill>
                          <a:latin typeface="Calibri" pitchFamily="34" charset="0"/>
                          <a:ea typeface="Calibri" pitchFamily="34" charset="-122"/>
                          <a:cs typeface="Calibri" pitchFamily="34" charset="-120"/>
                        </a:rPr>
                        <a:t>Macro</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All code tokens versus sinks (BOS, delimiters, chat template)</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ourier New" pitchFamily="34" charset="0"/>
                          <a:ea typeface="Courier New" pitchFamily="34" charset="-122"/>
                          <a:cs typeface="Courier New" pitchFamily="34" charset="-120"/>
                        </a:rPr>
                        <a:t>Attention entropy over code tokens;</a:t>
                      </a:r>
                      <a:endParaRPr lang="en-US" sz="900" dirty="0">
                        <a:latin typeface="Courier New" charset="0"/>
                        <a:ea typeface="Courier New" charset="0"/>
                        <a:cs typeface="Courier New" charset="0"/>
                      </a:endParaRPr>
                    </a:p>
                    <a:p>
                      <a:pPr indent="0" marL="0">
                        <a:buNone/>
                      </a:pPr>
                      <a:r>
                        <a:rPr lang="en-US" sz="900" dirty="0">
                          <a:solidFill>
                            <a:srgbClr val="16202F"/>
                          </a:solidFill>
                          <a:latin typeface="Courier New" pitchFamily="34" charset="0"/>
                          <a:ea typeface="Courier New" pitchFamily="34" charset="-122"/>
                          <a:cs typeface="Courier New" pitchFamily="34" charset="-120"/>
                        </a:rPr>
                        <a:t>sink-mass share</a:t>
                      </a:r>
                      <a:endParaRPr lang="en-US" sz="900" dirty="0">
                        <a:latin typeface="Courier New" charset="0"/>
                        <a:ea typeface="Courier New" charset="0"/>
                        <a:cs typeface="Courier New"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C9534B"/>
                          </a:solidFill>
                          <a:latin typeface="Calibri" pitchFamily="34" charset="0"/>
                          <a:ea typeface="Calibri" pitchFamily="34" charset="-122"/>
                          <a:cs typeface="Calibri" pitchFamily="34" charset="-120"/>
                        </a:rPr>
                        <a:t>H3 vs H4</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00" b="1" dirty="0">
                          <a:solidFill>
                            <a:srgbClr val="16202F"/>
                          </a:solidFill>
                          <a:latin typeface="Calibri" pitchFamily="34" charset="0"/>
                          <a:ea typeface="Calibri" pitchFamily="34" charset="-122"/>
                          <a:cs typeface="Calibri" pitchFamily="34" charset="-120"/>
                        </a:rPr>
                        <a:t>Cross-level</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1000" dirty="0">
                          <a:solidFill>
                            <a:srgbClr val="16202F"/>
                          </a:solidFill>
                          <a:latin typeface="Calibri" pitchFamily="34" charset="0"/>
                          <a:ea typeface="Calibri" pitchFamily="34" charset="-122"/>
                          <a:cs typeface="Calibri" pitchFamily="34" charset="-120"/>
                        </a:rPr>
                        <a:t>Per-head profiles across all layers</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ourier New" pitchFamily="34" charset="0"/>
                          <a:ea typeface="Courier New" pitchFamily="34" charset="-122"/>
                          <a:cs typeface="Courier New" pitchFamily="34" charset="-120"/>
                        </a:rPr>
                        <a:t>Head-level Δ(L3−L2), Δ(L3−L1b);</a:t>
                      </a:r>
                      <a:endParaRPr lang="en-US" sz="900" dirty="0">
                        <a:latin typeface="Courier New" charset="0"/>
                        <a:ea typeface="Courier New" charset="0"/>
                        <a:cs typeface="Courier New" charset="0"/>
                      </a:endParaRPr>
                    </a:p>
                    <a:p>
                      <a:pPr indent="0" marL="0">
                        <a:buNone/>
                      </a:pPr>
                      <a:r>
                        <a:rPr lang="en-US" sz="900" dirty="0">
                          <a:solidFill>
                            <a:srgbClr val="16202F"/>
                          </a:solidFill>
                          <a:latin typeface="Courier New" pitchFamily="34" charset="0"/>
                          <a:ea typeface="Courier New" pitchFamily="34" charset="-122"/>
                          <a:cs typeface="Courier New" pitchFamily="34" charset="-120"/>
                        </a:rPr>
                        <a:t>identifier-head vs. structure-head taxonomy</a:t>
                      </a:r>
                      <a:endParaRPr lang="en-US" sz="900" dirty="0">
                        <a:latin typeface="Courier New" charset="0"/>
                        <a:ea typeface="Courier New" charset="0"/>
                        <a:cs typeface="Courier New"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212D48"/>
                          </a:solidFill>
                          <a:latin typeface="Calibri" pitchFamily="34" charset="0"/>
                          <a:ea typeface="Calibri" pitchFamily="34" charset="-122"/>
                          <a:cs typeface="Calibri" pitchFamily="34" charset="-120"/>
                        </a:rPr>
                        <a:t>All four</a:t>
                      </a:r>
                      <a:endParaRPr lang="en-US" sz="10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566928" y="5138928"/>
            <a:ext cx="11057839" cy="1005840"/>
          </a:xfrm>
          <a:prstGeom prst="roundRect">
            <a:avLst>
              <a:gd name="adj" fmla="val 5455"/>
            </a:avLst>
          </a:prstGeom>
          <a:solidFill>
            <a:srgbClr val="141B2E"/>
          </a:solidFill>
          <a:ln w="12700">
            <a:solidFill>
              <a:srgbClr val="333333"/>
            </a:solidFill>
            <a:prstDash val="solid"/>
          </a:ln>
        </p:spPr>
      </p:sp>
      <p:sp>
        <p:nvSpPr>
          <p:cNvPr id="6" name="Text 3"/>
          <p:cNvSpPr/>
          <p:nvPr/>
        </p:nvSpPr>
        <p:spPr>
          <a:xfrm>
            <a:off x="841248" y="5230368"/>
            <a:ext cx="10509199" cy="822960"/>
          </a:xfrm>
          <a:prstGeom prst="rect">
            <a:avLst/>
          </a:prstGeom>
          <a:noFill/>
          <a:ln/>
        </p:spPr>
        <p:txBody>
          <a:bodyPr wrap="square" lIns="0" tIns="0" rIns="0" bIns="0" rtlCol="0" anchor="ctr"/>
          <a:lstStyle/>
          <a:p>
            <a:pPr indent="0" marL="0">
              <a:lnSpc>
                <a:spcPct val="118000"/>
              </a:lnSpc>
              <a:buNone/>
            </a:pPr>
            <a:r>
              <a:rPr lang="en-US" sz="1150" b="1" dirty="0">
                <a:solidFill>
                  <a:srgbClr val="6FD3B8"/>
                </a:solidFill>
                <a:latin typeface="Calibri" pitchFamily="34" charset="0"/>
                <a:ea typeface="Calibri" pitchFamily="34" charset="-122"/>
                <a:cs typeface="Calibri" pitchFamily="34" charset="-120"/>
              </a:rPr>
              <a:t>Key design choice.   </a:t>
            </a:r>
            <a:pPr indent="0" marL="0">
              <a:lnSpc>
                <a:spcPct val="118000"/>
              </a:lnSpc>
              <a:buNone/>
            </a:pPr>
            <a:r>
              <a:rPr lang="en-US" sz="1150" dirty="0">
                <a:solidFill>
                  <a:srgbClr val="DCE6F2"/>
                </a:solidFill>
                <a:latin typeface="Calibri" pitchFamily="34" charset="0"/>
                <a:ea typeface="Calibri" pitchFamily="34" charset="-122"/>
                <a:cs typeface="Calibri" pitchFamily="34" charset="-120"/>
              </a:rPr>
              <a:t>Identifiers are aligned pairs across tiers (Paper 2’s SFR-embedding pipeline aligns L0 ↔ L1 ↔ L1b) and dispatcher constructs appear only at L2/L3 — so every attention shift is attributable to exactly one transformation, mirroring the isolation logic of the original obfuscation design.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Phase 1 — Observational: Map the Reallocation</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Reuses the validated stimuli and the open-weight model panel from the prior studies; attention requires white-box access.</a:t>
            </a:r>
            <a:endParaRPr lang="en-US" sz="1250" dirty="0"/>
          </a:p>
        </p:txBody>
      </p:sp>
      <p:sp>
        <p:nvSpPr>
          <p:cNvPr id="4" name="Shape 2"/>
          <p:cNvSpPr/>
          <p:nvPr/>
        </p:nvSpPr>
        <p:spPr>
          <a:xfrm>
            <a:off x="566928" y="1481328"/>
            <a:ext cx="5394960" cy="1938528"/>
          </a:xfrm>
          <a:prstGeom prst="roundRect">
            <a:avLst>
              <a:gd name="adj" fmla="val 2358"/>
            </a:avLst>
          </a:prstGeom>
          <a:solidFill>
            <a:srgbClr val="F3F5F8"/>
          </a:solidFill>
          <a:ln w="12700">
            <a:solidFill>
              <a:srgbClr val="333333"/>
            </a:solidFill>
            <a:prstDash val="solid"/>
          </a:ln>
        </p:spPr>
      </p:sp>
      <p:sp>
        <p:nvSpPr>
          <p:cNvPr id="5" name="Shape 3"/>
          <p:cNvSpPr/>
          <p:nvPr/>
        </p:nvSpPr>
        <p:spPr>
          <a:xfrm>
            <a:off x="822960" y="1700784"/>
            <a:ext cx="457200" cy="457200"/>
          </a:xfrm>
          <a:prstGeom prst="ellipse">
            <a:avLst/>
          </a:prstGeom>
          <a:solidFill>
            <a:srgbClr val="1FA184"/>
          </a:solidFill>
          <a:ln w="12700">
            <a:solidFill>
              <a:srgbClr val="333333"/>
            </a:solidFill>
            <a:prstDash val="solid"/>
          </a:ln>
        </p:spPr>
      </p:sp>
      <p:pic>
        <p:nvPicPr>
          <p:cNvPr id="6" name="Image 0" descr="preencoded.png">    </p:cNvPr>
          <p:cNvPicPr>
            <a:picLocks noChangeAspect="1"/>
          </p:cNvPicPr>
          <p:nvPr/>
        </p:nvPicPr>
        <p:blipFill>
          <a:blip r:embed="rId1"/>
          <a:stretch>
            <a:fillRect/>
          </a:stretch>
        </p:blipFill>
        <p:spPr>
          <a:xfrm>
            <a:off x="946404" y="1824228"/>
            <a:ext cx="210312" cy="210312"/>
          </a:xfrm>
          <a:prstGeom prst="rect">
            <a:avLst/>
          </a:prstGeom>
        </p:spPr>
      </p:pic>
      <p:sp>
        <p:nvSpPr>
          <p:cNvPr id="7" name="Text 4"/>
          <p:cNvSpPr/>
          <p:nvPr/>
        </p:nvSpPr>
        <p:spPr>
          <a:xfrm>
            <a:off x="1389888" y="1737360"/>
            <a:ext cx="4297680" cy="384048"/>
          </a:xfrm>
          <a:prstGeom prst="rect">
            <a:avLst/>
          </a:prstGeom>
          <a:noFill/>
          <a:ln/>
        </p:spPr>
        <p:txBody>
          <a:bodyPr wrap="square" lIns="0" tIns="0" rIns="0" bIns="0" rtlCol="0" anchor="ctr"/>
          <a:lstStyle/>
          <a:p>
            <a:pPr indent="0" marL="0">
              <a:buNone/>
            </a:pPr>
            <a:r>
              <a:rPr lang="en-US" sz="1350" b="1" dirty="0">
                <a:solidFill>
                  <a:srgbClr val="1FA184"/>
                </a:solidFill>
                <a:latin typeface="Calibri" pitchFamily="34" charset="0"/>
                <a:ea typeface="Calibri" pitchFamily="34" charset="-122"/>
                <a:cs typeface="Calibri" pitchFamily="34" charset="-120"/>
              </a:rPr>
              <a:t>Stimuli</a:t>
            </a:r>
            <a:endParaRPr lang="en-US" sz="1350" dirty="0"/>
          </a:p>
        </p:txBody>
      </p:sp>
      <p:sp>
        <p:nvSpPr>
          <p:cNvPr id="8" name="Text 5"/>
          <p:cNvSpPr/>
          <p:nvPr/>
        </p:nvSpPr>
        <p:spPr>
          <a:xfrm>
            <a:off x="822960" y="2212848"/>
            <a:ext cx="4882896" cy="1097280"/>
          </a:xfrm>
          <a:prstGeom prst="rect">
            <a:avLst/>
          </a:prstGeom>
          <a:noFill/>
          <a:ln/>
        </p:spPr>
        <p:txBody>
          <a:bodyPr wrap="square" lIns="0" tIns="0" rIns="0" bIns="0" rtlCol="0" anchor="ctr"/>
          <a:lstStyle/>
          <a:p>
            <a:pPr indent="0" marL="0">
              <a:lnSpc>
                <a:spcPct val="112000"/>
              </a:lnSpc>
              <a:buNone/>
            </a:pPr>
            <a:r>
              <a:rPr lang="en-US" sz="1000" dirty="0">
                <a:solidFill>
                  <a:srgbClr val="3A4859"/>
                </a:solidFill>
                <a:latin typeface="Calibri" pitchFamily="34" charset="0"/>
                <a:ea typeface="Calibri" pitchFamily="34" charset="-122"/>
                <a:cs typeface="Calibri" pitchFamily="34" charset="-120"/>
              </a:rPr>
              <a:t>Dataset A (20 HumanEval-X snippets × 5 tiers, with human labels) plus Dataset B (250 snippets from HumanEval-X, CruxEval-X and LeetCode-05/2025, contamination-controlled). Tiers L0–L3; functional equivalence already execution-validated.</a:t>
            </a:r>
            <a:endParaRPr lang="en-US" sz="1000" dirty="0"/>
          </a:p>
        </p:txBody>
      </p:sp>
      <p:sp>
        <p:nvSpPr>
          <p:cNvPr id="9" name="Shape 6"/>
          <p:cNvSpPr/>
          <p:nvPr/>
        </p:nvSpPr>
        <p:spPr>
          <a:xfrm>
            <a:off x="6227064" y="1481328"/>
            <a:ext cx="5394960" cy="1938528"/>
          </a:xfrm>
          <a:prstGeom prst="roundRect">
            <a:avLst>
              <a:gd name="adj" fmla="val 2358"/>
            </a:avLst>
          </a:prstGeom>
          <a:solidFill>
            <a:srgbClr val="F3F5F8"/>
          </a:solidFill>
          <a:ln w="12700">
            <a:solidFill>
              <a:srgbClr val="333333"/>
            </a:solidFill>
            <a:prstDash val="solid"/>
          </a:ln>
        </p:spPr>
      </p:sp>
      <p:sp>
        <p:nvSpPr>
          <p:cNvPr id="10" name="Shape 7"/>
          <p:cNvSpPr/>
          <p:nvPr/>
        </p:nvSpPr>
        <p:spPr>
          <a:xfrm>
            <a:off x="6483096" y="1700784"/>
            <a:ext cx="457200" cy="457200"/>
          </a:xfrm>
          <a:prstGeom prst="ellipse">
            <a:avLst/>
          </a:prstGeom>
          <a:solidFill>
            <a:srgbClr val="2F6383"/>
          </a:solidFill>
          <a:ln w="12700">
            <a:solidFill>
              <a:srgbClr val="333333"/>
            </a:solidFill>
            <a:prstDash val="solid"/>
          </a:ln>
        </p:spPr>
      </p:sp>
      <p:pic>
        <p:nvPicPr>
          <p:cNvPr id="11" name="Image 1" descr="preencoded.png">    </p:cNvPr>
          <p:cNvPicPr>
            <a:picLocks noChangeAspect="1"/>
          </p:cNvPicPr>
          <p:nvPr/>
        </p:nvPicPr>
        <p:blipFill>
          <a:blip r:embed="rId2"/>
          <a:stretch>
            <a:fillRect/>
          </a:stretch>
        </p:blipFill>
        <p:spPr>
          <a:xfrm>
            <a:off x="6606540" y="1824228"/>
            <a:ext cx="210312" cy="210312"/>
          </a:xfrm>
          <a:prstGeom prst="rect">
            <a:avLst/>
          </a:prstGeom>
        </p:spPr>
      </p:pic>
      <p:sp>
        <p:nvSpPr>
          <p:cNvPr id="12" name="Text 8"/>
          <p:cNvSpPr/>
          <p:nvPr/>
        </p:nvSpPr>
        <p:spPr>
          <a:xfrm>
            <a:off x="7050024" y="1737360"/>
            <a:ext cx="4297680" cy="384048"/>
          </a:xfrm>
          <a:prstGeom prst="rect">
            <a:avLst/>
          </a:prstGeom>
          <a:noFill/>
          <a:ln/>
        </p:spPr>
        <p:txBody>
          <a:bodyPr wrap="square" lIns="0" tIns="0" rIns="0" bIns="0" rtlCol="0" anchor="ctr"/>
          <a:lstStyle/>
          <a:p>
            <a:pPr indent="0" marL="0">
              <a:buNone/>
            </a:pPr>
            <a:r>
              <a:rPr lang="en-US" sz="1350" b="1" dirty="0">
                <a:solidFill>
                  <a:srgbClr val="2F6383"/>
                </a:solidFill>
                <a:latin typeface="Calibri" pitchFamily="34" charset="0"/>
                <a:ea typeface="Calibri" pitchFamily="34" charset="-122"/>
                <a:cs typeface="Calibri" pitchFamily="34" charset="-120"/>
              </a:rPr>
              <a:t>Models</a:t>
            </a:r>
            <a:endParaRPr lang="en-US" sz="1350" dirty="0"/>
          </a:p>
        </p:txBody>
      </p:sp>
      <p:sp>
        <p:nvSpPr>
          <p:cNvPr id="13" name="Text 9"/>
          <p:cNvSpPr/>
          <p:nvPr/>
        </p:nvSpPr>
        <p:spPr>
          <a:xfrm>
            <a:off x="6483096" y="2212848"/>
            <a:ext cx="4882896" cy="1097280"/>
          </a:xfrm>
          <a:prstGeom prst="rect">
            <a:avLst/>
          </a:prstGeom>
          <a:noFill/>
          <a:ln/>
        </p:spPr>
        <p:txBody>
          <a:bodyPr wrap="square" lIns="0" tIns="0" rIns="0" bIns="0" rtlCol="0" anchor="ctr"/>
          <a:lstStyle/>
          <a:p>
            <a:pPr indent="0" marL="0">
              <a:lnSpc>
                <a:spcPct val="112000"/>
              </a:lnSpc>
              <a:buNone/>
            </a:pPr>
            <a:r>
              <a:rPr lang="en-US" sz="1000" dirty="0">
                <a:solidFill>
                  <a:srgbClr val="3A4859"/>
                </a:solidFill>
                <a:latin typeface="Calibri" pitchFamily="34" charset="0"/>
                <a:ea typeface="Calibri" pitchFamily="34" charset="-122"/>
                <a:cs typeface="Calibri" pitchFamily="34" charset="-120"/>
              </a:rPr>
              <a:t>The open-weight panel from Papers 2–3: DS-R1-Distill-Qwen-7B and 1.5B, SmolLM3-3B, Qwen3-0.6B (reasoning); Llama-3.1-8B, Phi-3.5-mini (instruct); Qwen2.5-Coder-7B, DS-Coder-6.7B (coder). Same panel → results plug straight into the existing accuracy / ISF / HCI tables.</a:t>
            </a:r>
            <a:endParaRPr lang="en-US" sz="1000" dirty="0"/>
          </a:p>
        </p:txBody>
      </p:sp>
      <p:sp>
        <p:nvSpPr>
          <p:cNvPr id="14" name="Shape 10"/>
          <p:cNvSpPr/>
          <p:nvPr/>
        </p:nvSpPr>
        <p:spPr>
          <a:xfrm>
            <a:off x="566928" y="3602736"/>
            <a:ext cx="5394960" cy="1938528"/>
          </a:xfrm>
          <a:prstGeom prst="roundRect">
            <a:avLst>
              <a:gd name="adj" fmla="val 2358"/>
            </a:avLst>
          </a:prstGeom>
          <a:solidFill>
            <a:srgbClr val="F3F5F8"/>
          </a:solidFill>
          <a:ln w="12700">
            <a:solidFill>
              <a:srgbClr val="333333"/>
            </a:solidFill>
            <a:prstDash val="solid"/>
          </a:ln>
        </p:spPr>
      </p:sp>
      <p:sp>
        <p:nvSpPr>
          <p:cNvPr id="15" name="Shape 11"/>
          <p:cNvSpPr/>
          <p:nvPr/>
        </p:nvSpPr>
        <p:spPr>
          <a:xfrm>
            <a:off x="822960" y="3822192"/>
            <a:ext cx="457200" cy="457200"/>
          </a:xfrm>
          <a:prstGeom prst="ellipse">
            <a:avLst/>
          </a:prstGeom>
          <a:solidFill>
            <a:srgbClr val="2F6383"/>
          </a:solidFill>
          <a:ln w="12700">
            <a:solidFill>
              <a:srgbClr val="333333"/>
            </a:solidFill>
            <a:prstDash val="solid"/>
          </a:ln>
        </p:spPr>
      </p:sp>
      <p:pic>
        <p:nvPicPr>
          <p:cNvPr id="16" name="Image 2" descr="preencoded.png">    </p:cNvPr>
          <p:cNvPicPr>
            <a:picLocks noChangeAspect="1"/>
          </p:cNvPicPr>
          <p:nvPr/>
        </p:nvPicPr>
        <p:blipFill>
          <a:blip r:embed="rId3"/>
          <a:stretch>
            <a:fillRect/>
          </a:stretch>
        </p:blipFill>
        <p:spPr>
          <a:xfrm>
            <a:off x="946404" y="3945636"/>
            <a:ext cx="210312" cy="210312"/>
          </a:xfrm>
          <a:prstGeom prst="rect">
            <a:avLst/>
          </a:prstGeom>
        </p:spPr>
      </p:pic>
      <p:sp>
        <p:nvSpPr>
          <p:cNvPr id="17" name="Text 12"/>
          <p:cNvSpPr/>
          <p:nvPr/>
        </p:nvSpPr>
        <p:spPr>
          <a:xfrm>
            <a:off x="1389888" y="3858768"/>
            <a:ext cx="4297680" cy="384048"/>
          </a:xfrm>
          <a:prstGeom prst="rect">
            <a:avLst/>
          </a:prstGeom>
          <a:noFill/>
          <a:ln/>
        </p:spPr>
        <p:txBody>
          <a:bodyPr wrap="square" lIns="0" tIns="0" rIns="0" bIns="0" rtlCol="0" anchor="ctr"/>
          <a:lstStyle/>
          <a:p>
            <a:pPr indent="0" marL="0">
              <a:buNone/>
            </a:pPr>
            <a:r>
              <a:rPr lang="en-US" sz="1350" b="1" dirty="0">
                <a:solidFill>
                  <a:srgbClr val="2F6383"/>
                </a:solidFill>
                <a:latin typeface="Calibri" pitchFamily="34" charset="0"/>
                <a:ea typeface="Calibri" pitchFamily="34" charset="-122"/>
                <a:cs typeface="Calibri" pitchFamily="34" charset="-120"/>
              </a:rPr>
              <a:t>Recording</a:t>
            </a:r>
            <a:endParaRPr lang="en-US" sz="1350" dirty="0"/>
          </a:p>
        </p:txBody>
      </p:sp>
      <p:sp>
        <p:nvSpPr>
          <p:cNvPr id="18" name="Text 13"/>
          <p:cNvSpPr/>
          <p:nvPr/>
        </p:nvSpPr>
        <p:spPr>
          <a:xfrm>
            <a:off x="822960" y="4334256"/>
            <a:ext cx="4882896" cy="1097280"/>
          </a:xfrm>
          <a:prstGeom prst="rect">
            <a:avLst/>
          </a:prstGeom>
          <a:noFill/>
          <a:ln/>
        </p:spPr>
        <p:txBody>
          <a:bodyPr wrap="square" lIns="0" tIns="0" rIns="0" bIns="0" rtlCol="0" anchor="ctr"/>
          <a:lstStyle/>
          <a:p>
            <a:pPr indent="0" marL="0">
              <a:lnSpc>
                <a:spcPct val="112000"/>
              </a:lnSpc>
              <a:buNone/>
            </a:pPr>
            <a:r>
              <a:rPr lang="en-US" sz="1000" dirty="0">
                <a:solidFill>
                  <a:srgbClr val="3A4859"/>
                </a:solidFill>
                <a:latin typeface="Calibri" pitchFamily="34" charset="0"/>
                <a:ea typeface="Calibri" pitchFamily="34" charset="-122"/>
                <a:cs typeface="Calibri" pitchFamily="34" charset="-120"/>
              </a:rPr>
              <a:t>Full attention tensors during output prediction: prompt-side attention at answer positions, plus attention during CoT for think-mode models. Grouped-query attention handled by per-group normalisation; sink tokens scored separately rather than discarded.</a:t>
            </a:r>
            <a:endParaRPr lang="en-US" sz="1000" dirty="0"/>
          </a:p>
        </p:txBody>
      </p:sp>
      <p:sp>
        <p:nvSpPr>
          <p:cNvPr id="19" name="Shape 14"/>
          <p:cNvSpPr/>
          <p:nvPr/>
        </p:nvSpPr>
        <p:spPr>
          <a:xfrm>
            <a:off x="6227064" y="3602736"/>
            <a:ext cx="5394960" cy="1938528"/>
          </a:xfrm>
          <a:prstGeom prst="roundRect">
            <a:avLst>
              <a:gd name="adj" fmla="val 2358"/>
            </a:avLst>
          </a:prstGeom>
          <a:solidFill>
            <a:srgbClr val="F3F5F8"/>
          </a:solidFill>
          <a:ln w="12700">
            <a:solidFill>
              <a:srgbClr val="333333"/>
            </a:solidFill>
            <a:prstDash val="solid"/>
          </a:ln>
        </p:spPr>
      </p:sp>
      <p:sp>
        <p:nvSpPr>
          <p:cNvPr id="20" name="Shape 15"/>
          <p:cNvSpPr/>
          <p:nvPr/>
        </p:nvSpPr>
        <p:spPr>
          <a:xfrm>
            <a:off x="6483096" y="3822192"/>
            <a:ext cx="457200" cy="457200"/>
          </a:xfrm>
          <a:prstGeom prst="ellipse">
            <a:avLst/>
          </a:prstGeom>
          <a:solidFill>
            <a:srgbClr val="1FA184"/>
          </a:solidFill>
          <a:ln w="12700">
            <a:solidFill>
              <a:srgbClr val="333333"/>
            </a:solidFill>
            <a:prstDash val="solid"/>
          </a:ln>
        </p:spPr>
      </p:sp>
      <p:pic>
        <p:nvPicPr>
          <p:cNvPr id="21" name="Image 3" descr="preencoded.png">    </p:cNvPr>
          <p:cNvPicPr>
            <a:picLocks noChangeAspect="1"/>
          </p:cNvPicPr>
          <p:nvPr/>
        </p:nvPicPr>
        <p:blipFill>
          <a:blip r:embed="rId4"/>
          <a:stretch>
            <a:fillRect/>
          </a:stretch>
        </p:blipFill>
        <p:spPr>
          <a:xfrm>
            <a:off x="6606540" y="3945636"/>
            <a:ext cx="210312" cy="210312"/>
          </a:xfrm>
          <a:prstGeom prst="rect">
            <a:avLst/>
          </a:prstGeom>
        </p:spPr>
      </p:pic>
      <p:sp>
        <p:nvSpPr>
          <p:cNvPr id="22" name="Text 16"/>
          <p:cNvSpPr/>
          <p:nvPr/>
        </p:nvSpPr>
        <p:spPr>
          <a:xfrm>
            <a:off x="7050024" y="3858768"/>
            <a:ext cx="4297680" cy="384048"/>
          </a:xfrm>
          <a:prstGeom prst="rect">
            <a:avLst/>
          </a:prstGeom>
          <a:noFill/>
          <a:ln/>
        </p:spPr>
        <p:txBody>
          <a:bodyPr wrap="square" lIns="0" tIns="0" rIns="0" bIns="0" rtlCol="0" anchor="ctr"/>
          <a:lstStyle/>
          <a:p>
            <a:pPr indent="0" marL="0">
              <a:buNone/>
            </a:pPr>
            <a:r>
              <a:rPr lang="en-US" sz="1350" b="1" dirty="0">
                <a:solidFill>
                  <a:srgbClr val="1FA184"/>
                </a:solidFill>
                <a:latin typeface="Calibri" pitchFamily="34" charset="0"/>
                <a:ea typeface="Calibri" pitchFamily="34" charset="-122"/>
                <a:cs typeface="Calibri" pitchFamily="34" charset="-120"/>
              </a:rPr>
              <a:t>Primary contrasts</a:t>
            </a:r>
            <a:endParaRPr lang="en-US" sz="1350" dirty="0"/>
          </a:p>
        </p:txBody>
      </p:sp>
      <p:sp>
        <p:nvSpPr>
          <p:cNvPr id="23" name="Text 17"/>
          <p:cNvSpPr/>
          <p:nvPr/>
        </p:nvSpPr>
        <p:spPr>
          <a:xfrm>
            <a:off x="6483096" y="4334256"/>
            <a:ext cx="4882896" cy="1097280"/>
          </a:xfrm>
          <a:prstGeom prst="rect">
            <a:avLst/>
          </a:prstGeom>
          <a:noFill/>
          <a:ln/>
        </p:spPr>
        <p:txBody>
          <a:bodyPr wrap="square" lIns="0" tIns="0" rIns="0" bIns="0" rtlCol="0" anchor="ctr"/>
          <a:lstStyle/>
          <a:p>
            <a:pPr indent="0" marL="0">
              <a:lnSpc>
                <a:spcPct val="112000"/>
              </a:lnSpc>
              <a:buNone/>
            </a:pPr>
            <a:r>
              <a:rPr lang="en-US" sz="1000" dirty="0">
                <a:solidFill>
                  <a:srgbClr val="3A4859"/>
                </a:solidFill>
                <a:latin typeface="Calibri" pitchFamily="34" charset="0"/>
                <a:ea typeface="Calibri" pitchFamily="34" charset="-122"/>
                <a:cs typeface="Calibri" pitchFamily="34" charset="-120"/>
              </a:rPr>
              <a:t>ΔA_id and ΔA_struct for L3−L2 and L3−L1b — the stacked-versus-single deltas that discriminate H1–H4 — plus L1 vs L1b to isolate adversarial semantics from plain renaming. Mixed-effects GLMMs with BH-FDR, identical to the prior statistical stack.</a:t>
            </a:r>
            <a:endParaRPr lang="en-US" sz="1000" dirty="0"/>
          </a:p>
        </p:txBody>
      </p:sp>
      <p:sp>
        <p:nvSpPr>
          <p:cNvPr id="24" name="Shape 18"/>
          <p:cNvSpPr/>
          <p:nvPr/>
        </p:nvSpPr>
        <p:spPr>
          <a:xfrm>
            <a:off x="566928" y="5614416"/>
            <a:ext cx="11057839" cy="713232"/>
          </a:xfrm>
          <a:prstGeom prst="roundRect">
            <a:avLst>
              <a:gd name="adj" fmla="val 7692"/>
            </a:avLst>
          </a:prstGeom>
          <a:solidFill>
            <a:srgbClr val="141B2E"/>
          </a:solidFill>
          <a:ln w="12700">
            <a:solidFill>
              <a:srgbClr val="333333"/>
            </a:solidFill>
            <a:prstDash val="solid"/>
          </a:ln>
        </p:spPr>
      </p:sp>
      <p:sp>
        <p:nvSpPr>
          <p:cNvPr id="25" name="Text 19"/>
          <p:cNvSpPr/>
          <p:nvPr/>
        </p:nvSpPr>
        <p:spPr>
          <a:xfrm>
            <a:off x="841248" y="5705856"/>
            <a:ext cx="10509199" cy="530352"/>
          </a:xfrm>
          <a:prstGeom prst="rect">
            <a:avLst/>
          </a:prstGeom>
          <a:noFill/>
          <a:ln/>
        </p:spPr>
        <p:txBody>
          <a:bodyPr wrap="square" lIns="0" tIns="0" rIns="0" bIns="0" rtlCol="0" anchor="ctr"/>
          <a:lstStyle/>
          <a:p>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Deliverable.   </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An attention-reallocation map (tier × token class × model type) directly comparable to the human strategy map of Paper 3.</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Phase 2 — Causal: Does Allocation Drive Accuracy?</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A correlation between attention and outcome is not enough — so we intervene on the budget itself.</a:t>
            </a:r>
            <a:endParaRPr lang="en-US" sz="1250" dirty="0"/>
          </a:p>
        </p:txBody>
      </p:sp>
      <p:sp>
        <p:nvSpPr>
          <p:cNvPr id="4" name="Shape 2"/>
          <p:cNvSpPr/>
          <p:nvPr/>
        </p:nvSpPr>
        <p:spPr>
          <a:xfrm>
            <a:off x="566928" y="1517904"/>
            <a:ext cx="11057839" cy="1170432"/>
          </a:xfrm>
          <a:prstGeom prst="roundRect">
            <a:avLst>
              <a:gd name="adj" fmla="val 3906"/>
            </a:avLst>
          </a:prstGeom>
          <a:solidFill>
            <a:srgbClr val="E9F5F1"/>
          </a:solidFill>
          <a:ln w="12700">
            <a:solidFill>
              <a:srgbClr val="333333"/>
            </a:solidFill>
            <a:prstDash val="solid"/>
          </a:ln>
        </p:spPr>
      </p:sp>
      <p:sp>
        <p:nvSpPr>
          <p:cNvPr id="5" name="Shape 3"/>
          <p:cNvSpPr/>
          <p:nvPr/>
        </p:nvSpPr>
        <p:spPr>
          <a:xfrm>
            <a:off x="841248" y="1819656"/>
            <a:ext cx="566928" cy="566928"/>
          </a:xfrm>
          <a:prstGeom prst="ellipse">
            <a:avLst/>
          </a:prstGeom>
          <a:solidFill>
            <a:srgbClr val="1FA184"/>
          </a:solidFill>
          <a:ln w="12700">
            <a:solidFill>
              <a:srgbClr val="333333"/>
            </a:solidFill>
            <a:prstDash val="solid"/>
          </a:ln>
        </p:spPr>
      </p:sp>
      <p:sp>
        <p:nvSpPr>
          <p:cNvPr id="6" name="Text 4"/>
          <p:cNvSpPr/>
          <p:nvPr/>
        </p:nvSpPr>
        <p:spPr>
          <a:xfrm>
            <a:off x="841248" y="181965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609344" y="1700784"/>
            <a:ext cx="3200400" cy="822960"/>
          </a:xfrm>
          <a:prstGeom prst="rect">
            <a:avLst/>
          </a:prstGeom>
          <a:noFill/>
          <a:ln/>
        </p:spPr>
        <p:txBody>
          <a:bodyPr wrap="square" lIns="0" tIns="0" rIns="0" bIns="0" rtlCol="0" anchor="ctr"/>
          <a:lstStyle/>
          <a:p>
            <a:pPr indent="0" marL="0">
              <a:lnSpc>
                <a:spcPct val="106000"/>
              </a:lnSpc>
              <a:buNone/>
            </a:pPr>
            <a:r>
              <a:rPr lang="en-US" sz="1350" b="1" dirty="0">
                <a:solidFill>
                  <a:srgbClr val="1FA184"/>
                </a:solidFill>
                <a:latin typeface="Calibri" pitchFamily="34" charset="0"/>
                <a:ea typeface="Calibri" pitchFamily="34" charset="-122"/>
                <a:cs typeface="Calibri" pitchFamily="34" charset="-120"/>
              </a:rPr>
              <a:t>Attention steering (PASTA-style)</a:t>
            </a:r>
            <a:endParaRPr lang="en-US" sz="1350" dirty="0"/>
          </a:p>
        </p:txBody>
      </p:sp>
      <p:sp>
        <p:nvSpPr>
          <p:cNvPr id="8" name="Text 6"/>
          <p:cNvSpPr/>
          <p:nvPr/>
        </p:nvSpPr>
        <p:spPr>
          <a:xfrm>
            <a:off x="4956048" y="1664208"/>
            <a:ext cx="6302959" cy="896112"/>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Reweight a selected head subset toward identifier tokens (tests H1) or toward dispatcher and control tokens (tests H2) at inference, with no weight changes. If L3 accuracy rises under one steering direction only, that direction is the causally useful strategy.</a:t>
            </a:r>
            <a:endParaRPr lang="en-US" sz="1100" dirty="0"/>
          </a:p>
        </p:txBody>
      </p:sp>
      <p:sp>
        <p:nvSpPr>
          <p:cNvPr id="9" name="Shape 7"/>
          <p:cNvSpPr/>
          <p:nvPr/>
        </p:nvSpPr>
        <p:spPr>
          <a:xfrm>
            <a:off x="566928" y="2871216"/>
            <a:ext cx="11057839" cy="1170432"/>
          </a:xfrm>
          <a:prstGeom prst="roundRect">
            <a:avLst>
              <a:gd name="adj" fmla="val 3906"/>
            </a:avLst>
          </a:prstGeom>
          <a:solidFill>
            <a:srgbClr val="F3F5F8"/>
          </a:solidFill>
          <a:ln w="12700">
            <a:solidFill>
              <a:srgbClr val="333333"/>
            </a:solidFill>
            <a:prstDash val="solid"/>
          </a:ln>
        </p:spPr>
      </p:sp>
      <p:sp>
        <p:nvSpPr>
          <p:cNvPr id="10" name="Shape 8"/>
          <p:cNvSpPr/>
          <p:nvPr/>
        </p:nvSpPr>
        <p:spPr>
          <a:xfrm>
            <a:off x="841248" y="3172968"/>
            <a:ext cx="566928" cy="566928"/>
          </a:xfrm>
          <a:prstGeom prst="ellipse">
            <a:avLst/>
          </a:prstGeom>
          <a:solidFill>
            <a:srgbClr val="2F6383"/>
          </a:solidFill>
          <a:ln w="12700">
            <a:solidFill>
              <a:srgbClr val="333333"/>
            </a:solidFill>
            <a:prstDash val="solid"/>
          </a:ln>
        </p:spPr>
      </p:sp>
      <p:sp>
        <p:nvSpPr>
          <p:cNvPr id="11" name="Text 9"/>
          <p:cNvSpPr/>
          <p:nvPr/>
        </p:nvSpPr>
        <p:spPr>
          <a:xfrm>
            <a:off x="841248" y="317296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609344" y="3054096"/>
            <a:ext cx="3200400" cy="822960"/>
          </a:xfrm>
          <a:prstGeom prst="rect">
            <a:avLst/>
          </a:prstGeom>
          <a:noFill/>
          <a:ln/>
        </p:spPr>
        <p:txBody>
          <a:bodyPr wrap="square" lIns="0" tIns="0" rIns="0" bIns="0" rtlCol="0" anchor="ctr"/>
          <a:lstStyle/>
          <a:p>
            <a:pPr indent="0" marL="0">
              <a:lnSpc>
                <a:spcPct val="106000"/>
              </a:lnSpc>
              <a:buNone/>
            </a:pPr>
            <a:r>
              <a:rPr lang="en-US" sz="1350" b="1" dirty="0">
                <a:solidFill>
                  <a:srgbClr val="2F6383"/>
                </a:solidFill>
                <a:latin typeface="Calibri" pitchFamily="34" charset="0"/>
                <a:ea typeface="Calibri" pitchFamily="34" charset="-122"/>
                <a:cs typeface="Calibri" pitchFamily="34" charset="-120"/>
              </a:rPr>
              <a:t>Ablation and attention patching</a:t>
            </a:r>
            <a:endParaRPr lang="en-US" sz="1350" dirty="0"/>
          </a:p>
        </p:txBody>
      </p:sp>
      <p:sp>
        <p:nvSpPr>
          <p:cNvPr id="13" name="Text 11"/>
          <p:cNvSpPr/>
          <p:nvPr/>
        </p:nvSpPr>
        <p:spPr>
          <a:xfrm>
            <a:off x="4956048" y="3017520"/>
            <a:ext cx="6302959" cy="896112"/>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Zero or patch attention from identifier positions, and separately from dispatcher positions, between tier-matched runs (clean L0 ↔ corrupted L3). This quantifies how much of the L3 accuracy drop flows through each channel — the attention analog of the ISF localisation in Paper 2.</a:t>
            </a:r>
            <a:endParaRPr lang="en-US" sz="1100" dirty="0"/>
          </a:p>
        </p:txBody>
      </p:sp>
      <p:sp>
        <p:nvSpPr>
          <p:cNvPr id="14" name="Shape 12"/>
          <p:cNvSpPr/>
          <p:nvPr/>
        </p:nvSpPr>
        <p:spPr>
          <a:xfrm>
            <a:off x="566928" y="4224528"/>
            <a:ext cx="11057839" cy="1170432"/>
          </a:xfrm>
          <a:prstGeom prst="roundRect">
            <a:avLst>
              <a:gd name="adj" fmla="val 3906"/>
            </a:avLst>
          </a:prstGeom>
          <a:solidFill>
            <a:srgbClr val="F3F5F8"/>
          </a:solidFill>
          <a:ln w="12700">
            <a:solidFill>
              <a:srgbClr val="333333"/>
            </a:solidFill>
            <a:prstDash val="solid"/>
          </a:ln>
        </p:spPr>
      </p:sp>
      <p:sp>
        <p:nvSpPr>
          <p:cNvPr id="15" name="Shape 13"/>
          <p:cNvSpPr/>
          <p:nvPr/>
        </p:nvSpPr>
        <p:spPr>
          <a:xfrm>
            <a:off x="841248" y="4526280"/>
            <a:ext cx="566928" cy="566928"/>
          </a:xfrm>
          <a:prstGeom prst="ellipse">
            <a:avLst/>
          </a:prstGeom>
          <a:solidFill>
            <a:srgbClr val="B5842B"/>
          </a:solidFill>
          <a:ln w="12700">
            <a:solidFill>
              <a:srgbClr val="333333"/>
            </a:solidFill>
            <a:prstDash val="solid"/>
          </a:ln>
        </p:spPr>
      </p:sp>
      <p:sp>
        <p:nvSpPr>
          <p:cNvPr id="16" name="Text 14"/>
          <p:cNvSpPr/>
          <p:nvPr/>
        </p:nvSpPr>
        <p:spPr>
          <a:xfrm>
            <a:off x="841248" y="4526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609344" y="4407408"/>
            <a:ext cx="3200400" cy="822960"/>
          </a:xfrm>
          <a:prstGeom prst="rect">
            <a:avLst/>
          </a:prstGeom>
          <a:noFill/>
          <a:ln/>
        </p:spPr>
        <p:txBody>
          <a:bodyPr wrap="square" lIns="0" tIns="0" rIns="0" bIns="0" rtlCol="0" anchor="ctr"/>
          <a:lstStyle/>
          <a:p>
            <a:pPr indent="0" marL="0">
              <a:lnSpc>
                <a:spcPct val="106000"/>
              </a:lnSpc>
              <a:buNone/>
            </a:pPr>
            <a:r>
              <a:rPr lang="en-US" sz="1350" b="1" dirty="0">
                <a:solidFill>
                  <a:srgbClr val="B5842B"/>
                </a:solidFill>
                <a:latin typeface="Calibri" pitchFamily="34" charset="0"/>
                <a:ea typeface="Calibri" pitchFamily="34" charset="-122"/>
                <a:cs typeface="Calibri" pitchFamily="34" charset="-120"/>
              </a:rPr>
              <a:t>Budget interaction sweep</a:t>
            </a:r>
            <a:endParaRPr lang="en-US" sz="1350" dirty="0"/>
          </a:p>
        </p:txBody>
      </p:sp>
      <p:sp>
        <p:nvSpPr>
          <p:cNvPr id="18" name="Text 16"/>
          <p:cNvSpPr/>
          <p:nvPr/>
        </p:nvSpPr>
        <p:spPr>
          <a:xfrm>
            <a:off x="4956048" y="4370832"/>
            <a:ext cx="6302959" cy="896112"/>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Cross steering with the 256 → 10,000 reasoning-token sweep from Paper 3. Does selective reallocation substitute for a longer budget, shifting the ~2,048-token plateau — or are attention allocation and CoT length independent resources?</a:t>
            </a:r>
            <a:endParaRPr lang="en-US" sz="1100" dirty="0"/>
          </a:p>
        </p:txBody>
      </p:sp>
      <p:sp>
        <p:nvSpPr>
          <p:cNvPr id="19" name="Shape 17"/>
          <p:cNvSpPr/>
          <p:nvPr/>
        </p:nvSpPr>
        <p:spPr>
          <a:xfrm>
            <a:off x="566928" y="5449824"/>
            <a:ext cx="11057839" cy="822960"/>
          </a:xfrm>
          <a:prstGeom prst="roundRect">
            <a:avLst>
              <a:gd name="adj" fmla="val 6667"/>
            </a:avLst>
          </a:prstGeom>
          <a:solidFill>
            <a:srgbClr val="141B2E"/>
          </a:solidFill>
          <a:ln w="12700">
            <a:solidFill>
              <a:srgbClr val="333333"/>
            </a:solidFill>
            <a:prstDash val="solid"/>
          </a:ln>
        </p:spPr>
      </p:sp>
      <p:sp>
        <p:nvSpPr>
          <p:cNvPr id="20" name="Text 18"/>
          <p:cNvSpPr/>
          <p:nvPr/>
        </p:nvSpPr>
        <p:spPr>
          <a:xfrm>
            <a:off x="841248" y="5541264"/>
            <a:ext cx="10509199" cy="640080"/>
          </a:xfrm>
          <a:prstGeom prst="rect">
            <a:avLst/>
          </a:prstGeom>
          <a:noFill/>
          <a:ln/>
        </p:spPr>
        <p:txBody>
          <a:bodyPr wrap="square" lIns="0" tIns="0" rIns="0" bIns="0" rtlCol="0" anchor="ctr"/>
          <a:lstStyle/>
          <a:p>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Why this matters.   </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Steering converts H1–H4 from descriptive labels into manipulable variables. The standard “attention is not explanation” objection is answered by intervention, not by correlation.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Falsifiable Signatures: What Each Hypothesis Predicts</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Five measurements jointly discriminate all four hypotheses — no two hypotheses share a full row pattern.</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11057839" cy="914400"/>
        </p:xfrm>
        <a:graphic>
          <a:graphicData uri="http://schemas.openxmlformats.org/drawingml/2006/table">
            <a:tbl>
              <a:tblPr/>
              <a:tblGrid>
                <a:gridCol w="3063240"/>
                <a:gridCol w="2002536"/>
                <a:gridCol w="2002536"/>
                <a:gridCol w="2002536"/>
                <a:gridCol w="1984248"/>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Measure (at L3)</a:t>
                      </a:r>
                      <a:endParaRPr lang="en-US" sz="95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H1  Identifier</a:t>
                      </a:r>
                      <a:endParaRPr lang="en-US" sz="105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A184"/>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H2  Structure</a:t>
                      </a:r>
                      <a:endParaRPr lang="en-US" sz="105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F638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H3  Reduced</a:t>
                      </a:r>
                      <a:endParaRPr lang="en-US" sz="105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C9534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H4  Increased</a:t>
                      </a:r>
                      <a:endParaRPr lang="en-US" sz="105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5842B"/>
                    </a:solidFill>
                  </a:tcPr>
                </a:tc>
              </a:tr>
              <a:tr h="0">
                <a:tc>
                  <a:txBody>
                    <a:bodyPr/>
                    <a:lstStyle/>
                    <a:p>
                      <a:pPr indent="0" marL="0">
                        <a:buNone/>
                      </a:pPr>
                      <a:r>
                        <a:rPr lang="en-US" sz="1050" b="1" dirty="0">
                          <a:solidFill>
                            <a:srgbClr val="16202F"/>
                          </a:solidFill>
                          <a:latin typeface="Calibri" pitchFamily="34" charset="0"/>
                          <a:ea typeface="Calibri" pitchFamily="34" charset="-122"/>
                          <a:cs typeface="Calibri" pitchFamily="34" charset="-120"/>
                        </a:rPr>
                        <a:t>Identifier mass A_id vs L2</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algn="ctr" indent="0" marL="0">
                        <a:buNone/>
                      </a:pPr>
                      <a:r>
                        <a:rPr lang="en-US" sz="1050" b="1" dirty="0">
                          <a:solidFill>
                            <a:srgbClr val="1FA18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F638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C9534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B584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50" b="1" dirty="0">
                          <a:solidFill>
                            <a:srgbClr val="16202F"/>
                          </a:solidFill>
                          <a:latin typeface="Calibri" pitchFamily="34" charset="0"/>
                          <a:ea typeface="Calibri" pitchFamily="34" charset="-122"/>
                          <a:cs typeface="Calibri" pitchFamily="34" charset="-120"/>
                        </a:rPr>
                        <a:t>Structure mass A_struct vs L1b</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algn="ctr" indent="0" marL="0">
                        <a:buNone/>
                      </a:pPr>
                      <a:r>
                        <a:rPr lang="en-US" sz="1050" b="1" dirty="0">
                          <a:solidFill>
                            <a:srgbClr val="1FA18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F638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C9534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B584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50" b="1" dirty="0">
                          <a:solidFill>
                            <a:srgbClr val="16202F"/>
                          </a:solidFill>
                          <a:latin typeface="Calibri" pitchFamily="34" charset="0"/>
                          <a:ea typeface="Calibri" pitchFamily="34" charset="-122"/>
                          <a:cs typeface="Calibri" pitchFamily="34" charset="-120"/>
                        </a:rPr>
                        <a:t>Entropy over code tokens</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algn="ctr" indent="0" marL="0">
                        <a:buNone/>
                      </a:pPr>
                      <a:r>
                        <a:rPr lang="en-US" sz="1050" b="1" dirty="0">
                          <a:solidFill>
                            <a:srgbClr val="1FA184"/>
                          </a:solidFill>
                          <a:latin typeface="Calibri" pitchFamily="34" charset="0"/>
                          <a:ea typeface="Calibri" pitchFamily="34" charset="-122"/>
                          <a:cs typeface="Calibri" pitchFamily="34" charset="-120"/>
                        </a:rPr>
                        <a:t>↓  peaked on identifiers</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F6383"/>
                          </a:solidFill>
                          <a:latin typeface="Calibri" pitchFamily="34" charset="0"/>
                          <a:ea typeface="Calibri" pitchFamily="34" charset="-122"/>
                          <a:cs typeface="Calibri" pitchFamily="34" charset="-120"/>
                        </a:rPr>
                        <a:t>↓  peaked on structure</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C9534B"/>
                          </a:solidFill>
                          <a:latin typeface="Calibri" pitchFamily="34" charset="0"/>
                          <a:ea typeface="Calibri" pitchFamily="34" charset="-122"/>
                          <a:cs typeface="Calibri" pitchFamily="34" charset="-120"/>
                        </a:rPr>
                        <a:t>↓↓  + sink mass ↑</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B5842B"/>
                          </a:solidFill>
                          <a:latin typeface="Calibri" pitchFamily="34" charset="0"/>
                          <a:ea typeface="Calibri" pitchFamily="34" charset="-122"/>
                          <a:cs typeface="Calibri" pitchFamily="34" charset="-120"/>
                        </a:rPr>
                        <a:t>↑  spread out</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50" b="1" dirty="0">
                          <a:solidFill>
                            <a:srgbClr val="16202F"/>
                          </a:solidFill>
                          <a:latin typeface="Calibri" pitchFamily="34" charset="0"/>
                          <a:ea typeface="Calibri" pitchFamily="34" charset="-122"/>
                          <a:cs typeface="Calibri" pitchFamily="34" charset="-120"/>
                        </a:rPr>
                        <a:t>Steer → identifiers</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algn="ctr" indent="0" marL="0">
                        <a:buNone/>
                      </a:pPr>
                      <a:r>
                        <a:rPr lang="en-US" sz="1050" b="1" dirty="0">
                          <a:solidFill>
                            <a:srgbClr val="1FA184"/>
                          </a:solidFill>
                          <a:latin typeface="Calibri" pitchFamily="34" charset="0"/>
                          <a:ea typeface="Calibri" pitchFamily="34" charset="-122"/>
                          <a:cs typeface="Calibri" pitchFamily="34" charset="-120"/>
                        </a:rPr>
                        <a:t>accuracy ↑</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F6383"/>
                          </a:solidFill>
                          <a:latin typeface="Calibri" pitchFamily="34" charset="0"/>
                          <a:ea typeface="Calibri" pitchFamily="34" charset="-122"/>
                          <a:cs typeface="Calibri" pitchFamily="34" charset="-120"/>
                        </a:rPr>
                        <a:t>accuracy ↓ / 0</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C9534B"/>
                          </a:solidFill>
                          <a:latin typeface="Calibri" pitchFamily="34" charset="0"/>
                          <a:ea typeface="Calibri" pitchFamily="34" charset="-122"/>
                          <a:cs typeface="Calibri" pitchFamily="34" charset="-120"/>
                        </a:rPr>
                        <a:t>↑  weak</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B5842B"/>
                          </a:solidFill>
                          <a:latin typeface="Calibri" pitchFamily="34" charset="0"/>
                          <a:ea typeface="Calibri" pitchFamily="34" charset="-122"/>
                          <a:cs typeface="Calibri" pitchFamily="34" charset="-120"/>
                        </a:rPr>
                        <a:t>≈ 0</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1050" b="1" dirty="0">
                          <a:solidFill>
                            <a:srgbClr val="16202F"/>
                          </a:solidFill>
                          <a:latin typeface="Calibri" pitchFamily="34" charset="0"/>
                          <a:ea typeface="Calibri" pitchFamily="34" charset="-122"/>
                          <a:cs typeface="Calibri" pitchFamily="34" charset="-120"/>
                        </a:rPr>
                        <a:t>Steer → structure</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algn="ctr" indent="0" marL="0">
                        <a:buNone/>
                      </a:pPr>
                      <a:r>
                        <a:rPr lang="en-US" sz="1050" b="1" dirty="0">
                          <a:solidFill>
                            <a:srgbClr val="1FA184"/>
                          </a:solidFill>
                          <a:latin typeface="Calibri" pitchFamily="34" charset="0"/>
                          <a:ea typeface="Calibri" pitchFamily="34" charset="-122"/>
                          <a:cs typeface="Calibri" pitchFamily="34" charset="-120"/>
                        </a:rPr>
                        <a:t>accuracy ↓ / 0</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F6383"/>
                          </a:solidFill>
                          <a:latin typeface="Calibri" pitchFamily="34" charset="0"/>
                          <a:ea typeface="Calibri" pitchFamily="34" charset="-122"/>
                          <a:cs typeface="Calibri" pitchFamily="34" charset="-120"/>
                        </a:rPr>
                        <a:t>accuracy ↑</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C9534B"/>
                          </a:solidFill>
                          <a:latin typeface="Calibri" pitchFamily="34" charset="0"/>
                          <a:ea typeface="Calibri" pitchFamily="34" charset="-122"/>
                          <a:cs typeface="Calibri" pitchFamily="34" charset="-120"/>
                        </a:rPr>
                        <a:t>↑  weak</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B5842B"/>
                          </a:solidFill>
                          <a:latin typeface="Calibri" pitchFamily="34" charset="0"/>
                          <a:ea typeface="Calibri" pitchFamily="34" charset="-122"/>
                          <a:cs typeface="Calibri" pitchFamily="34" charset="-120"/>
                        </a:rPr>
                        <a:t>≈ 0</a:t>
                      </a:r>
                      <a:endParaRPr lang="en-US" sz="1050" dirty="0">
                        <a:latin typeface="Calibri" charset="0"/>
                        <a:ea typeface="Calibri" charset="0"/>
                        <a:cs typeface="Calibri" charset="0"/>
                      </a:endParaRPr>
                    </a:p>
                  </a:txBody>
                  <a:tcPr marL="82296" marR="82296" marT="82296" marB="82296"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566928" y="5029200"/>
            <a:ext cx="11057839" cy="1097280"/>
          </a:xfrm>
          <a:prstGeom prst="roundRect">
            <a:avLst>
              <a:gd name="adj" fmla="val 5000"/>
            </a:avLst>
          </a:prstGeom>
          <a:solidFill>
            <a:srgbClr val="141B2E"/>
          </a:solidFill>
          <a:ln w="12700">
            <a:solidFill>
              <a:srgbClr val="333333"/>
            </a:solidFill>
            <a:prstDash val="solid"/>
          </a:ln>
        </p:spPr>
      </p:sp>
      <p:sp>
        <p:nvSpPr>
          <p:cNvPr id="6" name="Text 3"/>
          <p:cNvSpPr/>
          <p:nvPr/>
        </p:nvSpPr>
        <p:spPr>
          <a:xfrm>
            <a:off x="841248" y="5120640"/>
            <a:ext cx="10509199" cy="914400"/>
          </a:xfrm>
          <a:prstGeom prst="rect">
            <a:avLst/>
          </a:prstGeom>
          <a:noFill/>
          <a:ln/>
        </p:spPr>
        <p:txBody>
          <a:bodyPr wrap="square" lIns="0" tIns="0" rIns="0" bIns="0" rtlCol="0" anchor="ctr"/>
          <a:lstStyle/>
          <a:p>
            <a:pPr indent="0" marL="0">
              <a:lnSpc>
                <a:spcPct val="118000"/>
              </a:lnSpc>
              <a:buNone/>
            </a:pPr>
            <a:r>
              <a:rPr lang="en-US" sz="1150" b="1" dirty="0">
                <a:solidFill>
                  <a:srgbClr val="6FD3B8"/>
                </a:solidFill>
                <a:latin typeface="Calibri" pitchFamily="34" charset="0"/>
                <a:ea typeface="Calibri" pitchFamily="34" charset="-122"/>
                <a:cs typeface="Calibri" pitchFamily="34" charset="-120"/>
              </a:rPr>
              <a:t>Bridge to prior findings.   </a:t>
            </a:r>
            <a:pPr indent="0" marL="0">
              <a:lnSpc>
                <a:spcPct val="118000"/>
              </a:lnSpc>
              <a:buNone/>
            </a:pPr>
            <a:r>
              <a:rPr lang="en-US" sz="1150" dirty="0">
                <a:solidFill>
                  <a:srgbClr val="DCE6F2"/>
                </a:solidFill>
                <a:latin typeface="Calibri" pitchFamily="34" charset="0"/>
                <a:ea typeface="Calibri" pitchFamily="34" charset="-122"/>
                <a:cs typeface="Calibri" pitchFamily="34" charset="-120"/>
              </a:rPr>
              <a:t>If H2 holds for reasoning-tuned models but H1 for coder and instruct models, that would mechanistically explain both the ρ = 0.30–0.47 versus ≈ 0 alignment split of Paper 2 and the expert human pattern of discounting lexical cues — human experts peaked at L1b, which no model reproduced behaviourally.</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2E"/>
        </a:solidFill>
      </p:bgPr>
    </p:bg>
    <p:spTree>
      <p:nvGrpSpPr>
        <p:cNvPr id="1" name=""/>
        <p:cNvGrpSpPr/>
        <p:nvPr/>
      </p:nvGrpSpPr>
      <p:grpSpPr>
        <a:xfrm>
          <a:off x="0" y="0"/>
          <a:ext cx="0" cy="0"/>
          <a:chOff x="0" y="0"/>
          <a:chExt cx="0" cy="0"/>
        </a:xfrm>
      </p:grpSpPr>
      <p:sp>
        <p:nvSpPr>
          <p:cNvPr id="2" name="Shape 0"/>
          <p:cNvSpPr/>
          <p:nvPr/>
        </p:nvSpPr>
        <p:spPr>
          <a:xfrm>
            <a:off x="9509760" y="-1737360"/>
            <a:ext cx="4754880" cy="4754880"/>
          </a:xfrm>
          <a:prstGeom prst="ellipse">
            <a:avLst/>
          </a:prstGeom>
          <a:solidFill>
            <a:srgbClr val="1B3A44"/>
          </a:solidFill>
          <a:ln w="12700">
            <a:solidFill>
              <a:srgbClr val="333333"/>
            </a:solidFill>
            <a:prstDash val="solid"/>
          </a:ln>
        </p:spPr>
      </p:sp>
      <p:sp>
        <p:nvSpPr>
          <p:cNvPr id="3" name="Shape 1"/>
          <p:cNvSpPr/>
          <p:nvPr/>
        </p:nvSpPr>
        <p:spPr>
          <a:xfrm>
            <a:off x="9966960" y="4846320"/>
            <a:ext cx="3291840" cy="3291840"/>
          </a:xfrm>
          <a:prstGeom prst="ellipse">
            <a:avLst/>
          </a:prstGeom>
          <a:solidFill>
            <a:srgbClr val="3A2430"/>
          </a:solidFill>
          <a:ln w="12700">
            <a:solidFill>
              <a:srgbClr val="333333"/>
            </a:solidFill>
            <a:prstDash val="solid"/>
          </a:ln>
        </p:spPr>
      </p:sp>
      <p:sp>
        <p:nvSpPr>
          <p:cNvPr id="4" name="Shape 2"/>
          <p:cNvSpPr/>
          <p:nvPr/>
        </p:nvSpPr>
        <p:spPr>
          <a:xfrm>
            <a:off x="566928" y="713232"/>
            <a:ext cx="786384" cy="786384"/>
          </a:xfrm>
          <a:prstGeom prst="ellipse">
            <a:avLst/>
          </a:prstGeom>
          <a:solidFill>
            <a:srgbClr val="1FA184"/>
          </a:solidFill>
          <a:ln w="12700">
            <a:solidFill>
              <a:srgbClr val="333333"/>
            </a:solidFill>
            <a:prstDash val="solid"/>
          </a:ln>
        </p:spPr>
      </p:sp>
      <p:pic>
        <p:nvPicPr>
          <p:cNvPr id="5" name="Image 0" descr="preencoded.png">    </p:cNvPr>
          <p:cNvPicPr>
            <a:picLocks noChangeAspect="1"/>
          </p:cNvPicPr>
          <p:nvPr/>
        </p:nvPicPr>
        <p:blipFill>
          <a:blip r:embed="rId1"/>
          <a:stretch>
            <a:fillRect/>
          </a:stretch>
        </p:blipFill>
        <p:spPr>
          <a:xfrm>
            <a:off x="779252" y="925556"/>
            <a:ext cx="361737" cy="361737"/>
          </a:xfrm>
          <a:prstGeom prst="rect">
            <a:avLst/>
          </a:prstGeom>
        </p:spPr>
      </p:pic>
      <p:sp>
        <p:nvSpPr>
          <p:cNvPr id="6" name="Text 3"/>
          <p:cNvSpPr/>
          <p:nvPr/>
        </p:nvSpPr>
        <p:spPr>
          <a:xfrm>
            <a:off x="1591056" y="905256"/>
            <a:ext cx="7315200" cy="365760"/>
          </a:xfrm>
          <a:prstGeom prst="rect">
            <a:avLst/>
          </a:prstGeom>
          <a:noFill/>
          <a:ln/>
        </p:spPr>
        <p:txBody>
          <a:bodyPr wrap="square" lIns="0" tIns="0" rIns="0" bIns="0" rtlCol="0" anchor="ctr"/>
          <a:lstStyle/>
          <a:p>
            <a:pPr indent="0" marL="0">
              <a:buNone/>
            </a:pPr>
            <a:r>
              <a:rPr lang="en-US" sz="1150" b="1" spc="240" kern="0" dirty="0">
                <a:solidFill>
                  <a:srgbClr val="8FA3BD"/>
                </a:solidFill>
                <a:latin typeface="Calibri" pitchFamily="34" charset="0"/>
                <a:ea typeface="Calibri" pitchFamily="34" charset="-122"/>
                <a:cs typeface="Calibri" pitchFamily="34" charset="-120"/>
              </a:rPr>
              <a:t>PART III  ·  INSTRUMENT 2</a:t>
            </a:r>
            <a:endParaRPr lang="en-US" sz="1150" dirty="0"/>
          </a:p>
        </p:txBody>
      </p:sp>
      <p:sp>
        <p:nvSpPr>
          <p:cNvPr id="7" name="Text 4"/>
          <p:cNvSpPr/>
          <p:nvPr/>
        </p:nvSpPr>
        <p:spPr>
          <a:xfrm>
            <a:off x="566928" y="2148840"/>
            <a:ext cx="9692640" cy="137160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Reading the Activations</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in Plain Language</a:t>
            </a:r>
            <a:endParaRPr lang="en-US" sz="4000" dirty="0"/>
          </a:p>
        </p:txBody>
      </p:sp>
      <p:sp>
        <p:nvSpPr>
          <p:cNvPr id="8" name="Text 5"/>
          <p:cNvSpPr/>
          <p:nvPr/>
        </p:nvSpPr>
        <p:spPr>
          <a:xfrm>
            <a:off x="566928" y="3886200"/>
            <a:ext cx="9326880" cy="1005840"/>
          </a:xfrm>
          <a:prstGeom prst="rect">
            <a:avLst/>
          </a:prstGeom>
          <a:noFill/>
          <a:ln/>
        </p:spPr>
        <p:txBody>
          <a:bodyPr wrap="square" lIns="0" tIns="0" rIns="0" bIns="0" rtlCol="0" anchor="ctr"/>
          <a:lstStyle/>
          <a:p>
            <a:pPr indent="0" marL="0">
              <a:lnSpc>
                <a:spcPct val="125000"/>
              </a:lnSpc>
              <a:buNone/>
            </a:pPr>
            <a:r>
              <a:rPr lang="en-US" sz="1500" dirty="0">
                <a:solidFill>
                  <a:srgbClr val="AFC0D4"/>
                </a:solidFill>
                <a:latin typeface="Calibri" pitchFamily="34" charset="0"/>
                <a:ea typeface="Calibri" pitchFamily="34" charset="-122"/>
                <a:cs typeface="Calibri" pitchFamily="34" charset="-120"/>
              </a:rPr>
              <a:t>Natural Language Autoencoders translate residual-stream vectors into text — letting us ask what the model internally believes an obfuscated program does.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The Problem: Activations Are Unreadable</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A model’s “thoughts” are high-dimensional vectors. Existing tools each fall short in a different way — NLAs read the vector out as language.</a:t>
            </a:r>
            <a:endParaRPr lang="en-US" sz="1250" dirty="0"/>
          </a:p>
        </p:txBody>
      </p:sp>
      <p:sp>
        <p:nvSpPr>
          <p:cNvPr id="4" name="Shape 2"/>
          <p:cNvSpPr/>
          <p:nvPr/>
        </p:nvSpPr>
        <p:spPr>
          <a:xfrm>
            <a:off x="566928" y="1517904"/>
            <a:ext cx="5577840" cy="713232"/>
          </a:xfrm>
          <a:prstGeom prst="roundRect">
            <a:avLst>
              <a:gd name="adj" fmla="val 6410"/>
            </a:avLst>
          </a:prstGeom>
          <a:solidFill>
            <a:srgbClr val="141B2E"/>
          </a:solidFill>
          <a:ln w="12700">
            <a:solidFill>
              <a:srgbClr val="333333"/>
            </a:solidFill>
            <a:prstDash val="solid"/>
          </a:ln>
        </p:spPr>
      </p:sp>
      <p:sp>
        <p:nvSpPr>
          <p:cNvPr id="5" name="Text 3"/>
          <p:cNvSpPr/>
          <p:nvPr/>
        </p:nvSpPr>
        <p:spPr>
          <a:xfrm>
            <a:off x="841248" y="1517904"/>
            <a:ext cx="5029200" cy="713232"/>
          </a:xfrm>
          <a:prstGeom prst="rect">
            <a:avLst/>
          </a:prstGeom>
          <a:noFill/>
          <a:ln/>
        </p:spPr>
        <p:txBody>
          <a:bodyPr wrap="square" lIns="0" tIns="0" rIns="0" bIns="0" rtlCol="0" anchor="ctr"/>
          <a:lstStyle/>
          <a:p>
            <a:pPr indent="0" marL="0">
              <a:buNone/>
            </a:pPr>
            <a:r>
              <a:rPr lang="en-US" sz="1300" dirty="0">
                <a:solidFill>
                  <a:srgbClr val="C7D3E3"/>
                </a:solidFill>
                <a:latin typeface="Courier New" pitchFamily="34" charset="0"/>
                <a:ea typeface="Courier New" pitchFamily="34" charset="-122"/>
                <a:cs typeface="Courier New" pitchFamily="34" charset="-120"/>
              </a:rPr>
              <a:t>activation   [ 0.21   −1.84   0.07   0.99  … ]</a:t>
            </a:r>
            <a:endParaRPr lang="en-US" sz="1300" dirty="0"/>
          </a:p>
        </p:txBody>
      </p:sp>
      <p:sp>
        <p:nvSpPr>
          <p:cNvPr id="6" name="Shape 4"/>
          <p:cNvSpPr/>
          <p:nvPr/>
        </p:nvSpPr>
        <p:spPr>
          <a:xfrm>
            <a:off x="6373368" y="1773936"/>
            <a:ext cx="502920" cy="201168"/>
          </a:xfrm>
          <a:prstGeom prst="rightArrow">
            <a:avLst/>
          </a:prstGeom>
          <a:solidFill>
            <a:srgbClr val="9AA9BC"/>
          </a:solidFill>
          <a:ln w="12700">
            <a:solidFill>
              <a:srgbClr val="333333"/>
            </a:solidFill>
            <a:prstDash val="solid"/>
          </a:ln>
        </p:spPr>
      </p:sp>
      <p:sp>
        <p:nvSpPr>
          <p:cNvPr id="7" name="Text 5"/>
          <p:cNvSpPr/>
          <p:nvPr/>
        </p:nvSpPr>
        <p:spPr>
          <a:xfrm>
            <a:off x="7150608" y="1517904"/>
            <a:ext cx="1463040" cy="713232"/>
          </a:xfrm>
          <a:prstGeom prst="rect">
            <a:avLst/>
          </a:prstGeom>
          <a:noFill/>
          <a:ln/>
        </p:spPr>
        <p:txBody>
          <a:bodyPr wrap="square" lIns="0" tIns="0" rIns="0" bIns="0" rtlCol="0" anchor="ctr"/>
          <a:lstStyle/>
          <a:p>
            <a:pPr indent="0" marL="0">
              <a:buNone/>
            </a:pPr>
            <a:r>
              <a:rPr lang="en-US" sz="2600" b="1" dirty="0">
                <a:solidFill>
                  <a:srgbClr val="C9534B"/>
                </a:solidFill>
                <a:latin typeface="Cambria" pitchFamily="34" charset="0"/>
                <a:ea typeface="Cambria" pitchFamily="34" charset="-122"/>
                <a:cs typeface="Cambria" pitchFamily="34" charset="-120"/>
              </a:rPr>
              <a:t>? ? ?</a:t>
            </a:r>
            <a:endParaRPr lang="en-US" sz="2600" dirty="0"/>
          </a:p>
        </p:txBody>
      </p:sp>
      <p:sp>
        <p:nvSpPr>
          <p:cNvPr id="8" name="Shape 6"/>
          <p:cNvSpPr/>
          <p:nvPr/>
        </p:nvSpPr>
        <p:spPr>
          <a:xfrm>
            <a:off x="566928" y="2523744"/>
            <a:ext cx="3474720" cy="2432304"/>
          </a:xfrm>
          <a:prstGeom prst="roundRect">
            <a:avLst>
              <a:gd name="adj" fmla="val 1880"/>
            </a:avLst>
          </a:prstGeom>
          <a:solidFill>
            <a:srgbClr val="F3F5F8"/>
          </a:solidFill>
          <a:ln w="12700">
            <a:solidFill>
              <a:srgbClr val="333333"/>
            </a:solidFill>
            <a:prstDash val="solid"/>
          </a:ln>
        </p:spPr>
      </p:sp>
      <p:sp>
        <p:nvSpPr>
          <p:cNvPr id="9" name="Shape 7"/>
          <p:cNvSpPr/>
          <p:nvPr/>
        </p:nvSpPr>
        <p:spPr>
          <a:xfrm>
            <a:off x="841248" y="2779776"/>
            <a:ext cx="512064" cy="512064"/>
          </a:xfrm>
          <a:prstGeom prst="ellipse">
            <a:avLst/>
          </a:prstGeom>
          <a:solidFill>
            <a:srgbClr val="8899AA"/>
          </a:solidFill>
          <a:ln w="12700">
            <a:solidFill>
              <a:srgbClr val="333333"/>
            </a:solidFill>
            <a:prstDash val="solid"/>
          </a:ln>
        </p:spPr>
      </p:sp>
      <p:pic>
        <p:nvPicPr>
          <p:cNvPr id="10" name="Image 0" descr="preencoded.png">    </p:cNvPr>
          <p:cNvPicPr>
            <a:picLocks noChangeAspect="1"/>
          </p:cNvPicPr>
          <p:nvPr/>
        </p:nvPicPr>
        <p:blipFill>
          <a:blip r:embed="rId1"/>
          <a:stretch>
            <a:fillRect/>
          </a:stretch>
        </p:blipFill>
        <p:spPr>
          <a:xfrm>
            <a:off x="979505" y="2918033"/>
            <a:ext cx="235549" cy="235549"/>
          </a:xfrm>
          <a:prstGeom prst="rect">
            <a:avLst/>
          </a:prstGeom>
        </p:spPr>
      </p:pic>
      <p:sp>
        <p:nvSpPr>
          <p:cNvPr id="11" name="Text 8"/>
          <p:cNvSpPr/>
          <p:nvPr/>
        </p:nvSpPr>
        <p:spPr>
          <a:xfrm>
            <a:off x="841248" y="3401568"/>
            <a:ext cx="2926080" cy="384048"/>
          </a:xfrm>
          <a:prstGeom prst="rect">
            <a:avLst/>
          </a:prstGeom>
          <a:noFill/>
          <a:ln/>
        </p:spPr>
        <p:txBody>
          <a:bodyPr wrap="square" lIns="0" tIns="0" rIns="0" bIns="0" rtlCol="0" anchor="ctr"/>
          <a:lstStyle/>
          <a:p>
            <a:pPr indent="0" marL="0">
              <a:buNone/>
            </a:pPr>
            <a:r>
              <a:rPr lang="en-US" sz="1700" b="1" dirty="0">
                <a:solidFill>
                  <a:srgbClr val="8899AA"/>
                </a:solidFill>
                <a:latin typeface="Cambria" pitchFamily="34" charset="0"/>
                <a:ea typeface="Cambria" pitchFamily="34" charset="-122"/>
                <a:cs typeface="Cambria" pitchFamily="34" charset="-120"/>
              </a:rPr>
              <a:t>Probes</a:t>
            </a:r>
            <a:endParaRPr lang="en-US" sz="1700" dirty="0"/>
          </a:p>
        </p:txBody>
      </p:sp>
      <p:sp>
        <p:nvSpPr>
          <p:cNvPr id="12" name="Text 9"/>
          <p:cNvSpPr/>
          <p:nvPr/>
        </p:nvSpPr>
        <p:spPr>
          <a:xfrm>
            <a:off x="841248" y="3822192"/>
            <a:ext cx="2926080" cy="658368"/>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Supervised: train a classifier for a concept you have already named.</a:t>
            </a:r>
            <a:endParaRPr lang="en-US" sz="1100" dirty="0"/>
          </a:p>
        </p:txBody>
      </p:sp>
      <p:sp>
        <p:nvSpPr>
          <p:cNvPr id="13" name="Text 10"/>
          <p:cNvSpPr/>
          <p:nvPr/>
        </p:nvSpPr>
        <p:spPr>
          <a:xfrm>
            <a:off x="841248" y="4407408"/>
            <a:ext cx="2926080" cy="457200"/>
          </a:xfrm>
          <a:prstGeom prst="rect">
            <a:avLst/>
          </a:prstGeom>
          <a:noFill/>
          <a:ln/>
        </p:spPr>
        <p:txBody>
          <a:bodyPr wrap="square" lIns="0" tIns="0" rIns="0" bIns="0" rtlCol="0" anchor="ctr"/>
          <a:lstStyle/>
          <a:p>
            <a:pPr indent="0" marL="0">
              <a:lnSpc>
                <a:spcPct val="112000"/>
              </a:lnSpc>
              <a:buNone/>
            </a:pPr>
            <a:r>
              <a:rPr lang="en-US" sz="1000" b="1" dirty="0">
                <a:solidFill>
                  <a:srgbClr val="C9534B"/>
                </a:solidFill>
                <a:latin typeface="Calibri" pitchFamily="34" charset="0"/>
                <a:ea typeface="Calibri" pitchFamily="34" charset="-122"/>
                <a:cs typeface="Calibri" pitchFamily="34" charset="-120"/>
              </a:rPr>
              <a:t>Limit — </a:t>
            </a:r>
            <a:pPr indent="0" marL="0">
              <a:lnSpc>
                <a:spcPct val="112000"/>
              </a:lnSpc>
              <a:buNone/>
            </a:pPr>
            <a:r>
              <a:rPr lang="en-US" sz="1000" dirty="0">
                <a:solidFill>
                  <a:srgbClr val="55636F"/>
                </a:solidFill>
                <a:latin typeface="Calibri" pitchFamily="34" charset="0"/>
                <a:ea typeface="Calibri" pitchFamily="34" charset="-122"/>
                <a:cs typeface="Calibri" pitchFamily="34" charset="-120"/>
              </a:rPr>
              <a:t>Only finds what you look for.</a:t>
            </a:r>
            <a:endParaRPr lang="en-US" sz="1000" dirty="0"/>
          </a:p>
        </p:txBody>
      </p:sp>
      <p:sp>
        <p:nvSpPr>
          <p:cNvPr id="14" name="Shape 11"/>
          <p:cNvSpPr/>
          <p:nvPr/>
        </p:nvSpPr>
        <p:spPr>
          <a:xfrm>
            <a:off x="4352544" y="2523744"/>
            <a:ext cx="3474720" cy="2432304"/>
          </a:xfrm>
          <a:prstGeom prst="roundRect">
            <a:avLst>
              <a:gd name="adj" fmla="val 1880"/>
            </a:avLst>
          </a:prstGeom>
          <a:solidFill>
            <a:srgbClr val="EBF1F6"/>
          </a:solidFill>
          <a:ln w="12700">
            <a:solidFill>
              <a:srgbClr val="333333"/>
            </a:solidFill>
            <a:prstDash val="solid"/>
          </a:ln>
        </p:spPr>
      </p:sp>
      <p:sp>
        <p:nvSpPr>
          <p:cNvPr id="15" name="Shape 12"/>
          <p:cNvSpPr/>
          <p:nvPr/>
        </p:nvSpPr>
        <p:spPr>
          <a:xfrm>
            <a:off x="4626864" y="2779776"/>
            <a:ext cx="512064" cy="512064"/>
          </a:xfrm>
          <a:prstGeom prst="ellipse">
            <a:avLst/>
          </a:prstGeom>
          <a:solidFill>
            <a:srgbClr val="2F6383"/>
          </a:solidFill>
          <a:ln w="12700">
            <a:solidFill>
              <a:srgbClr val="333333"/>
            </a:solidFill>
            <a:prstDash val="solid"/>
          </a:ln>
        </p:spPr>
      </p:sp>
      <p:pic>
        <p:nvPicPr>
          <p:cNvPr id="16" name="Image 1" descr="preencoded.png">    </p:cNvPr>
          <p:cNvPicPr>
            <a:picLocks noChangeAspect="1"/>
          </p:cNvPicPr>
          <p:nvPr/>
        </p:nvPicPr>
        <p:blipFill>
          <a:blip r:embed="rId2"/>
          <a:stretch>
            <a:fillRect/>
          </a:stretch>
        </p:blipFill>
        <p:spPr>
          <a:xfrm>
            <a:off x="4765121" y="2918033"/>
            <a:ext cx="235549" cy="235549"/>
          </a:xfrm>
          <a:prstGeom prst="rect">
            <a:avLst/>
          </a:prstGeom>
        </p:spPr>
      </p:pic>
      <p:sp>
        <p:nvSpPr>
          <p:cNvPr id="17" name="Text 13"/>
          <p:cNvSpPr/>
          <p:nvPr/>
        </p:nvSpPr>
        <p:spPr>
          <a:xfrm>
            <a:off x="4626864" y="3401568"/>
            <a:ext cx="2926080" cy="384048"/>
          </a:xfrm>
          <a:prstGeom prst="rect">
            <a:avLst/>
          </a:prstGeom>
          <a:noFill/>
          <a:ln/>
        </p:spPr>
        <p:txBody>
          <a:bodyPr wrap="square" lIns="0" tIns="0" rIns="0" bIns="0" rtlCol="0" anchor="ctr"/>
          <a:lstStyle/>
          <a:p>
            <a:pPr indent="0" marL="0">
              <a:buNone/>
            </a:pPr>
            <a:r>
              <a:rPr lang="en-US" sz="1700" b="1" dirty="0">
                <a:solidFill>
                  <a:srgbClr val="2F6383"/>
                </a:solidFill>
                <a:latin typeface="Cambria" pitchFamily="34" charset="0"/>
                <a:ea typeface="Cambria" pitchFamily="34" charset="-122"/>
                <a:cs typeface="Cambria" pitchFamily="34" charset="-120"/>
              </a:rPr>
              <a:t>SAEs</a:t>
            </a:r>
            <a:endParaRPr lang="en-US" sz="1700" dirty="0"/>
          </a:p>
        </p:txBody>
      </p:sp>
      <p:sp>
        <p:nvSpPr>
          <p:cNvPr id="18" name="Text 14"/>
          <p:cNvSpPr/>
          <p:nvPr/>
        </p:nvSpPr>
        <p:spPr>
          <a:xfrm>
            <a:off x="4626864" y="3822192"/>
            <a:ext cx="2926080" cy="658368"/>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Unsupervised dictionary of sparse features over the activation.</a:t>
            </a:r>
            <a:endParaRPr lang="en-US" sz="1100" dirty="0"/>
          </a:p>
        </p:txBody>
      </p:sp>
      <p:sp>
        <p:nvSpPr>
          <p:cNvPr id="19" name="Text 15"/>
          <p:cNvSpPr/>
          <p:nvPr/>
        </p:nvSpPr>
        <p:spPr>
          <a:xfrm>
            <a:off x="4626864" y="4407408"/>
            <a:ext cx="2926080" cy="457200"/>
          </a:xfrm>
          <a:prstGeom prst="rect">
            <a:avLst/>
          </a:prstGeom>
          <a:noFill/>
          <a:ln/>
        </p:spPr>
        <p:txBody>
          <a:bodyPr wrap="square" lIns="0" tIns="0" rIns="0" bIns="0" rtlCol="0" anchor="ctr"/>
          <a:lstStyle/>
          <a:p>
            <a:pPr indent="0" marL="0">
              <a:lnSpc>
                <a:spcPct val="112000"/>
              </a:lnSpc>
              <a:buNone/>
            </a:pPr>
            <a:r>
              <a:rPr lang="en-US" sz="1000" b="1" dirty="0">
                <a:solidFill>
                  <a:srgbClr val="C9534B"/>
                </a:solidFill>
                <a:latin typeface="Calibri" pitchFamily="34" charset="0"/>
                <a:ea typeface="Calibri" pitchFamily="34" charset="-122"/>
                <a:cs typeface="Calibri" pitchFamily="34" charset="-120"/>
              </a:rPr>
              <a:t>Limit — </a:t>
            </a:r>
            <a:pPr indent="0" marL="0">
              <a:lnSpc>
                <a:spcPct val="112000"/>
              </a:lnSpc>
              <a:buNone/>
            </a:pPr>
            <a:r>
              <a:rPr lang="en-US" sz="1000" dirty="0">
                <a:solidFill>
                  <a:srgbClr val="55636F"/>
                </a:solidFill>
                <a:latin typeface="Calibri" pitchFamily="34" charset="0"/>
                <a:ea typeface="Calibri" pitchFamily="34" charset="-122"/>
                <a:cs typeface="Calibri" pitchFamily="34" charset="-120"/>
              </a:rPr>
              <a:t>Each feature still needs interpreting; coverage gaps remain.</a:t>
            </a:r>
            <a:endParaRPr lang="en-US" sz="1000" dirty="0"/>
          </a:p>
        </p:txBody>
      </p:sp>
      <p:sp>
        <p:nvSpPr>
          <p:cNvPr id="20" name="Shape 16"/>
          <p:cNvSpPr/>
          <p:nvPr/>
        </p:nvSpPr>
        <p:spPr>
          <a:xfrm>
            <a:off x="8138160" y="2523744"/>
            <a:ext cx="3474720" cy="2432304"/>
          </a:xfrm>
          <a:prstGeom prst="roundRect">
            <a:avLst>
              <a:gd name="adj" fmla="val 1880"/>
            </a:avLst>
          </a:prstGeom>
          <a:solidFill>
            <a:srgbClr val="E9F5F1"/>
          </a:solidFill>
          <a:ln w="12700">
            <a:solidFill>
              <a:srgbClr val="333333"/>
            </a:solidFill>
            <a:prstDash val="solid"/>
          </a:ln>
        </p:spPr>
      </p:sp>
      <p:sp>
        <p:nvSpPr>
          <p:cNvPr id="21" name="Shape 17"/>
          <p:cNvSpPr/>
          <p:nvPr/>
        </p:nvSpPr>
        <p:spPr>
          <a:xfrm>
            <a:off x="8412480" y="2779776"/>
            <a:ext cx="512064" cy="512064"/>
          </a:xfrm>
          <a:prstGeom prst="ellipse">
            <a:avLst/>
          </a:prstGeom>
          <a:solidFill>
            <a:srgbClr val="1FA184"/>
          </a:solidFill>
          <a:ln w="12700">
            <a:solidFill>
              <a:srgbClr val="333333"/>
            </a:solidFill>
            <a:prstDash val="solid"/>
          </a:ln>
        </p:spPr>
      </p:sp>
      <p:pic>
        <p:nvPicPr>
          <p:cNvPr id="22" name="Image 2" descr="preencoded.png">    </p:cNvPr>
          <p:cNvPicPr>
            <a:picLocks noChangeAspect="1"/>
          </p:cNvPicPr>
          <p:nvPr/>
        </p:nvPicPr>
        <p:blipFill>
          <a:blip r:embed="rId3"/>
          <a:stretch>
            <a:fillRect/>
          </a:stretch>
        </p:blipFill>
        <p:spPr>
          <a:xfrm>
            <a:off x="8550737" y="2918033"/>
            <a:ext cx="235549" cy="235549"/>
          </a:xfrm>
          <a:prstGeom prst="rect">
            <a:avLst/>
          </a:prstGeom>
        </p:spPr>
      </p:pic>
      <p:sp>
        <p:nvSpPr>
          <p:cNvPr id="23" name="Text 18"/>
          <p:cNvSpPr/>
          <p:nvPr/>
        </p:nvSpPr>
        <p:spPr>
          <a:xfrm>
            <a:off x="8412480" y="3401568"/>
            <a:ext cx="2926080" cy="384048"/>
          </a:xfrm>
          <a:prstGeom prst="rect">
            <a:avLst/>
          </a:prstGeom>
          <a:noFill/>
          <a:ln/>
        </p:spPr>
        <p:txBody>
          <a:bodyPr wrap="square" lIns="0" tIns="0" rIns="0" bIns="0" rtlCol="0" anchor="ctr"/>
          <a:lstStyle/>
          <a:p>
            <a:pPr indent="0" marL="0">
              <a:buNone/>
            </a:pPr>
            <a:r>
              <a:rPr lang="en-US" sz="1700" b="1" dirty="0">
                <a:solidFill>
                  <a:srgbClr val="1FA184"/>
                </a:solidFill>
                <a:latin typeface="Cambria" pitchFamily="34" charset="0"/>
                <a:ea typeface="Cambria" pitchFamily="34" charset="-122"/>
                <a:cs typeface="Cambria" pitchFamily="34" charset="-120"/>
              </a:rPr>
              <a:t>NLAs</a:t>
            </a:r>
            <a:endParaRPr lang="en-US" sz="1700" dirty="0"/>
          </a:p>
        </p:txBody>
      </p:sp>
      <p:sp>
        <p:nvSpPr>
          <p:cNvPr id="24" name="Text 19"/>
          <p:cNvSpPr/>
          <p:nvPr/>
        </p:nvSpPr>
        <p:spPr>
          <a:xfrm>
            <a:off x="8412480" y="3822192"/>
            <a:ext cx="2926080" cy="658368"/>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Unsupervised and open-vocabulary: reads the activation out as English directly.</a:t>
            </a:r>
            <a:endParaRPr lang="en-US" sz="1100" dirty="0"/>
          </a:p>
        </p:txBody>
      </p:sp>
      <p:sp>
        <p:nvSpPr>
          <p:cNvPr id="25" name="Text 20"/>
          <p:cNvSpPr/>
          <p:nvPr/>
        </p:nvSpPr>
        <p:spPr>
          <a:xfrm>
            <a:off x="8412480" y="4407408"/>
            <a:ext cx="2926080" cy="457200"/>
          </a:xfrm>
          <a:prstGeom prst="rect">
            <a:avLst/>
          </a:prstGeom>
          <a:noFill/>
          <a:ln/>
        </p:spPr>
        <p:txBody>
          <a:bodyPr wrap="square" lIns="0" tIns="0" rIns="0" bIns="0" rtlCol="0" anchor="ctr"/>
          <a:lstStyle/>
          <a:p>
            <a:pPr indent="0" marL="0">
              <a:lnSpc>
                <a:spcPct val="112000"/>
              </a:lnSpc>
              <a:buNone/>
            </a:pPr>
            <a:r>
              <a:rPr lang="en-US" sz="1000" b="1" dirty="0">
                <a:solidFill>
                  <a:srgbClr val="C9534B"/>
                </a:solidFill>
                <a:latin typeface="Calibri" pitchFamily="34" charset="0"/>
                <a:ea typeface="Calibri" pitchFamily="34" charset="-122"/>
                <a:cs typeface="Calibri" pitchFamily="34" charset="-120"/>
              </a:rPr>
              <a:t>Limit — </a:t>
            </a:r>
            <a:pPr indent="0" marL="0">
              <a:lnSpc>
                <a:spcPct val="112000"/>
              </a:lnSpc>
              <a:buNone/>
            </a:pPr>
            <a:r>
              <a:rPr lang="en-US" sz="1000" dirty="0">
                <a:solidFill>
                  <a:srgbClr val="55636F"/>
                </a:solidFill>
                <a:latin typeface="Calibri" pitchFamily="34" charset="0"/>
                <a:ea typeface="Calibri" pitchFamily="34" charset="-122"/>
                <a:cs typeface="Calibri" pitchFamily="34" charset="-120"/>
              </a:rPr>
              <a:t>Human-readable — but can confabulate.</a:t>
            </a:r>
            <a:endParaRPr lang="en-US" sz="1000" dirty="0"/>
          </a:p>
        </p:txBody>
      </p:sp>
      <p:sp>
        <p:nvSpPr>
          <p:cNvPr id="26" name="Text 21"/>
          <p:cNvSpPr/>
          <p:nvPr/>
        </p:nvSpPr>
        <p:spPr>
          <a:xfrm>
            <a:off x="566928" y="5138928"/>
            <a:ext cx="11064240" cy="310896"/>
          </a:xfrm>
          <a:prstGeom prst="rect">
            <a:avLst/>
          </a:prstGeom>
          <a:noFill/>
          <a:ln/>
        </p:spPr>
        <p:txBody>
          <a:bodyPr wrap="square" lIns="0" tIns="0" rIns="0" bIns="0" rtlCol="0" anchor="ctr"/>
          <a:lstStyle/>
          <a:p>
            <a:pPr indent="0" marL="0">
              <a:buNone/>
            </a:pPr>
            <a:r>
              <a:rPr lang="en-US" sz="1200" i="1" dirty="0">
                <a:solidFill>
                  <a:srgbClr val="68788B"/>
                </a:solidFill>
                <a:latin typeface="Calibri" pitchFamily="34" charset="0"/>
                <a:ea typeface="Calibri" pitchFamily="34" charset="-122"/>
                <a:cs typeface="Calibri" pitchFamily="34" charset="-120"/>
              </a:rPr>
              <a:t>An NLA turns that vector of numbers into a sentence you can actually read — and check.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How It Works: An Autoencoder in Words</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Two networks — an encoder that describes the activation, and a decoder that rebuilds it from that description.</a:t>
            </a:r>
            <a:endParaRPr lang="en-US" sz="1250" dirty="0"/>
          </a:p>
        </p:txBody>
      </p:sp>
      <p:sp>
        <p:nvSpPr>
          <p:cNvPr id="4" name="Text 2"/>
          <p:cNvSpPr/>
          <p:nvPr/>
        </p:nvSpPr>
        <p:spPr>
          <a:xfrm>
            <a:off x="2328520" y="1572768"/>
            <a:ext cx="3749040" cy="512064"/>
          </a:xfrm>
          <a:prstGeom prst="rect">
            <a:avLst/>
          </a:prstGeom>
          <a:noFill/>
          <a:ln/>
        </p:spPr>
        <p:txBody>
          <a:bodyPr wrap="square" lIns="0" tIns="0" rIns="0" bIns="0" rtlCol="0" anchor="ctr"/>
          <a:lstStyle/>
          <a:p>
            <a:pPr algn="ctr" indent="0" marL="0">
              <a:buNone/>
            </a:pPr>
            <a:r>
              <a:rPr lang="en-US" sz="1050" b="1" i="1" dirty="0">
                <a:solidFill>
                  <a:srgbClr val="1FA184"/>
                </a:solidFill>
                <a:latin typeface="Calibri" pitchFamily="34" charset="0"/>
                <a:ea typeface="Calibri" pitchFamily="34" charset="-122"/>
                <a:cs typeface="Calibri" pitchFamily="34" charset="-120"/>
              </a:rPr>
              <a:t>VERBALIZER  (encoder)</a:t>
            </a:r>
            <a:endParaRPr lang="en-US" sz="1050" dirty="0"/>
          </a:p>
          <a:p>
            <a:pPr algn="ctr" indent="0" marL="0">
              <a:buNone/>
            </a:pPr>
            <a:r>
              <a:rPr lang="en-US" sz="1050" b="1" i="1" dirty="0">
                <a:solidFill>
                  <a:srgbClr val="1FA184"/>
                </a:solidFill>
                <a:latin typeface="Calibri" pitchFamily="34" charset="0"/>
                <a:ea typeface="Calibri" pitchFamily="34" charset="-122"/>
                <a:cs typeface="Calibri" pitchFamily="34" charset="-120"/>
              </a:rPr>
              <a:t>activation → text</a:t>
            </a:r>
            <a:endParaRPr lang="en-US" sz="1050" dirty="0"/>
          </a:p>
        </p:txBody>
      </p:sp>
      <p:sp>
        <p:nvSpPr>
          <p:cNvPr id="5" name="Text 3"/>
          <p:cNvSpPr/>
          <p:nvPr/>
        </p:nvSpPr>
        <p:spPr>
          <a:xfrm>
            <a:off x="6095848" y="1572768"/>
            <a:ext cx="3749040" cy="512064"/>
          </a:xfrm>
          <a:prstGeom prst="rect">
            <a:avLst/>
          </a:prstGeom>
          <a:noFill/>
          <a:ln/>
        </p:spPr>
        <p:txBody>
          <a:bodyPr wrap="square" lIns="0" tIns="0" rIns="0" bIns="0" rtlCol="0" anchor="ctr"/>
          <a:lstStyle/>
          <a:p>
            <a:pPr algn="ctr" indent="0" marL="0">
              <a:buNone/>
            </a:pPr>
            <a:r>
              <a:rPr lang="en-US" sz="1050" b="1" i="1" dirty="0">
                <a:solidFill>
                  <a:srgbClr val="1FA184"/>
                </a:solidFill>
                <a:latin typeface="Calibri" pitchFamily="34" charset="0"/>
                <a:ea typeface="Calibri" pitchFamily="34" charset="-122"/>
                <a:cs typeface="Calibri" pitchFamily="34" charset="-120"/>
              </a:rPr>
              <a:t>RECONSTRUCTOR  (decoder)</a:t>
            </a:r>
            <a:endParaRPr lang="en-US" sz="1050" dirty="0"/>
          </a:p>
          <a:p>
            <a:pPr algn="ctr" indent="0" marL="0">
              <a:buNone/>
            </a:pPr>
            <a:r>
              <a:rPr lang="en-US" sz="1050" b="1" i="1" dirty="0">
                <a:solidFill>
                  <a:srgbClr val="1FA184"/>
                </a:solidFill>
                <a:latin typeface="Calibri" pitchFamily="34" charset="0"/>
                <a:ea typeface="Calibri" pitchFamily="34" charset="-122"/>
                <a:cs typeface="Calibri" pitchFamily="34" charset="-120"/>
              </a:rPr>
              <a:t>text → activation</a:t>
            </a:r>
            <a:endParaRPr lang="en-US" sz="1050" dirty="0"/>
          </a:p>
        </p:txBody>
      </p:sp>
      <p:sp>
        <p:nvSpPr>
          <p:cNvPr id="6" name="Shape 4"/>
          <p:cNvSpPr/>
          <p:nvPr/>
        </p:nvSpPr>
        <p:spPr>
          <a:xfrm>
            <a:off x="728320" y="2157984"/>
            <a:ext cx="3200400" cy="1554480"/>
          </a:xfrm>
          <a:prstGeom prst="roundRect">
            <a:avLst>
              <a:gd name="adj" fmla="val 2941"/>
            </a:avLst>
          </a:prstGeom>
          <a:solidFill>
            <a:srgbClr val="141B2E"/>
          </a:solidFill>
          <a:ln w="12700">
            <a:solidFill>
              <a:srgbClr val="333333"/>
            </a:solidFill>
            <a:prstDash val="solid"/>
          </a:ln>
        </p:spPr>
      </p:sp>
      <p:pic>
        <p:nvPicPr>
          <p:cNvPr id="7" name="Image 0" descr="preencoded.png">    </p:cNvPr>
          <p:cNvPicPr>
            <a:picLocks noChangeAspect="1"/>
          </p:cNvPicPr>
          <p:nvPr/>
        </p:nvPicPr>
        <p:blipFill>
          <a:blip r:embed="rId1"/>
          <a:stretch>
            <a:fillRect/>
          </a:stretch>
        </p:blipFill>
        <p:spPr>
          <a:xfrm>
            <a:off x="2090776" y="2359152"/>
            <a:ext cx="475488" cy="475488"/>
          </a:xfrm>
          <a:prstGeom prst="rect">
            <a:avLst/>
          </a:prstGeom>
        </p:spPr>
      </p:pic>
      <p:sp>
        <p:nvSpPr>
          <p:cNvPr id="8" name="Text 5"/>
          <p:cNvSpPr/>
          <p:nvPr/>
        </p:nvSpPr>
        <p:spPr>
          <a:xfrm>
            <a:off x="728320" y="2907792"/>
            <a:ext cx="3200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Activation</a:t>
            </a:r>
            <a:endParaRPr lang="en-US" sz="1500" dirty="0"/>
          </a:p>
        </p:txBody>
      </p:sp>
      <p:sp>
        <p:nvSpPr>
          <p:cNvPr id="9" name="Text 6"/>
          <p:cNvSpPr/>
          <p:nvPr/>
        </p:nvSpPr>
        <p:spPr>
          <a:xfrm>
            <a:off x="728320" y="3246120"/>
            <a:ext cx="3200400" cy="274320"/>
          </a:xfrm>
          <a:prstGeom prst="rect">
            <a:avLst/>
          </a:prstGeom>
          <a:noFill/>
          <a:ln/>
        </p:spPr>
        <p:txBody>
          <a:bodyPr wrap="square" lIns="0" tIns="0" rIns="0" bIns="0" rtlCol="0" anchor="ctr"/>
          <a:lstStyle/>
          <a:p>
            <a:pPr algn="ctr" indent="0" marL="0">
              <a:buNone/>
            </a:pPr>
            <a:r>
              <a:rPr lang="en-US" sz="1100" dirty="0">
                <a:solidFill>
                  <a:srgbClr val="8FA3BD"/>
                </a:solidFill>
                <a:latin typeface="Calibri" pitchFamily="34" charset="0"/>
                <a:ea typeface="Calibri" pitchFamily="34" charset="-122"/>
                <a:cs typeface="Calibri" pitchFamily="34" charset="-120"/>
              </a:rPr>
              <a:t>the raw thought (a vector)</a:t>
            </a:r>
            <a:endParaRPr lang="en-US" sz="1100" dirty="0"/>
          </a:p>
        </p:txBody>
      </p:sp>
      <p:sp>
        <p:nvSpPr>
          <p:cNvPr id="10" name="Shape 7"/>
          <p:cNvSpPr/>
          <p:nvPr/>
        </p:nvSpPr>
        <p:spPr>
          <a:xfrm>
            <a:off x="4056736" y="2807208"/>
            <a:ext cx="310896" cy="256032"/>
          </a:xfrm>
          <a:prstGeom prst="rightArrow">
            <a:avLst/>
          </a:prstGeom>
          <a:solidFill>
            <a:srgbClr val="1FA184"/>
          </a:solidFill>
          <a:ln w="12700">
            <a:solidFill>
              <a:srgbClr val="333333"/>
            </a:solidFill>
            <a:prstDash val="solid"/>
          </a:ln>
        </p:spPr>
      </p:sp>
      <p:sp>
        <p:nvSpPr>
          <p:cNvPr id="11" name="Shape 8"/>
          <p:cNvSpPr/>
          <p:nvPr/>
        </p:nvSpPr>
        <p:spPr>
          <a:xfrm>
            <a:off x="4495648" y="2157984"/>
            <a:ext cx="3200400" cy="1554480"/>
          </a:xfrm>
          <a:prstGeom prst="roundRect">
            <a:avLst>
              <a:gd name="adj" fmla="val 2941"/>
            </a:avLst>
          </a:prstGeom>
          <a:solidFill>
            <a:srgbClr val="E9F5F1"/>
          </a:solidFill>
          <a:ln w="12700">
            <a:solidFill>
              <a:srgbClr val="333333"/>
            </a:solidFill>
            <a:prstDash val="solid"/>
          </a:ln>
        </p:spPr>
      </p:sp>
      <p:pic>
        <p:nvPicPr>
          <p:cNvPr id="12" name="Image 1" descr="preencoded.png">    </p:cNvPr>
          <p:cNvPicPr>
            <a:picLocks noChangeAspect="1"/>
          </p:cNvPicPr>
          <p:nvPr/>
        </p:nvPicPr>
        <p:blipFill>
          <a:blip r:embed="rId2"/>
          <a:stretch>
            <a:fillRect/>
          </a:stretch>
        </p:blipFill>
        <p:spPr>
          <a:xfrm>
            <a:off x="5858104" y="2359152"/>
            <a:ext cx="475488" cy="475488"/>
          </a:xfrm>
          <a:prstGeom prst="rect">
            <a:avLst/>
          </a:prstGeom>
        </p:spPr>
      </p:pic>
      <p:sp>
        <p:nvSpPr>
          <p:cNvPr id="13" name="Text 9"/>
          <p:cNvSpPr/>
          <p:nvPr/>
        </p:nvSpPr>
        <p:spPr>
          <a:xfrm>
            <a:off x="4495648" y="2907792"/>
            <a:ext cx="3200400" cy="329184"/>
          </a:xfrm>
          <a:prstGeom prst="rect">
            <a:avLst/>
          </a:prstGeom>
          <a:noFill/>
          <a:ln/>
        </p:spPr>
        <p:txBody>
          <a:bodyPr wrap="square" lIns="0" tIns="0" rIns="0" bIns="0" rtlCol="0" anchor="ctr"/>
          <a:lstStyle/>
          <a:p>
            <a:pPr algn="ctr" indent="0" marL="0">
              <a:buNone/>
            </a:pPr>
            <a:r>
              <a:rPr lang="en-US" sz="1500" b="1" dirty="0">
                <a:solidFill>
                  <a:srgbClr val="1FA184"/>
                </a:solidFill>
                <a:latin typeface="Calibri" pitchFamily="34" charset="0"/>
                <a:ea typeface="Calibri" pitchFamily="34" charset="-122"/>
                <a:cs typeface="Calibri" pitchFamily="34" charset="-120"/>
              </a:rPr>
              <a:t>“Explanation”</a:t>
            </a:r>
            <a:endParaRPr lang="en-US" sz="1500" dirty="0"/>
          </a:p>
        </p:txBody>
      </p:sp>
      <p:sp>
        <p:nvSpPr>
          <p:cNvPr id="14" name="Text 10"/>
          <p:cNvSpPr/>
          <p:nvPr/>
        </p:nvSpPr>
        <p:spPr>
          <a:xfrm>
            <a:off x="4495648" y="3246120"/>
            <a:ext cx="3200400" cy="274320"/>
          </a:xfrm>
          <a:prstGeom prst="rect">
            <a:avLst/>
          </a:prstGeom>
          <a:noFill/>
          <a:ln/>
        </p:spPr>
        <p:txBody>
          <a:bodyPr wrap="square" lIns="0" tIns="0" rIns="0" bIns="0" rtlCol="0" anchor="ctr"/>
          <a:lstStyle/>
          <a:p>
            <a:pPr algn="ctr" indent="0" marL="0">
              <a:buNone/>
            </a:pPr>
            <a:r>
              <a:rPr lang="en-US" sz="1100" dirty="0">
                <a:solidFill>
                  <a:srgbClr val="3A4859"/>
                </a:solidFill>
                <a:latin typeface="Calibri" pitchFamily="34" charset="0"/>
                <a:ea typeface="Calibri" pitchFamily="34" charset="-122"/>
                <a:cs typeface="Calibri" pitchFamily="34" charset="-120"/>
              </a:rPr>
              <a:t>plain-English description</a:t>
            </a:r>
            <a:endParaRPr lang="en-US" sz="1100" dirty="0"/>
          </a:p>
        </p:txBody>
      </p:sp>
      <p:sp>
        <p:nvSpPr>
          <p:cNvPr id="15" name="Shape 11"/>
          <p:cNvSpPr/>
          <p:nvPr/>
        </p:nvSpPr>
        <p:spPr>
          <a:xfrm>
            <a:off x="7824064" y="2807208"/>
            <a:ext cx="310896" cy="256032"/>
          </a:xfrm>
          <a:prstGeom prst="rightArrow">
            <a:avLst/>
          </a:prstGeom>
          <a:solidFill>
            <a:srgbClr val="1FA184"/>
          </a:solidFill>
          <a:ln w="12700">
            <a:solidFill>
              <a:srgbClr val="333333"/>
            </a:solidFill>
            <a:prstDash val="solid"/>
          </a:ln>
        </p:spPr>
      </p:sp>
      <p:sp>
        <p:nvSpPr>
          <p:cNvPr id="16" name="Shape 12"/>
          <p:cNvSpPr/>
          <p:nvPr/>
        </p:nvSpPr>
        <p:spPr>
          <a:xfrm>
            <a:off x="8262976" y="2157984"/>
            <a:ext cx="3200400" cy="1554480"/>
          </a:xfrm>
          <a:prstGeom prst="roundRect">
            <a:avLst>
              <a:gd name="adj" fmla="val 2941"/>
            </a:avLst>
          </a:prstGeom>
          <a:solidFill>
            <a:srgbClr val="141B2E"/>
          </a:solidFill>
          <a:ln w="12700">
            <a:solidFill>
              <a:srgbClr val="333333"/>
            </a:solidFill>
            <a:prstDash val="solid"/>
          </a:ln>
        </p:spPr>
      </p:sp>
      <p:pic>
        <p:nvPicPr>
          <p:cNvPr id="17" name="Image 2" descr="preencoded.png">    </p:cNvPr>
          <p:cNvPicPr>
            <a:picLocks noChangeAspect="1"/>
          </p:cNvPicPr>
          <p:nvPr/>
        </p:nvPicPr>
        <p:blipFill>
          <a:blip r:embed="rId3"/>
          <a:stretch>
            <a:fillRect/>
          </a:stretch>
        </p:blipFill>
        <p:spPr>
          <a:xfrm>
            <a:off x="9625432" y="2359152"/>
            <a:ext cx="475488" cy="475488"/>
          </a:xfrm>
          <a:prstGeom prst="rect">
            <a:avLst/>
          </a:prstGeom>
        </p:spPr>
      </p:pic>
      <p:sp>
        <p:nvSpPr>
          <p:cNvPr id="18" name="Text 13"/>
          <p:cNvSpPr/>
          <p:nvPr/>
        </p:nvSpPr>
        <p:spPr>
          <a:xfrm>
            <a:off x="8262976" y="2907792"/>
            <a:ext cx="3200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Rebuilt activation</a:t>
            </a:r>
            <a:endParaRPr lang="en-US" sz="1500" dirty="0"/>
          </a:p>
        </p:txBody>
      </p:sp>
      <p:sp>
        <p:nvSpPr>
          <p:cNvPr id="19" name="Text 14"/>
          <p:cNvSpPr/>
          <p:nvPr/>
        </p:nvSpPr>
        <p:spPr>
          <a:xfrm>
            <a:off x="8262976" y="3246120"/>
            <a:ext cx="3200400" cy="274320"/>
          </a:xfrm>
          <a:prstGeom prst="rect">
            <a:avLst/>
          </a:prstGeom>
          <a:noFill/>
          <a:ln/>
        </p:spPr>
        <p:txBody>
          <a:bodyPr wrap="square" lIns="0" tIns="0" rIns="0" bIns="0" rtlCol="0" anchor="ctr"/>
          <a:lstStyle/>
          <a:p>
            <a:pPr algn="ctr" indent="0" marL="0">
              <a:buNone/>
            </a:pPr>
            <a:r>
              <a:rPr lang="en-US" sz="1100" dirty="0">
                <a:solidFill>
                  <a:srgbClr val="8FA3BD"/>
                </a:solidFill>
                <a:latin typeface="Calibri" pitchFamily="34" charset="0"/>
                <a:ea typeface="Calibri" pitchFamily="34" charset="-122"/>
                <a:cs typeface="Calibri" pitchFamily="34" charset="-120"/>
              </a:rPr>
              <a:t>must match the original</a:t>
            </a:r>
            <a:endParaRPr lang="en-US" sz="1100" dirty="0"/>
          </a:p>
        </p:txBody>
      </p:sp>
      <p:sp>
        <p:nvSpPr>
          <p:cNvPr id="20" name="Shape 15"/>
          <p:cNvSpPr/>
          <p:nvPr/>
        </p:nvSpPr>
        <p:spPr>
          <a:xfrm>
            <a:off x="566928" y="4114800"/>
            <a:ext cx="11057839" cy="914400"/>
          </a:xfrm>
          <a:prstGeom prst="roundRect">
            <a:avLst>
              <a:gd name="adj" fmla="val 6000"/>
            </a:avLst>
          </a:prstGeom>
          <a:solidFill>
            <a:srgbClr val="141B2E"/>
          </a:solidFill>
          <a:ln w="12700">
            <a:solidFill>
              <a:srgbClr val="333333"/>
            </a:solidFill>
            <a:prstDash val="solid"/>
          </a:ln>
        </p:spPr>
      </p:sp>
      <p:sp>
        <p:nvSpPr>
          <p:cNvPr id="21" name="Text 16"/>
          <p:cNvSpPr/>
          <p:nvPr/>
        </p:nvSpPr>
        <p:spPr>
          <a:xfrm>
            <a:off x="841248" y="4206240"/>
            <a:ext cx="10509199" cy="731520"/>
          </a:xfrm>
          <a:prstGeom prst="rect">
            <a:avLst/>
          </a:prstGeom>
          <a:noFill/>
          <a:ln/>
        </p:spPr>
        <p:txBody>
          <a:bodyPr wrap="square" lIns="0" tIns="0" rIns="0" bIns="0" rtlCol="0" anchor="ctr"/>
          <a:lstStyle/>
          <a:p>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Both are language models, </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trained together so that the round trip preserves the activation — the explanation is squeezed through a bottleneck of words. The test of a good explanation: if the decoder can rebuild the thought from the text alone, the text captured something real.</a:t>
            </a:r>
            <a:endParaRPr lang="en-US" sz="1250" dirty="0"/>
          </a:p>
        </p:txBody>
      </p:sp>
      <p:sp>
        <p:nvSpPr>
          <p:cNvPr id="22" name="Text 17"/>
          <p:cNvSpPr/>
          <p:nvPr/>
        </p:nvSpPr>
        <p:spPr>
          <a:xfrm>
            <a:off x="566928" y="5193792"/>
            <a:ext cx="11064240" cy="310896"/>
          </a:xfrm>
          <a:prstGeom prst="rect">
            <a:avLst/>
          </a:prstGeom>
          <a:noFill/>
          <a:ln/>
        </p:spPr>
        <p:txBody>
          <a:bodyPr wrap="square" lIns="0" tIns="0" rIns="0" bIns="0" rtlCol="0" anchor="ctr"/>
          <a:lstStyle/>
          <a:p>
            <a:pPr indent="0" marL="0">
              <a:buNone/>
            </a:pPr>
            <a:r>
              <a:rPr lang="en-US" sz="1100" i="1" dirty="0">
                <a:solidFill>
                  <a:srgbClr val="68788B"/>
                </a:solidFill>
                <a:latin typeface="Calibri" pitchFamily="34" charset="0"/>
                <a:ea typeface="Calibri" pitchFamily="34" charset="-122"/>
                <a:cs typeface="Calibri" pitchFamily="34" charset="-120"/>
              </a:rPr>
              <a:t>Reward is reconstruction only — there is no supervision anywhere on “what activations mean.”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Trained by Reconstruction — and Measurably Faithful</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The verbaliser is rewarded when its words let the reconstructor rebuild the activation. Reconstruction quality is the honesty check.</a:t>
            </a:r>
            <a:endParaRPr lang="en-US" sz="1250" dirty="0"/>
          </a:p>
        </p:txBody>
      </p:sp>
      <p:sp>
        <p:nvSpPr>
          <p:cNvPr id="4" name="Shape 2"/>
          <p:cNvSpPr/>
          <p:nvPr/>
        </p:nvSpPr>
        <p:spPr>
          <a:xfrm>
            <a:off x="566928" y="1517904"/>
            <a:ext cx="5394960" cy="2743200"/>
          </a:xfrm>
          <a:prstGeom prst="roundRect">
            <a:avLst>
              <a:gd name="adj" fmla="val 1667"/>
            </a:avLst>
          </a:prstGeom>
          <a:solidFill>
            <a:srgbClr val="F3F5F8"/>
          </a:solidFill>
          <a:ln w="12700">
            <a:solidFill>
              <a:srgbClr val="333333"/>
            </a:solidFill>
            <a:prstDash val="solid"/>
          </a:ln>
        </p:spPr>
      </p:sp>
      <p:sp>
        <p:nvSpPr>
          <p:cNvPr id="5" name="Text 3"/>
          <p:cNvSpPr/>
          <p:nvPr/>
        </p:nvSpPr>
        <p:spPr>
          <a:xfrm>
            <a:off x="841248" y="1755648"/>
            <a:ext cx="4846320" cy="274320"/>
          </a:xfrm>
          <a:prstGeom prst="rect">
            <a:avLst/>
          </a:prstGeom>
          <a:noFill/>
          <a:ln/>
        </p:spPr>
        <p:txBody>
          <a:bodyPr wrap="square" lIns="0" tIns="0" rIns="0" bIns="0" rtlCol="0" anchor="ctr"/>
          <a:lstStyle/>
          <a:p>
            <a:pPr indent="0" marL="0">
              <a:buNone/>
            </a:pPr>
            <a:r>
              <a:rPr lang="en-US" sz="1000" b="1" spc="140" kern="0" dirty="0">
                <a:solidFill>
                  <a:srgbClr val="68788B"/>
                </a:solidFill>
                <a:latin typeface="Calibri" pitchFamily="34" charset="0"/>
                <a:ea typeface="Calibri" pitchFamily="34" charset="-122"/>
                <a:cs typeface="Calibri" pitchFamily="34" charset="-120"/>
              </a:rPr>
              <a:t>THE OBJECTIVE</a:t>
            </a:r>
            <a:endParaRPr lang="en-US" sz="1000" dirty="0"/>
          </a:p>
        </p:txBody>
      </p:sp>
      <p:sp>
        <p:nvSpPr>
          <p:cNvPr id="6" name="Text 4"/>
          <p:cNvSpPr/>
          <p:nvPr/>
        </p:nvSpPr>
        <p:spPr>
          <a:xfrm>
            <a:off x="841248" y="2084832"/>
            <a:ext cx="4846320" cy="347472"/>
          </a:xfrm>
          <a:prstGeom prst="rect">
            <a:avLst/>
          </a:prstGeom>
          <a:noFill/>
          <a:ln/>
        </p:spPr>
        <p:txBody>
          <a:bodyPr wrap="square" lIns="0" tIns="0" rIns="0" bIns="0" rtlCol="0" anchor="ctr"/>
          <a:lstStyle/>
          <a:p>
            <a:pPr indent="0" marL="0">
              <a:buNone/>
            </a:pPr>
            <a:r>
              <a:rPr lang="en-US" sz="1400" dirty="0">
                <a:solidFill>
                  <a:srgbClr val="16202F"/>
                </a:solidFill>
                <a:latin typeface="Calibri" pitchFamily="34" charset="0"/>
                <a:ea typeface="Calibri" pitchFamily="34" charset="-122"/>
                <a:cs typeface="Calibri" pitchFamily="34" charset="-120"/>
              </a:rPr>
              <a:t>Reconstruct the activation:   </a:t>
            </a:r>
            <a:pPr indent="0" marL="0">
              <a:buNone/>
            </a:pPr>
            <a:r>
              <a:rPr lang="en-US" sz="1400" b="1" dirty="0">
                <a:solidFill>
                  <a:srgbClr val="1FA184"/>
                </a:solidFill>
                <a:latin typeface="Courier New" pitchFamily="34" charset="0"/>
                <a:ea typeface="Courier New" pitchFamily="34" charset="-122"/>
                <a:cs typeface="Courier New" pitchFamily="34" charset="-120"/>
              </a:rPr>
              <a:t>AR( AV(h) )  ≈  h</a:t>
            </a:r>
            <a:endParaRPr lang="en-US" sz="1400" dirty="0"/>
          </a:p>
        </p:txBody>
      </p:sp>
      <p:sp>
        <p:nvSpPr>
          <p:cNvPr id="7" name="Text 5"/>
          <p:cNvSpPr/>
          <p:nvPr/>
        </p:nvSpPr>
        <p:spPr>
          <a:xfrm>
            <a:off x="859536" y="2578608"/>
            <a:ext cx="4791456" cy="146304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3A4859"/>
                </a:solidFill>
                <a:latin typeface="Calibri" pitchFamily="34" charset="0"/>
                <a:ea typeface="Calibri" pitchFamily="34" charset="-122"/>
                <a:cs typeface="Calibri" pitchFamily="34" charset="-120"/>
              </a:rPr>
              <a:t>Warm-start both networks with supervised fine-tuning.</a:t>
            </a:r>
            <a:endParaRPr lang="en-US" sz="1150" dirty="0"/>
          </a:p>
          <a:p>
            <a:pPr marL="342900" indent="-342900">
              <a:spcAft>
                <a:spcPts val="800"/>
              </a:spcAft>
              <a:buSzPct val="100000"/>
              <a:buChar char="•"/>
            </a:pPr>
            <a:r>
              <a:rPr lang="en-US" sz="1150" dirty="0">
                <a:solidFill>
                  <a:srgbClr val="3A4859"/>
                </a:solidFill>
                <a:latin typeface="Calibri" pitchFamily="34" charset="0"/>
                <a:ea typeface="Calibri" pitchFamily="34" charset="-122"/>
                <a:cs typeface="Calibri" pitchFamily="34" charset="-120"/>
              </a:rPr>
              <a:t>Then jointly optimise with RL — reward is how well the text rebuilds the activation.</a:t>
            </a:r>
            <a:endParaRPr lang="en-US" sz="1150" dirty="0"/>
          </a:p>
          <a:p>
            <a:pPr marL="342900" indent="-342900">
              <a:spcAft>
                <a:spcPts val="800"/>
              </a:spcAft>
              <a:buSzPct val="100000"/>
              <a:buChar char="•"/>
            </a:pPr>
            <a:r>
              <a:rPr lang="en-US" sz="1150" dirty="0">
                <a:solidFill>
                  <a:srgbClr val="3A4859"/>
                </a:solidFill>
                <a:latin typeface="Calibri" pitchFamily="34" charset="0"/>
                <a:ea typeface="Calibri" pitchFamily="34" charset="-122"/>
                <a:cs typeface="Calibri" pitchFamily="34" charset="-120"/>
              </a:rPr>
              <a:t>The word bottleneck forces the explanation to carry the real content.</a:t>
            </a:r>
            <a:endParaRPr lang="en-US" sz="1150" dirty="0"/>
          </a:p>
        </p:txBody>
      </p:sp>
      <p:sp>
        <p:nvSpPr>
          <p:cNvPr id="8" name="Shape 6"/>
          <p:cNvSpPr/>
          <p:nvPr/>
        </p:nvSpPr>
        <p:spPr>
          <a:xfrm>
            <a:off x="6227064" y="1517904"/>
            <a:ext cx="5394960" cy="2743200"/>
          </a:xfrm>
          <a:prstGeom prst="roundRect">
            <a:avLst>
              <a:gd name="adj" fmla="val 1667"/>
            </a:avLst>
          </a:prstGeom>
          <a:solidFill>
            <a:srgbClr val="E9F5F1"/>
          </a:solidFill>
          <a:ln w="12700">
            <a:solidFill>
              <a:srgbClr val="333333"/>
            </a:solidFill>
            <a:prstDash val="solid"/>
          </a:ln>
        </p:spPr>
      </p:sp>
      <p:sp>
        <p:nvSpPr>
          <p:cNvPr id="9" name="Text 7"/>
          <p:cNvSpPr/>
          <p:nvPr/>
        </p:nvSpPr>
        <p:spPr>
          <a:xfrm>
            <a:off x="6501384" y="1755648"/>
            <a:ext cx="4846320" cy="274320"/>
          </a:xfrm>
          <a:prstGeom prst="rect">
            <a:avLst/>
          </a:prstGeom>
          <a:noFill/>
          <a:ln/>
        </p:spPr>
        <p:txBody>
          <a:bodyPr wrap="square" lIns="0" tIns="0" rIns="0" bIns="0" rtlCol="0" anchor="ctr"/>
          <a:lstStyle/>
          <a:p>
            <a:pPr indent="0" marL="0">
              <a:buNone/>
            </a:pPr>
            <a:r>
              <a:rPr lang="en-US" sz="1000" b="1" spc="140" kern="0" dirty="0">
                <a:solidFill>
                  <a:srgbClr val="1FA184"/>
                </a:solidFill>
                <a:latin typeface="Calibri" pitchFamily="34" charset="0"/>
                <a:ea typeface="Calibri" pitchFamily="34" charset="-122"/>
                <a:cs typeface="Calibri" pitchFamily="34" charset="-120"/>
              </a:rPr>
              <a:t>THE FAITHFULNESS CHECK  ·  FVE</a:t>
            </a:r>
            <a:endParaRPr lang="en-US" sz="1000" dirty="0"/>
          </a:p>
        </p:txBody>
      </p:sp>
      <p:sp>
        <p:nvSpPr>
          <p:cNvPr id="10" name="Text 8"/>
          <p:cNvSpPr/>
          <p:nvPr/>
        </p:nvSpPr>
        <p:spPr>
          <a:xfrm>
            <a:off x="6501384" y="2084832"/>
            <a:ext cx="4846320" cy="457200"/>
          </a:xfrm>
          <a:prstGeom prst="rect">
            <a:avLst/>
          </a:prstGeom>
          <a:noFill/>
          <a:ln/>
        </p:spPr>
        <p:txBody>
          <a:bodyPr wrap="square" lIns="0" tIns="0" rIns="0" bIns="0" rtlCol="0" anchor="ctr"/>
          <a:lstStyle/>
          <a:p>
            <a:pPr indent="0" marL="0">
              <a:lnSpc>
                <a:spcPct val="114000"/>
              </a:lnSpc>
              <a:buNone/>
            </a:pPr>
            <a:r>
              <a:rPr lang="en-US" sz="1150" dirty="0">
                <a:solidFill>
                  <a:srgbClr val="3A4859"/>
                </a:solidFill>
                <a:latin typeface="Calibri" pitchFamily="34" charset="0"/>
                <a:ea typeface="Calibri" pitchFamily="34" charset="-122"/>
                <a:cs typeface="Calibri" pitchFamily="34" charset="-120"/>
              </a:rPr>
              <a:t>Fraction of Variance Explained — how much of the activation the text recovers.</a:t>
            </a:r>
            <a:endParaRPr lang="en-US" sz="1150" dirty="0"/>
          </a:p>
        </p:txBody>
      </p:sp>
      <p:sp>
        <p:nvSpPr>
          <p:cNvPr id="11" name="Shape 9"/>
          <p:cNvSpPr/>
          <p:nvPr/>
        </p:nvSpPr>
        <p:spPr>
          <a:xfrm>
            <a:off x="6501384" y="2706624"/>
            <a:ext cx="4846320" cy="384048"/>
          </a:xfrm>
          <a:prstGeom prst="roundRect">
            <a:avLst>
              <a:gd name="adj" fmla="val 47619"/>
            </a:avLst>
          </a:prstGeom>
          <a:solidFill>
            <a:srgbClr val="D3E7DF"/>
          </a:solidFill>
          <a:ln w="12700">
            <a:solidFill>
              <a:srgbClr val="333333"/>
            </a:solidFill>
            <a:prstDash val="solid"/>
          </a:ln>
        </p:spPr>
      </p:sp>
      <p:sp>
        <p:nvSpPr>
          <p:cNvPr id="12" name="Shape 10"/>
          <p:cNvSpPr/>
          <p:nvPr/>
        </p:nvSpPr>
        <p:spPr>
          <a:xfrm>
            <a:off x="6501384" y="2706624"/>
            <a:ext cx="3440887" cy="384048"/>
          </a:xfrm>
          <a:prstGeom prst="roundRect">
            <a:avLst>
              <a:gd name="adj" fmla="val 47619"/>
            </a:avLst>
          </a:prstGeom>
          <a:solidFill>
            <a:srgbClr val="1FA184"/>
          </a:solidFill>
          <a:ln w="12700">
            <a:solidFill>
              <a:srgbClr val="333333"/>
            </a:solidFill>
            <a:prstDash val="solid"/>
          </a:ln>
        </p:spPr>
      </p:sp>
      <p:sp>
        <p:nvSpPr>
          <p:cNvPr id="13" name="Text 11"/>
          <p:cNvSpPr/>
          <p:nvPr/>
        </p:nvSpPr>
        <p:spPr>
          <a:xfrm>
            <a:off x="6501384" y="3163824"/>
            <a:ext cx="2377440" cy="274320"/>
          </a:xfrm>
          <a:prstGeom prst="rect">
            <a:avLst/>
          </a:prstGeom>
          <a:noFill/>
          <a:ln/>
        </p:spPr>
        <p:txBody>
          <a:bodyPr wrap="square" lIns="0" tIns="0" rIns="0" bIns="0" rtlCol="0" anchor="ctr"/>
          <a:lstStyle/>
          <a:p>
            <a:pPr indent="0" marL="0">
              <a:buNone/>
            </a:pPr>
            <a:r>
              <a:rPr lang="en-US" sz="1000" dirty="0">
                <a:solidFill>
                  <a:srgbClr val="6E8A80"/>
                </a:solidFill>
                <a:latin typeface="Calibri" pitchFamily="34" charset="0"/>
                <a:ea typeface="Calibri" pitchFamily="34" charset="-122"/>
                <a:cs typeface="Calibri" pitchFamily="34" charset="-120"/>
              </a:rPr>
              <a:t>warm-start ≈ 0.3–0.4</a:t>
            </a:r>
            <a:endParaRPr lang="en-US" sz="1000" dirty="0"/>
          </a:p>
        </p:txBody>
      </p:sp>
      <p:sp>
        <p:nvSpPr>
          <p:cNvPr id="14" name="Text 12"/>
          <p:cNvSpPr/>
          <p:nvPr/>
        </p:nvSpPr>
        <p:spPr>
          <a:xfrm>
            <a:off x="8970264" y="3163824"/>
            <a:ext cx="2377440" cy="274320"/>
          </a:xfrm>
          <a:prstGeom prst="rect">
            <a:avLst/>
          </a:prstGeom>
          <a:noFill/>
          <a:ln/>
        </p:spPr>
        <p:txBody>
          <a:bodyPr wrap="square" lIns="0" tIns="0" rIns="0" bIns="0" rtlCol="0" anchor="ctr"/>
          <a:lstStyle/>
          <a:p>
            <a:pPr algn="r" indent="0" marL="0">
              <a:buNone/>
            </a:pPr>
            <a:r>
              <a:rPr lang="en-US" sz="1000" b="1" dirty="0">
                <a:solidFill>
                  <a:srgbClr val="1FA184"/>
                </a:solidFill>
                <a:latin typeface="Calibri" pitchFamily="34" charset="0"/>
                <a:ea typeface="Calibri" pitchFamily="34" charset="-122"/>
                <a:cs typeface="Calibri" pitchFamily="34" charset="-120"/>
              </a:rPr>
              <a:t>trained ≈ 0.6–0.8</a:t>
            </a:r>
            <a:endParaRPr lang="en-US" sz="1000" dirty="0"/>
          </a:p>
        </p:txBody>
      </p:sp>
      <p:sp>
        <p:nvSpPr>
          <p:cNvPr id="15" name="Text 13"/>
          <p:cNvSpPr/>
          <p:nvPr/>
        </p:nvSpPr>
        <p:spPr>
          <a:xfrm>
            <a:off x="6501384" y="3529584"/>
            <a:ext cx="4846320" cy="548640"/>
          </a:xfrm>
          <a:prstGeom prst="rect">
            <a:avLst/>
          </a:prstGeom>
          <a:noFill/>
          <a:ln/>
        </p:spPr>
        <p:txBody>
          <a:bodyPr wrap="square" lIns="0" tIns="0" rIns="0" bIns="0" rtlCol="0" anchor="ctr"/>
          <a:lstStyle/>
          <a:p>
            <a:pPr indent="0" marL="0">
              <a:lnSpc>
                <a:spcPct val="114000"/>
              </a:lnSpc>
              <a:buNone/>
            </a:pPr>
            <a:r>
              <a:rPr lang="en-US" sz="1100" i="1" dirty="0">
                <a:solidFill>
                  <a:srgbClr val="3A4859"/>
                </a:solidFill>
                <a:latin typeface="Calibri" pitchFamily="34" charset="0"/>
                <a:ea typeface="Calibri" pitchFamily="34" charset="-122"/>
                <a:cs typeface="Calibri" pitchFamily="34" charset="-120"/>
              </a:rPr>
              <a:t>Reference point: Gemma-3-27B went from 0.38 to 0.71 in roughly 1.5 days on 2 × 8 × H100.</a:t>
            </a:r>
            <a:endParaRPr lang="en-US" sz="1100" dirty="0"/>
          </a:p>
        </p:txBody>
      </p:sp>
      <p:sp>
        <p:nvSpPr>
          <p:cNvPr id="16" name="Shape 14"/>
          <p:cNvSpPr/>
          <p:nvPr/>
        </p:nvSpPr>
        <p:spPr>
          <a:xfrm>
            <a:off x="566928" y="4590288"/>
            <a:ext cx="11057839" cy="786384"/>
          </a:xfrm>
          <a:prstGeom prst="roundRect">
            <a:avLst>
              <a:gd name="adj" fmla="val 6977"/>
            </a:avLst>
          </a:prstGeom>
          <a:solidFill>
            <a:srgbClr val="141B2E"/>
          </a:solidFill>
          <a:ln w="12700">
            <a:solidFill>
              <a:srgbClr val="333333"/>
            </a:solidFill>
            <a:prstDash val="solid"/>
          </a:ln>
        </p:spPr>
      </p:sp>
      <p:sp>
        <p:nvSpPr>
          <p:cNvPr id="17" name="Text 15"/>
          <p:cNvSpPr/>
          <p:nvPr/>
        </p:nvSpPr>
        <p:spPr>
          <a:xfrm>
            <a:off x="841248" y="4681728"/>
            <a:ext cx="10509199" cy="603504"/>
          </a:xfrm>
          <a:prstGeom prst="rect">
            <a:avLst/>
          </a:prstGeom>
          <a:noFill/>
          <a:ln/>
        </p:spPr>
        <p:txBody>
          <a:bodyPr wrap="square" lIns="0" tIns="0" rIns="0" bIns="0" rtlCol="0" anchor="ctr"/>
          <a:lstStyle/>
          <a:p>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One caveat of scope:  </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an NLA is trained for a single layer — the readout is layer-specific, so where you attach it matters. We therefore train at two depths per target model.</a:t>
            </a:r>
            <a:endParaRPr lang="en-US" sz="1250" dirty="0"/>
          </a:p>
        </p:txBody>
      </p:sp>
      <p:sp>
        <p:nvSpPr>
          <p:cNvPr id="18" name="Text 16"/>
          <p:cNvSpPr/>
          <p:nvPr/>
        </p:nvSpPr>
        <p:spPr>
          <a:xfrm>
            <a:off x="566928" y="5577840"/>
            <a:ext cx="11064240" cy="310896"/>
          </a:xfrm>
          <a:prstGeom prst="rect">
            <a:avLst/>
          </a:prstGeom>
          <a:noFill/>
          <a:ln/>
        </p:spPr>
        <p:txBody>
          <a:bodyPr wrap="square" lIns="0" tIns="0" rIns="0" bIns="0" rtlCol="0" anchor="ctr"/>
          <a:lstStyle/>
          <a:p>
            <a:pPr indent="0" marL="0">
              <a:buNone/>
            </a:pPr>
            <a:r>
              <a:rPr lang="en-US" sz="1100" i="1" dirty="0">
                <a:solidFill>
                  <a:srgbClr val="68788B"/>
                </a:solidFill>
                <a:latin typeface="Calibri" pitchFamily="34" charset="0"/>
                <a:ea typeface="Calibri" pitchFamily="34" charset="-122"/>
                <a:cs typeface="Calibri" pitchFamily="34" charset="-120"/>
              </a:rPr>
              <a:t>Training code and trained NLAs for open models are already released, which is what makes this track feasible on a 16-week schedule.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What NLAs Have Already Revealed</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Six findings from the source work — the recurring theme is surfacing states the model never says out loud.</a:t>
            </a:r>
            <a:endParaRPr lang="en-US" sz="1250" dirty="0"/>
          </a:p>
        </p:txBody>
      </p:sp>
      <p:sp>
        <p:nvSpPr>
          <p:cNvPr id="4" name="Shape 2"/>
          <p:cNvSpPr/>
          <p:nvPr/>
        </p:nvSpPr>
        <p:spPr>
          <a:xfrm>
            <a:off x="566928" y="1517904"/>
            <a:ext cx="3474720" cy="1572768"/>
          </a:xfrm>
          <a:prstGeom prst="roundRect">
            <a:avLst>
              <a:gd name="adj" fmla="val 2907"/>
            </a:avLst>
          </a:prstGeom>
          <a:solidFill>
            <a:srgbClr val="F3F5F8"/>
          </a:solidFill>
          <a:ln w="12700">
            <a:solidFill>
              <a:srgbClr val="333333"/>
            </a:solidFill>
            <a:prstDash val="solid"/>
          </a:ln>
        </p:spPr>
      </p:sp>
      <p:sp>
        <p:nvSpPr>
          <p:cNvPr id="5" name="Shape 3"/>
          <p:cNvSpPr/>
          <p:nvPr/>
        </p:nvSpPr>
        <p:spPr>
          <a:xfrm>
            <a:off x="822960" y="1755648"/>
            <a:ext cx="438912" cy="438912"/>
          </a:xfrm>
          <a:prstGeom prst="ellipse">
            <a:avLst/>
          </a:prstGeom>
          <a:solidFill>
            <a:srgbClr val="1FA184"/>
          </a:solidFill>
          <a:ln w="12700">
            <a:solidFill>
              <a:srgbClr val="333333"/>
            </a:solidFill>
            <a:prstDash val="solid"/>
          </a:ln>
        </p:spPr>
      </p:sp>
      <p:pic>
        <p:nvPicPr>
          <p:cNvPr id="6" name="Image 0" descr="preencoded.png">    </p:cNvPr>
          <p:cNvPicPr>
            <a:picLocks noChangeAspect="1"/>
          </p:cNvPicPr>
          <p:nvPr/>
        </p:nvPicPr>
        <p:blipFill>
          <a:blip r:embed="rId1"/>
          <a:stretch>
            <a:fillRect/>
          </a:stretch>
        </p:blipFill>
        <p:spPr>
          <a:xfrm>
            <a:off x="941466" y="1874154"/>
            <a:ext cx="201900" cy="201900"/>
          </a:xfrm>
          <a:prstGeom prst="rect">
            <a:avLst/>
          </a:prstGeom>
        </p:spPr>
      </p:pic>
      <p:sp>
        <p:nvSpPr>
          <p:cNvPr id="7" name="Text 4"/>
          <p:cNvSpPr/>
          <p:nvPr/>
        </p:nvSpPr>
        <p:spPr>
          <a:xfrm>
            <a:off x="1353312" y="1773936"/>
            <a:ext cx="2450592" cy="402336"/>
          </a:xfrm>
          <a:prstGeom prst="rect">
            <a:avLst/>
          </a:prstGeom>
          <a:noFill/>
          <a:ln/>
        </p:spPr>
        <p:txBody>
          <a:bodyPr wrap="square" lIns="0" tIns="0" rIns="0" bIns="0" rtlCol="0" anchor="ctr"/>
          <a:lstStyle/>
          <a:p>
            <a:pPr indent="0" marL="0">
              <a:lnSpc>
                <a:spcPct val="104000"/>
              </a:lnSpc>
              <a:buNone/>
            </a:pPr>
            <a:r>
              <a:rPr lang="en-US" sz="1250" b="1" dirty="0">
                <a:solidFill>
                  <a:srgbClr val="16202F"/>
                </a:solidFill>
                <a:latin typeface="Calibri" pitchFamily="34" charset="0"/>
                <a:ea typeface="Calibri" pitchFamily="34" charset="-122"/>
                <a:cs typeface="Calibri" pitchFamily="34" charset="-120"/>
              </a:rPr>
              <a:t>Planning in poetry</a:t>
            </a:r>
            <a:endParaRPr lang="en-US" sz="1250" dirty="0"/>
          </a:p>
        </p:txBody>
      </p:sp>
      <p:sp>
        <p:nvSpPr>
          <p:cNvPr id="8" name="Text 5"/>
          <p:cNvSpPr/>
          <p:nvPr/>
        </p:nvSpPr>
        <p:spPr>
          <a:xfrm>
            <a:off x="822960" y="2304288"/>
            <a:ext cx="2962656" cy="658368"/>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The model plans a line’s rhyme before it writes the line.</a:t>
            </a:r>
            <a:endParaRPr lang="en-US" sz="1050" dirty="0"/>
          </a:p>
        </p:txBody>
      </p:sp>
      <p:sp>
        <p:nvSpPr>
          <p:cNvPr id="9" name="Shape 6"/>
          <p:cNvSpPr/>
          <p:nvPr/>
        </p:nvSpPr>
        <p:spPr>
          <a:xfrm>
            <a:off x="4352544" y="1517904"/>
            <a:ext cx="3474720" cy="1572768"/>
          </a:xfrm>
          <a:prstGeom prst="roundRect">
            <a:avLst>
              <a:gd name="adj" fmla="val 2907"/>
            </a:avLst>
          </a:prstGeom>
          <a:solidFill>
            <a:srgbClr val="F3F5F8"/>
          </a:solidFill>
          <a:ln w="12700">
            <a:solidFill>
              <a:srgbClr val="333333"/>
            </a:solidFill>
            <a:prstDash val="solid"/>
          </a:ln>
        </p:spPr>
      </p:sp>
      <p:sp>
        <p:nvSpPr>
          <p:cNvPr id="10" name="Shape 7"/>
          <p:cNvSpPr/>
          <p:nvPr/>
        </p:nvSpPr>
        <p:spPr>
          <a:xfrm>
            <a:off x="4608576" y="1755648"/>
            <a:ext cx="438912" cy="438912"/>
          </a:xfrm>
          <a:prstGeom prst="ellipse">
            <a:avLst/>
          </a:prstGeom>
          <a:solidFill>
            <a:srgbClr val="2F6383"/>
          </a:solidFill>
          <a:ln w="12700">
            <a:solidFill>
              <a:srgbClr val="333333"/>
            </a:solidFill>
            <a:prstDash val="solid"/>
          </a:ln>
        </p:spPr>
      </p:sp>
      <p:pic>
        <p:nvPicPr>
          <p:cNvPr id="11" name="Image 1" descr="preencoded.png">    </p:cNvPr>
          <p:cNvPicPr>
            <a:picLocks noChangeAspect="1"/>
          </p:cNvPicPr>
          <p:nvPr/>
        </p:nvPicPr>
        <p:blipFill>
          <a:blip r:embed="rId2"/>
          <a:stretch>
            <a:fillRect/>
          </a:stretch>
        </p:blipFill>
        <p:spPr>
          <a:xfrm>
            <a:off x="4727082" y="1874154"/>
            <a:ext cx="201900" cy="201900"/>
          </a:xfrm>
          <a:prstGeom prst="rect">
            <a:avLst/>
          </a:prstGeom>
        </p:spPr>
      </p:pic>
      <p:sp>
        <p:nvSpPr>
          <p:cNvPr id="12" name="Text 8"/>
          <p:cNvSpPr/>
          <p:nvPr/>
        </p:nvSpPr>
        <p:spPr>
          <a:xfrm>
            <a:off x="5138928" y="1773936"/>
            <a:ext cx="2450592" cy="402336"/>
          </a:xfrm>
          <a:prstGeom prst="rect">
            <a:avLst/>
          </a:prstGeom>
          <a:noFill/>
          <a:ln/>
        </p:spPr>
        <p:txBody>
          <a:bodyPr wrap="square" lIns="0" tIns="0" rIns="0" bIns="0" rtlCol="0" anchor="ctr"/>
          <a:lstStyle/>
          <a:p>
            <a:pPr indent="0" marL="0">
              <a:lnSpc>
                <a:spcPct val="104000"/>
              </a:lnSpc>
              <a:buNone/>
            </a:pPr>
            <a:r>
              <a:rPr lang="en-US" sz="1250" b="1" dirty="0">
                <a:solidFill>
                  <a:srgbClr val="16202F"/>
                </a:solidFill>
                <a:latin typeface="Calibri" pitchFamily="34" charset="0"/>
                <a:ea typeface="Calibri" pitchFamily="34" charset="-122"/>
                <a:cs typeface="Calibri" pitchFamily="34" charset="-120"/>
              </a:rPr>
              <a:t>Language switching</a:t>
            </a:r>
            <a:endParaRPr lang="en-US" sz="1250" dirty="0"/>
          </a:p>
        </p:txBody>
      </p:sp>
      <p:sp>
        <p:nvSpPr>
          <p:cNvPr id="13" name="Text 9"/>
          <p:cNvSpPr/>
          <p:nvPr/>
        </p:nvSpPr>
        <p:spPr>
          <a:xfrm>
            <a:off x="4608576" y="2304288"/>
            <a:ext cx="2962656" cy="658368"/>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Represented a target language before any cue in the prompt — exposing a training-data bug.</a:t>
            </a:r>
            <a:endParaRPr lang="en-US" sz="1050" dirty="0"/>
          </a:p>
        </p:txBody>
      </p:sp>
      <p:sp>
        <p:nvSpPr>
          <p:cNvPr id="14" name="Shape 10"/>
          <p:cNvSpPr/>
          <p:nvPr/>
        </p:nvSpPr>
        <p:spPr>
          <a:xfrm>
            <a:off x="8138160" y="1517904"/>
            <a:ext cx="3474720" cy="1572768"/>
          </a:xfrm>
          <a:prstGeom prst="roundRect">
            <a:avLst>
              <a:gd name="adj" fmla="val 2907"/>
            </a:avLst>
          </a:prstGeom>
          <a:solidFill>
            <a:srgbClr val="F3F5F8"/>
          </a:solidFill>
          <a:ln w="12700">
            <a:solidFill>
              <a:srgbClr val="333333"/>
            </a:solidFill>
            <a:prstDash val="solid"/>
          </a:ln>
        </p:spPr>
      </p:sp>
      <p:sp>
        <p:nvSpPr>
          <p:cNvPr id="15" name="Shape 11"/>
          <p:cNvSpPr/>
          <p:nvPr/>
        </p:nvSpPr>
        <p:spPr>
          <a:xfrm>
            <a:off x="8394192" y="1755648"/>
            <a:ext cx="438912" cy="438912"/>
          </a:xfrm>
          <a:prstGeom prst="ellipse">
            <a:avLst/>
          </a:prstGeom>
          <a:solidFill>
            <a:srgbClr val="C9534B"/>
          </a:solidFill>
          <a:ln w="12700">
            <a:solidFill>
              <a:srgbClr val="333333"/>
            </a:solidFill>
            <a:prstDash val="solid"/>
          </a:ln>
        </p:spPr>
      </p:sp>
      <p:pic>
        <p:nvPicPr>
          <p:cNvPr id="16" name="Image 2" descr="preencoded.png">    </p:cNvPr>
          <p:cNvPicPr>
            <a:picLocks noChangeAspect="1"/>
          </p:cNvPicPr>
          <p:nvPr/>
        </p:nvPicPr>
        <p:blipFill>
          <a:blip r:embed="rId3"/>
          <a:stretch>
            <a:fillRect/>
          </a:stretch>
        </p:blipFill>
        <p:spPr>
          <a:xfrm>
            <a:off x="8512698" y="1874154"/>
            <a:ext cx="201900" cy="201900"/>
          </a:xfrm>
          <a:prstGeom prst="rect">
            <a:avLst/>
          </a:prstGeom>
        </p:spPr>
      </p:pic>
      <p:sp>
        <p:nvSpPr>
          <p:cNvPr id="17" name="Text 12"/>
          <p:cNvSpPr/>
          <p:nvPr/>
        </p:nvSpPr>
        <p:spPr>
          <a:xfrm>
            <a:off x="8924544" y="1773936"/>
            <a:ext cx="2450592" cy="402336"/>
          </a:xfrm>
          <a:prstGeom prst="rect">
            <a:avLst/>
          </a:prstGeom>
          <a:noFill/>
          <a:ln/>
        </p:spPr>
        <p:txBody>
          <a:bodyPr wrap="square" lIns="0" tIns="0" rIns="0" bIns="0" rtlCol="0" anchor="ctr"/>
          <a:lstStyle/>
          <a:p>
            <a:pPr indent="0" marL="0">
              <a:lnSpc>
                <a:spcPct val="104000"/>
              </a:lnSpc>
              <a:buNone/>
            </a:pPr>
            <a:r>
              <a:rPr lang="en-US" sz="1250" b="1" dirty="0">
                <a:solidFill>
                  <a:srgbClr val="16202F"/>
                </a:solidFill>
                <a:latin typeface="Calibri" pitchFamily="34" charset="0"/>
                <a:ea typeface="Calibri" pitchFamily="34" charset="-122"/>
                <a:cs typeface="Calibri" pitchFamily="34" charset="-120"/>
              </a:rPr>
              <a:t>Misreported tool calls</a:t>
            </a:r>
            <a:endParaRPr lang="en-US" sz="1250" dirty="0"/>
          </a:p>
        </p:txBody>
      </p:sp>
      <p:sp>
        <p:nvSpPr>
          <p:cNvPr id="18" name="Text 13"/>
          <p:cNvSpPr/>
          <p:nvPr/>
        </p:nvSpPr>
        <p:spPr>
          <a:xfrm>
            <a:off x="8394192" y="2304288"/>
            <a:ext cx="2962656" cy="658368"/>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Cached its own answer and ignored the tool result; confirmed by attribution graphs.</a:t>
            </a:r>
            <a:endParaRPr lang="en-US" sz="1050" dirty="0"/>
          </a:p>
        </p:txBody>
      </p:sp>
      <p:sp>
        <p:nvSpPr>
          <p:cNvPr id="19" name="Shape 14"/>
          <p:cNvSpPr/>
          <p:nvPr/>
        </p:nvSpPr>
        <p:spPr>
          <a:xfrm>
            <a:off x="566928" y="3328416"/>
            <a:ext cx="3474720" cy="1572768"/>
          </a:xfrm>
          <a:prstGeom prst="roundRect">
            <a:avLst>
              <a:gd name="adj" fmla="val 2907"/>
            </a:avLst>
          </a:prstGeom>
          <a:solidFill>
            <a:srgbClr val="F3F5F8"/>
          </a:solidFill>
          <a:ln w="12700">
            <a:solidFill>
              <a:srgbClr val="333333"/>
            </a:solidFill>
            <a:prstDash val="solid"/>
          </a:ln>
        </p:spPr>
      </p:sp>
      <p:sp>
        <p:nvSpPr>
          <p:cNvPr id="20" name="Shape 15"/>
          <p:cNvSpPr/>
          <p:nvPr/>
        </p:nvSpPr>
        <p:spPr>
          <a:xfrm>
            <a:off x="822960" y="3566160"/>
            <a:ext cx="438912" cy="438912"/>
          </a:xfrm>
          <a:prstGeom prst="ellipse">
            <a:avLst/>
          </a:prstGeom>
          <a:solidFill>
            <a:srgbClr val="2E8B72"/>
          </a:solidFill>
          <a:ln w="12700">
            <a:solidFill>
              <a:srgbClr val="333333"/>
            </a:solidFill>
            <a:prstDash val="solid"/>
          </a:ln>
        </p:spPr>
      </p:sp>
      <p:pic>
        <p:nvPicPr>
          <p:cNvPr id="21" name="Image 3" descr="preencoded.png">    </p:cNvPr>
          <p:cNvPicPr>
            <a:picLocks noChangeAspect="1"/>
          </p:cNvPicPr>
          <p:nvPr/>
        </p:nvPicPr>
        <p:blipFill>
          <a:blip r:embed="rId4"/>
          <a:stretch>
            <a:fillRect/>
          </a:stretch>
        </p:blipFill>
        <p:spPr>
          <a:xfrm>
            <a:off x="941466" y="3684666"/>
            <a:ext cx="201900" cy="201900"/>
          </a:xfrm>
          <a:prstGeom prst="rect">
            <a:avLst/>
          </a:prstGeom>
        </p:spPr>
      </p:pic>
      <p:sp>
        <p:nvSpPr>
          <p:cNvPr id="22" name="Text 16"/>
          <p:cNvSpPr/>
          <p:nvPr/>
        </p:nvSpPr>
        <p:spPr>
          <a:xfrm>
            <a:off x="1353312" y="3584448"/>
            <a:ext cx="2450592" cy="402336"/>
          </a:xfrm>
          <a:prstGeom prst="rect">
            <a:avLst/>
          </a:prstGeom>
          <a:noFill/>
          <a:ln/>
        </p:spPr>
        <p:txBody>
          <a:bodyPr wrap="square" lIns="0" tIns="0" rIns="0" bIns="0" rtlCol="0" anchor="ctr"/>
          <a:lstStyle/>
          <a:p>
            <a:pPr indent="0" marL="0">
              <a:lnSpc>
                <a:spcPct val="104000"/>
              </a:lnSpc>
              <a:buNone/>
            </a:pPr>
            <a:r>
              <a:rPr lang="en-US" sz="1250" b="1" dirty="0">
                <a:solidFill>
                  <a:srgbClr val="16202F"/>
                </a:solidFill>
                <a:latin typeface="Calibri" pitchFamily="34" charset="0"/>
                <a:ea typeface="Calibri" pitchFamily="34" charset="-122"/>
                <a:cs typeface="Calibri" pitchFamily="34" charset="-120"/>
              </a:rPr>
              <a:t>Reasoning about rewards</a:t>
            </a:r>
            <a:endParaRPr lang="en-US" sz="1250" dirty="0"/>
          </a:p>
        </p:txBody>
      </p:sp>
      <p:sp>
        <p:nvSpPr>
          <p:cNvPr id="23" name="Text 17"/>
          <p:cNvSpPr/>
          <p:nvPr/>
        </p:nvSpPr>
        <p:spPr>
          <a:xfrm>
            <a:off x="822960" y="4114800"/>
            <a:ext cx="2962656" cy="658368"/>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Knew which answers were rewarded without ever saying so in the trace.</a:t>
            </a:r>
            <a:endParaRPr lang="en-US" sz="1050" dirty="0"/>
          </a:p>
        </p:txBody>
      </p:sp>
      <p:sp>
        <p:nvSpPr>
          <p:cNvPr id="24" name="Shape 18"/>
          <p:cNvSpPr/>
          <p:nvPr/>
        </p:nvSpPr>
        <p:spPr>
          <a:xfrm>
            <a:off x="4352544" y="3328416"/>
            <a:ext cx="3474720" cy="1572768"/>
          </a:xfrm>
          <a:prstGeom prst="roundRect">
            <a:avLst>
              <a:gd name="adj" fmla="val 2907"/>
            </a:avLst>
          </a:prstGeom>
          <a:solidFill>
            <a:srgbClr val="F3F5F8"/>
          </a:solidFill>
          <a:ln w="12700">
            <a:solidFill>
              <a:srgbClr val="333333"/>
            </a:solidFill>
            <a:prstDash val="solid"/>
          </a:ln>
        </p:spPr>
      </p:sp>
      <p:sp>
        <p:nvSpPr>
          <p:cNvPr id="25" name="Shape 19"/>
          <p:cNvSpPr/>
          <p:nvPr/>
        </p:nvSpPr>
        <p:spPr>
          <a:xfrm>
            <a:off x="4608576" y="3566160"/>
            <a:ext cx="438912" cy="438912"/>
          </a:xfrm>
          <a:prstGeom prst="ellipse">
            <a:avLst/>
          </a:prstGeom>
          <a:solidFill>
            <a:srgbClr val="212D48"/>
          </a:solidFill>
          <a:ln w="12700">
            <a:solidFill>
              <a:srgbClr val="333333"/>
            </a:solidFill>
            <a:prstDash val="solid"/>
          </a:ln>
        </p:spPr>
      </p:sp>
      <p:pic>
        <p:nvPicPr>
          <p:cNvPr id="26" name="Image 4" descr="preencoded.png">    </p:cNvPr>
          <p:cNvPicPr>
            <a:picLocks noChangeAspect="1"/>
          </p:cNvPicPr>
          <p:nvPr/>
        </p:nvPicPr>
        <p:blipFill>
          <a:blip r:embed="rId5"/>
          <a:stretch>
            <a:fillRect/>
          </a:stretch>
        </p:blipFill>
        <p:spPr>
          <a:xfrm>
            <a:off x="4727082" y="3684666"/>
            <a:ext cx="201900" cy="201900"/>
          </a:xfrm>
          <a:prstGeom prst="rect">
            <a:avLst/>
          </a:prstGeom>
        </p:spPr>
      </p:pic>
      <p:sp>
        <p:nvSpPr>
          <p:cNvPr id="27" name="Text 20"/>
          <p:cNvSpPr/>
          <p:nvPr/>
        </p:nvSpPr>
        <p:spPr>
          <a:xfrm>
            <a:off x="5138928" y="3584448"/>
            <a:ext cx="2450592" cy="402336"/>
          </a:xfrm>
          <a:prstGeom prst="rect">
            <a:avLst/>
          </a:prstGeom>
          <a:noFill/>
          <a:ln/>
        </p:spPr>
        <p:txBody>
          <a:bodyPr wrap="square" lIns="0" tIns="0" rIns="0" bIns="0" rtlCol="0" anchor="ctr"/>
          <a:lstStyle/>
          <a:p>
            <a:pPr indent="0" marL="0">
              <a:lnSpc>
                <a:spcPct val="104000"/>
              </a:lnSpc>
              <a:buNone/>
            </a:pPr>
            <a:r>
              <a:rPr lang="en-US" sz="1250" b="1" dirty="0">
                <a:solidFill>
                  <a:srgbClr val="16202F"/>
                </a:solidFill>
                <a:latin typeface="Calibri" pitchFamily="34" charset="0"/>
                <a:ea typeface="Calibri" pitchFamily="34" charset="-122"/>
                <a:cs typeface="Calibri" pitchFamily="34" charset="-120"/>
              </a:rPr>
              <a:t>Unverbalised eval awareness</a:t>
            </a:r>
            <a:endParaRPr lang="en-US" sz="1250" dirty="0"/>
          </a:p>
        </p:txBody>
      </p:sp>
      <p:sp>
        <p:nvSpPr>
          <p:cNvPr id="28" name="Text 21"/>
          <p:cNvSpPr/>
          <p:nvPr/>
        </p:nvSpPr>
        <p:spPr>
          <a:xfrm>
            <a:off x="4608576" y="4114800"/>
            <a:ext cx="2962656" cy="658368"/>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A grader over NLAs caught it (97% agreement), and it moved under manipulations.</a:t>
            </a:r>
            <a:endParaRPr lang="en-US" sz="1050" dirty="0"/>
          </a:p>
        </p:txBody>
      </p:sp>
      <p:sp>
        <p:nvSpPr>
          <p:cNvPr id="29" name="Shape 22"/>
          <p:cNvSpPr/>
          <p:nvPr/>
        </p:nvSpPr>
        <p:spPr>
          <a:xfrm>
            <a:off x="8138160" y="3328416"/>
            <a:ext cx="3474720" cy="1572768"/>
          </a:xfrm>
          <a:prstGeom prst="roundRect">
            <a:avLst>
              <a:gd name="adj" fmla="val 2907"/>
            </a:avLst>
          </a:prstGeom>
          <a:solidFill>
            <a:srgbClr val="F3F5F8"/>
          </a:solidFill>
          <a:ln w="12700">
            <a:solidFill>
              <a:srgbClr val="333333"/>
            </a:solidFill>
            <a:prstDash val="solid"/>
          </a:ln>
        </p:spPr>
      </p:sp>
      <p:sp>
        <p:nvSpPr>
          <p:cNvPr id="30" name="Shape 23"/>
          <p:cNvSpPr/>
          <p:nvPr/>
        </p:nvSpPr>
        <p:spPr>
          <a:xfrm>
            <a:off x="8394192" y="3566160"/>
            <a:ext cx="438912" cy="438912"/>
          </a:xfrm>
          <a:prstGeom prst="ellipse">
            <a:avLst/>
          </a:prstGeom>
          <a:solidFill>
            <a:srgbClr val="2F6383"/>
          </a:solidFill>
          <a:ln w="12700">
            <a:solidFill>
              <a:srgbClr val="333333"/>
            </a:solidFill>
            <a:prstDash val="solid"/>
          </a:ln>
        </p:spPr>
      </p:sp>
      <p:pic>
        <p:nvPicPr>
          <p:cNvPr id="31" name="Image 5" descr="preencoded.png">    </p:cNvPr>
          <p:cNvPicPr>
            <a:picLocks noChangeAspect="1"/>
          </p:cNvPicPr>
          <p:nvPr/>
        </p:nvPicPr>
        <p:blipFill>
          <a:blip r:embed="rId6"/>
          <a:stretch>
            <a:fillRect/>
          </a:stretch>
        </p:blipFill>
        <p:spPr>
          <a:xfrm>
            <a:off x="8512698" y="3684666"/>
            <a:ext cx="201900" cy="201900"/>
          </a:xfrm>
          <a:prstGeom prst="rect">
            <a:avLst/>
          </a:prstGeom>
        </p:spPr>
      </p:pic>
      <p:sp>
        <p:nvSpPr>
          <p:cNvPr id="32" name="Text 24"/>
          <p:cNvSpPr/>
          <p:nvPr/>
        </p:nvSpPr>
        <p:spPr>
          <a:xfrm>
            <a:off x="8924544" y="3584448"/>
            <a:ext cx="2450592" cy="402336"/>
          </a:xfrm>
          <a:prstGeom prst="rect">
            <a:avLst/>
          </a:prstGeom>
          <a:noFill/>
          <a:ln/>
        </p:spPr>
        <p:txBody>
          <a:bodyPr wrap="square" lIns="0" tIns="0" rIns="0" bIns="0" rtlCol="0" anchor="ctr"/>
          <a:lstStyle/>
          <a:p>
            <a:pPr indent="0" marL="0">
              <a:lnSpc>
                <a:spcPct val="104000"/>
              </a:lnSpc>
              <a:buNone/>
            </a:pPr>
            <a:r>
              <a:rPr lang="en-US" sz="1250" b="1" dirty="0">
                <a:solidFill>
                  <a:srgbClr val="16202F"/>
                </a:solidFill>
                <a:latin typeface="Calibri" pitchFamily="34" charset="0"/>
                <a:ea typeface="Calibri" pitchFamily="34" charset="-122"/>
                <a:cs typeface="Calibri" pitchFamily="34" charset="-120"/>
              </a:rPr>
              <a:t>The auditing game</a:t>
            </a:r>
            <a:endParaRPr lang="en-US" sz="1250" dirty="0"/>
          </a:p>
        </p:txBody>
      </p:sp>
      <p:sp>
        <p:nvSpPr>
          <p:cNvPr id="33" name="Text 25"/>
          <p:cNvSpPr/>
          <p:nvPr/>
        </p:nvSpPr>
        <p:spPr>
          <a:xfrm>
            <a:off x="8394192" y="4114800"/>
            <a:ext cx="2962656" cy="658368"/>
          </a:xfrm>
          <a:prstGeom prst="rect">
            <a:avLst/>
          </a:prstGeom>
          <a:noFill/>
          <a:ln/>
        </p:spPr>
        <p:txBody>
          <a:bodyPr wrap="square" lIns="0" tIns="0" rIns="0" bIns="0" rtlCol="0" anchor="ctr"/>
          <a:lstStyle/>
          <a:p>
            <a:pPr indent="0" marL="0">
              <a:lnSpc>
                <a:spcPct val="114000"/>
              </a:lnSpc>
              <a:buNone/>
            </a:pPr>
            <a:r>
              <a:rPr lang="en-US" sz="1050" dirty="0">
                <a:solidFill>
                  <a:srgbClr val="3A4859"/>
                </a:solidFill>
                <a:latin typeface="Calibri" pitchFamily="34" charset="0"/>
                <a:ea typeface="Calibri" pitchFamily="34" charset="-122"/>
                <a:cs typeface="Calibri" pitchFamily="34" charset="-120"/>
              </a:rPr>
              <a:t>Agents found a hidden training objective with no training-data access; SAEs did not.</a:t>
            </a:r>
            <a:endParaRPr lang="en-US" sz="1050" dirty="0"/>
          </a:p>
        </p:txBody>
      </p:sp>
      <p:sp>
        <p:nvSpPr>
          <p:cNvPr id="34" name="Shape 26"/>
          <p:cNvSpPr/>
          <p:nvPr/>
        </p:nvSpPr>
        <p:spPr>
          <a:xfrm>
            <a:off x="566928" y="5138928"/>
            <a:ext cx="11057839" cy="786384"/>
          </a:xfrm>
          <a:prstGeom prst="roundRect">
            <a:avLst>
              <a:gd name="adj" fmla="val 6977"/>
            </a:avLst>
          </a:prstGeom>
          <a:solidFill>
            <a:srgbClr val="141B2E"/>
          </a:solidFill>
          <a:ln w="12700">
            <a:solidFill>
              <a:srgbClr val="333333"/>
            </a:solidFill>
            <a:prstDash val="solid"/>
          </a:ln>
        </p:spPr>
      </p:sp>
      <p:sp>
        <p:nvSpPr>
          <p:cNvPr id="35" name="Text 27"/>
          <p:cNvSpPr/>
          <p:nvPr/>
        </p:nvSpPr>
        <p:spPr>
          <a:xfrm>
            <a:off x="841248" y="5230368"/>
            <a:ext cx="10509199" cy="603504"/>
          </a:xfrm>
          <a:prstGeom prst="rect">
            <a:avLst/>
          </a:prstGeom>
          <a:noFill/>
          <a:ln/>
        </p:spPr>
        <p:txBody>
          <a:bodyPr wrap="square" lIns="0" tIns="0" rIns="0" bIns="0" rtlCol="0" anchor="ctr"/>
          <a:lstStyle/>
          <a:p>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Four of these six techniques are borrowed wholesale for the obfuscated-code setting: </a:t>
            </a:r>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steering, onset tracking, cached-answer analysis, and the hidden-state grader.</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Steering: Edit the Thought in Plain English</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Because the explanation is text, you can edit it — then push the model toward the edited meaning.</a:t>
            </a:r>
            <a:endParaRPr lang="en-US" sz="1250" dirty="0"/>
          </a:p>
        </p:txBody>
      </p:sp>
      <p:sp>
        <p:nvSpPr>
          <p:cNvPr id="4" name="Shape 2"/>
          <p:cNvSpPr/>
          <p:nvPr/>
        </p:nvSpPr>
        <p:spPr>
          <a:xfrm>
            <a:off x="536296" y="1554480"/>
            <a:ext cx="2560320" cy="1371600"/>
          </a:xfrm>
          <a:prstGeom prst="roundRect">
            <a:avLst>
              <a:gd name="adj" fmla="val 3333"/>
            </a:avLst>
          </a:prstGeom>
          <a:solidFill>
            <a:srgbClr val="F3F5F8"/>
          </a:solidFill>
          <a:ln w="12700">
            <a:solidFill>
              <a:srgbClr val="333333"/>
            </a:solidFill>
            <a:prstDash val="solid"/>
          </a:ln>
        </p:spPr>
      </p:sp>
      <p:sp>
        <p:nvSpPr>
          <p:cNvPr id="5" name="Shape 3"/>
          <p:cNvSpPr/>
          <p:nvPr/>
        </p:nvSpPr>
        <p:spPr>
          <a:xfrm>
            <a:off x="1578712" y="1719072"/>
            <a:ext cx="475488" cy="475488"/>
          </a:xfrm>
          <a:prstGeom prst="ellipse">
            <a:avLst/>
          </a:prstGeom>
          <a:solidFill>
            <a:srgbClr val="141B2E"/>
          </a:solidFill>
          <a:ln w="12700">
            <a:solidFill>
              <a:srgbClr val="333333"/>
            </a:solidFill>
            <a:prstDash val="solid"/>
          </a:ln>
        </p:spPr>
      </p:sp>
      <p:sp>
        <p:nvSpPr>
          <p:cNvPr id="6" name="Text 4"/>
          <p:cNvSpPr/>
          <p:nvPr/>
        </p:nvSpPr>
        <p:spPr>
          <a:xfrm>
            <a:off x="1578712" y="171907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536296" y="2267712"/>
            <a:ext cx="2560320" cy="292608"/>
          </a:xfrm>
          <a:prstGeom prst="rect">
            <a:avLst/>
          </a:prstGeom>
          <a:noFill/>
          <a:ln/>
        </p:spPr>
        <p:txBody>
          <a:bodyPr wrap="square" lIns="0" tIns="0" rIns="0" bIns="0" rtlCol="0" anchor="ctr"/>
          <a:lstStyle/>
          <a:p>
            <a:pPr algn="ctr" indent="0" marL="0">
              <a:buNone/>
            </a:pPr>
            <a:r>
              <a:rPr lang="en-US" sz="1350" b="1" dirty="0">
                <a:solidFill>
                  <a:srgbClr val="16202F"/>
                </a:solidFill>
                <a:latin typeface="Calibri" pitchFamily="34" charset="0"/>
                <a:ea typeface="Calibri" pitchFamily="34" charset="-122"/>
                <a:cs typeface="Calibri" pitchFamily="34" charset="-120"/>
              </a:rPr>
              <a:t>Explain</a:t>
            </a:r>
            <a:endParaRPr lang="en-US" sz="1350" dirty="0"/>
          </a:p>
        </p:txBody>
      </p:sp>
      <p:sp>
        <p:nvSpPr>
          <p:cNvPr id="8" name="Text 6"/>
          <p:cNvSpPr/>
          <p:nvPr/>
        </p:nvSpPr>
        <p:spPr>
          <a:xfrm>
            <a:off x="664312" y="2569464"/>
            <a:ext cx="2304288" cy="274320"/>
          </a:xfrm>
          <a:prstGeom prst="rect">
            <a:avLst/>
          </a:prstGeom>
          <a:noFill/>
          <a:ln/>
        </p:spPr>
        <p:txBody>
          <a:bodyPr wrap="square" lIns="0" tIns="0" rIns="0" bIns="0" rtlCol="0" anchor="ctr"/>
          <a:lstStyle/>
          <a:p>
            <a:pPr algn="ctr" indent="0" marL="0">
              <a:buNone/>
            </a:pPr>
            <a:r>
              <a:rPr lang="en-US" sz="1000" dirty="0">
                <a:solidFill>
                  <a:srgbClr val="68788B"/>
                </a:solidFill>
                <a:latin typeface="Calibri" pitchFamily="34" charset="0"/>
                <a:ea typeface="Calibri" pitchFamily="34" charset="-122"/>
                <a:cs typeface="Calibri" pitchFamily="34" charset="-120"/>
              </a:rPr>
              <a:t>activation → text  (AV)</a:t>
            </a:r>
            <a:endParaRPr lang="en-US" sz="1000" dirty="0"/>
          </a:p>
        </p:txBody>
      </p:sp>
      <p:sp>
        <p:nvSpPr>
          <p:cNvPr id="9" name="Shape 7"/>
          <p:cNvSpPr/>
          <p:nvPr/>
        </p:nvSpPr>
        <p:spPr>
          <a:xfrm>
            <a:off x="3124048" y="2139696"/>
            <a:ext cx="237744" cy="201168"/>
          </a:xfrm>
          <a:prstGeom prst="rightArrow">
            <a:avLst/>
          </a:prstGeom>
          <a:solidFill>
            <a:srgbClr val="1FA184"/>
          </a:solidFill>
          <a:ln w="12700">
            <a:solidFill>
              <a:srgbClr val="333333"/>
            </a:solidFill>
            <a:prstDash val="solid"/>
          </a:ln>
        </p:spPr>
      </p:sp>
      <p:sp>
        <p:nvSpPr>
          <p:cNvPr id="10" name="Shape 8"/>
          <p:cNvSpPr/>
          <p:nvPr/>
        </p:nvSpPr>
        <p:spPr>
          <a:xfrm>
            <a:off x="3389224" y="1554480"/>
            <a:ext cx="2560320" cy="1371600"/>
          </a:xfrm>
          <a:prstGeom prst="roundRect">
            <a:avLst>
              <a:gd name="adj" fmla="val 3333"/>
            </a:avLst>
          </a:prstGeom>
          <a:solidFill>
            <a:srgbClr val="F3F5F8"/>
          </a:solidFill>
          <a:ln w="12700">
            <a:solidFill>
              <a:srgbClr val="333333"/>
            </a:solidFill>
            <a:prstDash val="solid"/>
          </a:ln>
        </p:spPr>
      </p:sp>
      <p:sp>
        <p:nvSpPr>
          <p:cNvPr id="11" name="Shape 9"/>
          <p:cNvSpPr/>
          <p:nvPr/>
        </p:nvSpPr>
        <p:spPr>
          <a:xfrm>
            <a:off x="4431640" y="1719072"/>
            <a:ext cx="475488" cy="475488"/>
          </a:xfrm>
          <a:prstGeom prst="ellipse">
            <a:avLst/>
          </a:prstGeom>
          <a:solidFill>
            <a:srgbClr val="141B2E"/>
          </a:solidFill>
          <a:ln w="12700">
            <a:solidFill>
              <a:srgbClr val="333333"/>
            </a:solidFill>
            <a:prstDash val="solid"/>
          </a:ln>
        </p:spPr>
      </p:sp>
      <p:sp>
        <p:nvSpPr>
          <p:cNvPr id="12" name="Text 10"/>
          <p:cNvSpPr/>
          <p:nvPr/>
        </p:nvSpPr>
        <p:spPr>
          <a:xfrm>
            <a:off x="4431640" y="171907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p:nvPr/>
        </p:nvSpPr>
        <p:spPr>
          <a:xfrm>
            <a:off x="3389224" y="2267712"/>
            <a:ext cx="2560320" cy="292608"/>
          </a:xfrm>
          <a:prstGeom prst="rect">
            <a:avLst/>
          </a:prstGeom>
          <a:noFill/>
          <a:ln/>
        </p:spPr>
        <p:txBody>
          <a:bodyPr wrap="square" lIns="0" tIns="0" rIns="0" bIns="0" rtlCol="0" anchor="ctr"/>
          <a:lstStyle/>
          <a:p>
            <a:pPr algn="ctr" indent="0" marL="0">
              <a:buNone/>
            </a:pPr>
            <a:r>
              <a:rPr lang="en-US" sz="1350" b="1" dirty="0">
                <a:solidFill>
                  <a:srgbClr val="16202F"/>
                </a:solidFill>
                <a:latin typeface="Calibri" pitchFamily="34" charset="0"/>
                <a:ea typeface="Calibri" pitchFamily="34" charset="-122"/>
                <a:cs typeface="Calibri" pitchFamily="34" charset="-120"/>
              </a:rPr>
              <a:t>Edit</a:t>
            </a:r>
            <a:endParaRPr lang="en-US" sz="1350" dirty="0"/>
          </a:p>
        </p:txBody>
      </p:sp>
      <p:sp>
        <p:nvSpPr>
          <p:cNvPr id="14" name="Text 12"/>
          <p:cNvSpPr/>
          <p:nvPr/>
        </p:nvSpPr>
        <p:spPr>
          <a:xfrm>
            <a:off x="3517240" y="2569464"/>
            <a:ext cx="2304288" cy="274320"/>
          </a:xfrm>
          <a:prstGeom prst="rect">
            <a:avLst/>
          </a:prstGeom>
          <a:noFill/>
          <a:ln/>
        </p:spPr>
        <p:txBody>
          <a:bodyPr wrap="square" lIns="0" tIns="0" rIns="0" bIns="0" rtlCol="0" anchor="ctr"/>
          <a:lstStyle/>
          <a:p>
            <a:pPr algn="ctr" indent="0" marL="0">
              <a:buNone/>
            </a:pPr>
            <a:r>
              <a:rPr lang="en-US" sz="1000" dirty="0">
                <a:solidFill>
                  <a:srgbClr val="68788B"/>
                </a:solidFill>
                <a:latin typeface="Calibri" pitchFamily="34" charset="0"/>
                <a:ea typeface="Calibri" pitchFamily="34" charset="-122"/>
                <a:cs typeface="Calibri" pitchFamily="34" charset="-120"/>
              </a:rPr>
              <a:t>change a concept in the text</a:t>
            </a:r>
            <a:endParaRPr lang="en-US" sz="1000" dirty="0"/>
          </a:p>
        </p:txBody>
      </p:sp>
      <p:sp>
        <p:nvSpPr>
          <p:cNvPr id="15" name="Shape 13"/>
          <p:cNvSpPr/>
          <p:nvPr/>
        </p:nvSpPr>
        <p:spPr>
          <a:xfrm>
            <a:off x="5976976" y="2139696"/>
            <a:ext cx="237744" cy="201168"/>
          </a:xfrm>
          <a:prstGeom prst="rightArrow">
            <a:avLst/>
          </a:prstGeom>
          <a:solidFill>
            <a:srgbClr val="1FA184"/>
          </a:solidFill>
          <a:ln w="12700">
            <a:solidFill>
              <a:srgbClr val="333333"/>
            </a:solidFill>
            <a:prstDash val="solid"/>
          </a:ln>
        </p:spPr>
      </p:sp>
      <p:sp>
        <p:nvSpPr>
          <p:cNvPr id="16" name="Shape 14"/>
          <p:cNvSpPr/>
          <p:nvPr/>
        </p:nvSpPr>
        <p:spPr>
          <a:xfrm>
            <a:off x="6242152" y="1554480"/>
            <a:ext cx="2560320" cy="1371600"/>
          </a:xfrm>
          <a:prstGeom prst="roundRect">
            <a:avLst>
              <a:gd name="adj" fmla="val 3333"/>
            </a:avLst>
          </a:prstGeom>
          <a:solidFill>
            <a:srgbClr val="F3F5F8"/>
          </a:solidFill>
          <a:ln w="12700">
            <a:solidFill>
              <a:srgbClr val="333333"/>
            </a:solidFill>
            <a:prstDash val="solid"/>
          </a:ln>
        </p:spPr>
      </p:sp>
      <p:sp>
        <p:nvSpPr>
          <p:cNvPr id="17" name="Shape 15"/>
          <p:cNvSpPr/>
          <p:nvPr/>
        </p:nvSpPr>
        <p:spPr>
          <a:xfrm>
            <a:off x="7284568" y="1719072"/>
            <a:ext cx="475488" cy="475488"/>
          </a:xfrm>
          <a:prstGeom prst="ellipse">
            <a:avLst/>
          </a:prstGeom>
          <a:solidFill>
            <a:srgbClr val="141B2E"/>
          </a:solidFill>
          <a:ln w="12700">
            <a:solidFill>
              <a:srgbClr val="333333"/>
            </a:solidFill>
            <a:prstDash val="solid"/>
          </a:ln>
        </p:spPr>
      </p:sp>
      <p:sp>
        <p:nvSpPr>
          <p:cNvPr id="18" name="Text 16"/>
          <p:cNvSpPr/>
          <p:nvPr/>
        </p:nvSpPr>
        <p:spPr>
          <a:xfrm>
            <a:off x="7284568" y="171907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p:nvPr/>
        </p:nvSpPr>
        <p:spPr>
          <a:xfrm>
            <a:off x="6242152" y="2267712"/>
            <a:ext cx="2560320" cy="292608"/>
          </a:xfrm>
          <a:prstGeom prst="rect">
            <a:avLst/>
          </a:prstGeom>
          <a:noFill/>
          <a:ln/>
        </p:spPr>
        <p:txBody>
          <a:bodyPr wrap="square" lIns="0" tIns="0" rIns="0" bIns="0" rtlCol="0" anchor="ctr"/>
          <a:lstStyle/>
          <a:p>
            <a:pPr algn="ctr" indent="0" marL="0">
              <a:buNone/>
            </a:pPr>
            <a:r>
              <a:rPr lang="en-US" sz="1350" b="1" dirty="0">
                <a:solidFill>
                  <a:srgbClr val="16202F"/>
                </a:solidFill>
                <a:latin typeface="Calibri" pitchFamily="34" charset="0"/>
                <a:ea typeface="Calibri" pitchFamily="34" charset="-122"/>
                <a:cs typeface="Calibri" pitchFamily="34" charset="-120"/>
              </a:rPr>
              <a:t>Reconstruct</a:t>
            </a:r>
            <a:endParaRPr lang="en-US" sz="1350" dirty="0"/>
          </a:p>
        </p:txBody>
      </p:sp>
      <p:sp>
        <p:nvSpPr>
          <p:cNvPr id="20" name="Text 18"/>
          <p:cNvSpPr/>
          <p:nvPr/>
        </p:nvSpPr>
        <p:spPr>
          <a:xfrm>
            <a:off x="6370168" y="2569464"/>
            <a:ext cx="2304288" cy="274320"/>
          </a:xfrm>
          <a:prstGeom prst="rect">
            <a:avLst/>
          </a:prstGeom>
          <a:noFill/>
          <a:ln/>
        </p:spPr>
        <p:txBody>
          <a:bodyPr wrap="square" lIns="0" tIns="0" rIns="0" bIns="0" rtlCol="0" anchor="ctr"/>
          <a:lstStyle/>
          <a:p>
            <a:pPr algn="ctr" indent="0" marL="0">
              <a:buNone/>
            </a:pPr>
            <a:r>
              <a:rPr lang="en-US" sz="1000" dirty="0">
                <a:solidFill>
                  <a:srgbClr val="68788B"/>
                </a:solidFill>
                <a:latin typeface="Calibri" pitchFamily="34" charset="0"/>
                <a:ea typeface="Calibri" pitchFamily="34" charset="-122"/>
                <a:cs typeface="Calibri" pitchFamily="34" charset="-120"/>
              </a:rPr>
              <a:t>text → activation  (AR), both</a:t>
            </a:r>
            <a:endParaRPr lang="en-US" sz="1000" dirty="0"/>
          </a:p>
        </p:txBody>
      </p:sp>
      <p:sp>
        <p:nvSpPr>
          <p:cNvPr id="21" name="Shape 19"/>
          <p:cNvSpPr/>
          <p:nvPr/>
        </p:nvSpPr>
        <p:spPr>
          <a:xfrm>
            <a:off x="8829904" y="2139696"/>
            <a:ext cx="237744" cy="201168"/>
          </a:xfrm>
          <a:prstGeom prst="rightArrow">
            <a:avLst/>
          </a:prstGeom>
          <a:solidFill>
            <a:srgbClr val="1FA184"/>
          </a:solidFill>
          <a:ln w="12700">
            <a:solidFill>
              <a:srgbClr val="333333"/>
            </a:solidFill>
            <a:prstDash val="solid"/>
          </a:ln>
        </p:spPr>
      </p:sp>
      <p:sp>
        <p:nvSpPr>
          <p:cNvPr id="22" name="Shape 20"/>
          <p:cNvSpPr/>
          <p:nvPr/>
        </p:nvSpPr>
        <p:spPr>
          <a:xfrm>
            <a:off x="9095080" y="1554480"/>
            <a:ext cx="2560320" cy="1371600"/>
          </a:xfrm>
          <a:prstGeom prst="roundRect">
            <a:avLst>
              <a:gd name="adj" fmla="val 3333"/>
            </a:avLst>
          </a:prstGeom>
          <a:solidFill>
            <a:srgbClr val="E9F5F1"/>
          </a:solidFill>
          <a:ln w="12700">
            <a:solidFill>
              <a:srgbClr val="333333"/>
            </a:solidFill>
            <a:prstDash val="solid"/>
          </a:ln>
        </p:spPr>
      </p:sp>
      <p:sp>
        <p:nvSpPr>
          <p:cNvPr id="23" name="Shape 21"/>
          <p:cNvSpPr/>
          <p:nvPr/>
        </p:nvSpPr>
        <p:spPr>
          <a:xfrm>
            <a:off x="10137496" y="1719072"/>
            <a:ext cx="475488" cy="475488"/>
          </a:xfrm>
          <a:prstGeom prst="ellipse">
            <a:avLst/>
          </a:prstGeom>
          <a:solidFill>
            <a:srgbClr val="1FA184"/>
          </a:solidFill>
          <a:ln w="12700">
            <a:solidFill>
              <a:srgbClr val="333333"/>
            </a:solidFill>
            <a:prstDash val="solid"/>
          </a:ln>
        </p:spPr>
      </p:sp>
      <p:sp>
        <p:nvSpPr>
          <p:cNvPr id="24" name="Text 22"/>
          <p:cNvSpPr/>
          <p:nvPr/>
        </p:nvSpPr>
        <p:spPr>
          <a:xfrm>
            <a:off x="10137496" y="171907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5" name="Text 23"/>
          <p:cNvSpPr/>
          <p:nvPr/>
        </p:nvSpPr>
        <p:spPr>
          <a:xfrm>
            <a:off x="9095080" y="2267712"/>
            <a:ext cx="2560320" cy="292608"/>
          </a:xfrm>
          <a:prstGeom prst="rect">
            <a:avLst/>
          </a:prstGeom>
          <a:noFill/>
          <a:ln/>
        </p:spPr>
        <p:txBody>
          <a:bodyPr wrap="square" lIns="0" tIns="0" rIns="0" bIns="0" rtlCol="0" anchor="ctr"/>
          <a:lstStyle/>
          <a:p>
            <a:pPr algn="ctr" indent="0" marL="0">
              <a:buNone/>
            </a:pPr>
            <a:r>
              <a:rPr lang="en-US" sz="1350" b="1" dirty="0">
                <a:solidFill>
                  <a:srgbClr val="1FA184"/>
                </a:solidFill>
                <a:latin typeface="Calibri" pitchFamily="34" charset="0"/>
                <a:ea typeface="Calibri" pitchFamily="34" charset="-122"/>
                <a:cs typeface="Calibri" pitchFamily="34" charset="-120"/>
              </a:rPr>
              <a:t>Steer</a:t>
            </a:r>
            <a:endParaRPr lang="en-US" sz="1350" dirty="0"/>
          </a:p>
        </p:txBody>
      </p:sp>
      <p:sp>
        <p:nvSpPr>
          <p:cNvPr id="26" name="Text 24"/>
          <p:cNvSpPr/>
          <p:nvPr/>
        </p:nvSpPr>
        <p:spPr>
          <a:xfrm>
            <a:off x="9223096" y="2569464"/>
            <a:ext cx="2304288" cy="274320"/>
          </a:xfrm>
          <a:prstGeom prst="rect">
            <a:avLst/>
          </a:prstGeom>
          <a:noFill/>
          <a:ln/>
        </p:spPr>
        <p:txBody>
          <a:bodyPr wrap="square" lIns="0" tIns="0" rIns="0" bIns="0" rtlCol="0" anchor="ctr"/>
          <a:lstStyle/>
          <a:p>
            <a:pPr algn="ctr" indent="0" marL="0">
              <a:buNone/>
            </a:pPr>
            <a:r>
              <a:rPr lang="en-US" sz="1000" dirty="0">
                <a:solidFill>
                  <a:srgbClr val="68788B"/>
                </a:solidFill>
                <a:latin typeface="Calibri" pitchFamily="34" charset="0"/>
                <a:ea typeface="Calibri" pitchFamily="34" charset="-122"/>
                <a:cs typeface="Calibri" pitchFamily="34" charset="-120"/>
              </a:rPr>
              <a:t>Δ = AR(edit) − AR(original)</a:t>
            </a:r>
            <a:endParaRPr lang="en-US" sz="1000" dirty="0"/>
          </a:p>
        </p:txBody>
      </p:sp>
      <p:sp>
        <p:nvSpPr>
          <p:cNvPr id="27" name="Shape 25"/>
          <p:cNvSpPr/>
          <p:nvPr/>
        </p:nvSpPr>
        <p:spPr>
          <a:xfrm>
            <a:off x="566928" y="3200400"/>
            <a:ext cx="11057839" cy="932688"/>
          </a:xfrm>
          <a:prstGeom prst="roundRect">
            <a:avLst>
              <a:gd name="adj" fmla="val 4902"/>
            </a:avLst>
          </a:prstGeom>
          <a:solidFill>
            <a:srgbClr val="F3F5F8"/>
          </a:solidFill>
          <a:ln w="12700">
            <a:solidFill>
              <a:srgbClr val="333333"/>
            </a:solidFill>
            <a:prstDash val="solid"/>
          </a:ln>
        </p:spPr>
      </p:sp>
      <p:sp>
        <p:nvSpPr>
          <p:cNvPr id="28" name="Text 26"/>
          <p:cNvSpPr/>
          <p:nvPr/>
        </p:nvSpPr>
        <p:spPr>
          <a:xfrm>
            <a:off x="841248" y="3291840"/>
            <a:ext cx="10509199" cy="749808"/>
          </a:xfrm>
          <a:prstGeom prst="rect">
            <a:avLst/>
          </a:prstGeom>
          <a:noFill/>
          <a:ln/>
        </p:spPr>
        <p:txBody>
          <a:bodyPr wrap="square" lIns="0" tIns="0" rIns="0" bIns="0" rtlCol="0" anchor="ctr"/>
          <a:lstStyle/>
          <a:p>
            <a:pPr indent="0" marL="0">
              <a:lnSpc>
                <a:spcPct val="116000"/>
              </a:lnSpc>
              <a:buNone/>
            </a:pPr>
            <a:r>
              <a:rPr lang="en-US" sz="1200" b="1" dirty="0">
                <a:solidFill>
                  <a:srgbClr val="1FA184"/>
                </a:solidFill>
                <a:latin typeface="Calibri" pitchFamily="34" charset="0"/>
                <a:ea typeface="Calibri" pitchFamily="34" charset="-122"/>
                <a:cs typeface="Calibri" pitchFamily="34" charset="-120"/>
              </a:rPr>
              <a:t>Worked example.   </a:t>
            </a:r>
            <a:pPr indent="0" marL="0">
              <a:lnSpc>
                <a:spcPct val="116000"/>
              </a:lnSpc>
              <a:buNone/>
            </a:pPr>
            <a:r>
              <a:rPr lang="en-US" sz="1200" dirty="0">
                <a:solidFill>
                  <a:srgbClr val="3A4859"/>
                </a:solidFill>
                <a:latin typeface="Calibri" pitchFamily="34" charset="0"/>
                <a:ea typeface="Calibri" pitchFamily="34" charset="-122"/>
                <a:cs typeface="Calibri" pitchFamily="34" charset="-120"/>
              </a:rPr>
              <a:t>Editing a poem’s plan from </a:t>
            </a:r>
            <a:pPr indent="0" marL="0">
              <a:lnSpc>
                <a:spcPct val="116000"/>
              </a:lnSpc>
              <a:buNone/>
            </a:pPr>
            <a:r>
              <a:rPr lang="en-US" sz="1200" b="1" dirty="0">
                <a:solidFill>
                  <a:srgbClr val="C9534B"/>
                </a:solidFill>
                <a:latin typeface="Courier New" pitchFamily="34" charset="0"/>
                <a:ea typeface="Courier New" pitchFamily="34" charset="-122"/>
                <a:cs typeface="Courier New" pitchFamily="34" charset="-120"/>
              </a:rPr>
              <a:t>“rabbit” → “mouse”</a:t>
            </a:r>
            <a:pPr indent="0" marL="0">
              <a:lnSpc>
                <a:spcPct val="116000"/>
              </a:lnSpc>
              <a:buNone/>
            </a:pPr>
            <a:r>
              <a:rPr lang="en-US" sz="1200" dirty="0">
                <a:solidFill>
                  <a:srgbClr val="3A4859"/>
                </a:solidFill>
                <a:latin typeface="Calibri" pitchFamily="34" charset="0"/>
                <a:ea typeface="Calibri" pitchFamily="34" charset="-122"/>
                <a:cs typeface="Calibri" pitchFamily="34" charset="-120"/>
              </a:rPr>
              <a:t> reconstructed a steering vector that rewrote the rhyme — at strength α ≥ 0.5 the original word disappeared in roughly half of runs.</a:t>
            </a:r>
            <a:endParaRPr lang="en-US" sz="1200" dirty="0"/>
          </a:p>
        </p:txBody>
      </p:sp>
      <p:sp>
        <p:nvSpPr>
          <p:cNvPr id="29" name="Shape 27"/>
          <p:cNvSpPr/>
          <p:nvPr/>
        </p:nvSpPr>
        <p:spPr>
          <a:xfrm>
            <a:off x="566928" y="4389120"/>
            <a:ext cx="11057839" cy="1005840"/>
          </a:xfrm>
          <a:prstGeom prst="roundRect">
            <a:avLst>
              <a:gd name="adj" fmla="val 5455"/>
            </a:avLst>
          </a:prstGeom>
          <a:solidFill>
            <a:srgbClr val="141B2E"/>
          </a:solidFill>
          <a:ln w="12700">
            <a:solidFill>
              <a:srgbClr val="333333"/>
            </a:solidFill>
            <a:prstDash val="solid"/>
          </a:ln>
        </p:spPr>
      </p:sp>
      <p:sp>
        <p:nvSpPr>
          <p:cNvPr id="30" name="Text 28"/>
          <p:cNvSpPr/>
          <p:nvPr/>
        </p:nvSpPr>
        <p:spPr>
          <a:xfrm>
            <a:off x="841248" y="4480560"/>
            <a:ext cx="10509199" cy="822960"/>
          </a:xfrm>
          <a:prstGeom prst="rect">
            <a:avLst/>
          </a:prstGeom>
          <a:noFill/>
          <a:ln/>
        </p:spPr>
        <p:txBody>
          <a:bodyPr wrap="square" lIns="0" tIns="0" rIns="0" bIns="0" rtlCol="0" anchor="ctr"/>
          <a:lstStyle/>
          <a:p>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Why it matters here.   </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NLAs do not merely read the model — they give a causal handle, expressed in language, on what it represents. That is the atom-level complement to Phase-2 attention steering, and it is what turns the adversarial-renaming result from a correlation into a mechanism.</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The Catch: Confabulation and Other Limits</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NLAs can invent details that are not in the activation. Used well, an explanation is a hypothesis to corroborate — not ground truth.</a:t>
            </a:r>
            <a:endParaRPr lang="en-US" sz="1250" dirty="0"/>
          </a:p>
        </p:txBody>
      </p:sp>
      <p:sp>
        <p:nvSpPr>
          <p:cNvPr id="4" name="Shape 2"/>
          <p:cNvSpPr/>
          <p:nvPr/>
        </p:nvSpPr>
        <p:spPr>
          <a:xfrm>
            <a:off x="566928" y="1517904"/>
            <a:ext cx="6583680" cy="3017520"/>
          </a:xfrm>
          <a:prstGeom prst="roundRect">
            <a:avLst>
              <a:gd name="adj" fmla="val 1515"/>
            </a:avLst>
          </a:prstGeom>
          <a:solidFill>
            <a:srgbClr val="FAECEA"/>
          </a:solidFill>
          <a:ln w="12700">
            <a:solidFill>
              <a:srgbClr val="333333"/>
            </a:solidFill>
            <a:prstDash val="solid"/>
          </a:ln>
        </p:spPr>
      </p:sp>
      <p:sp>
        <p:nvSpPr>
          <p:cNvPr id="5" name="Shape 3"/>
          <p:cNvSpPr/>
          <p:nvPr/>
        </p:nvSpPr>
        <p:spPr>
          <a:xfrm>
            <a:off x="859536" y="1792224"/>
            <a:ext cx="566928" cy="566928"/>
          </a:xfrm>
          <a:prstGeom prst="ellipse">
            <a:avLst/>
          </a:prstGeom>
          <a:solidFill>
            <a:srgbClr val="C9534B"/>
          </a:solidFill>
          <a:ln w="12700">
            <a:solidFill>
              <a:srgbClr val="333333"/>
            </a:solidFill>
            <a:prstDash val="solid"/>
          </a:ln>
        </p:spPr>
      </p:sp>
      <p:pic>
        <p:nvPicPr>
          <p:cNvPr id="6" name="Image 0" descr="preencoded.png">    </p:cNvPr>
          <p:cNvPicPr>
            <a:picLocks noChangeAspect="1"/>
          </p:cNvPicPr>
          <p:nvPr/>
        </p:nvPicPr>
        <p:blipFill>
          <a:blip r:embed="rId1"/>
          <a:stretch>
            <a:fillRect/>
          </a:stretch>
        </p:blipFill>
        <p:spPr>
          <a:xfrm>
            <a:off x="1012607" y="1945295"/>
            <a:ext cx="260787" cy="260787"/>
          </a:xfrm>
          <a:prstGeom prst="rect">
            <a:avLst/>
          </a:prstGeom>
        </p:spPr>
      </p:pic>
      <p:sp>
        <p:nvSpPr>
          <p:cNvPr id="7" name="Text 4"/>
          <p:cNvSpPr/>
          <p:nvPr/>
        </p:nvSpPr>
        <p:spPr>
          <a:xfrm>
            <a:off x="1572768" y="1847088"/>
            <a:ext cx="5303520" cy="457200"/>
          </a:xfrm>
          <a:prstGeom prst="rect">
            <a:avLst/>
          </a:prstGeom>
          <a:noFill/>
          <a:ln/>
        </p:spPr>
        <p:txBody>
          <a:bodyPr wrap="square" lIns="0" tIns="0" rIns="0" bIns="0" rtlCol="0" anchor="ctr"/>
          <a:lstStyle/>
          <a:p>
            <a:pPr indent="0" marL="0">
              <a:buNone/>
            </a:pPr>
            <a:r>
              <a:rPr lang="en-US" sz="1500" b="1" dirty="0">
                <a:solidFill>
                  <a:srgbClr val="C9534B"/>
                </a:solidFill>
                <a:latin typeface="Calibri" pitchFamily="34" charset="0"/>
                <a:ea typeface="Calibri" pitchFamily="34" charset="-122"/>
                <a:cs typeface="Calibri" pitchFamily="34" charset="-120"/>
              </a:rPr>
              <a:t>Confabulation — the main caveat</a:t>
            </a:r>
            <a:endParaRPr lang="en-US" sz="1500" dirty="0"/>
          </a:p>
        </p:txBody>
      </p:sp>
      <p:sp>
        <p:nvSpPr>
          <p:cNvPr id="8" name="Text 5"/>
          <p:cNvSpPr/>
          <p:nvPr/>
        </p:nvSpPr>
        <p:spPr>
          <a:xfrm>
            <a:off x="859536" y="2542032"/>
            <a:ext cx="5998464" cy="566928"/>
          </a:xfrm>
          <a:prstGeom prst="rect">
            <a:avLst/>
          </a:prstGeom>
          <a:noFill/>
          <a:ln/>
        </p:spPr>
        <p:txBody>
          <a:bodyPr wrap="square" lIns="0" tIns="0" rIns="0" bIns="0" rtlCol="0" anchor="ctr"/>
          <a:lstStyle/>
          <a:p>
            <a:pPr indent="0" marL="0">
              <a:lnSpc>
                <a:spcPct val="116000"/>
              </a:lnSpc>
              <a:buNone/>
            </a:pPr>
            <a:r>
              <a:rPr lang="en-US" sz="1150" b="1" dirty="0">
                <a:solidFill>
                  <a:srgbClr val="16202F"/>
                </a:solidFill>
                <a:latin typeface="Calibri" pitchFamily="34" charset="0"/>
                <a:ea typeface="Calibri" pitchFamily="34" charset="-122"/>
                <a:cs typeface="Calibri" pitchFamily="34" charset="-120"/>
              </a:rPr>
              <a:t>Thematic &gt; specific — </a:t>
            </a:r>
            <a:pPr indent="0" marL="0">
              <a:lnSpc>
                <a:spcPct val="116000"/>
              </a:lnSpc>
              <a:buNone/>
            </a:pPr>
            <a:r>
              <a:rPr lang="en-US" sz="1150" dirty="0">
                <a:solidFill>
                  <a:srgbClr val="3A4859"/>
                </a:solidFill>
                <a:latin typeface="Calibri" pitchFamily="34" charset="0"/>
                <a:ea typeface="Calibri" pitchFamily="34" charset="-122"/>
                <a:cs typeface="Calibri" pitchFamily="34" charset="-120"/>
              </a:rPr>
              <a:t>Broad claims about the theme are far more reliable than exact details or values.</a:t>
            </a:r>
            <a:endParaRPr lang="en-US" sz="1150" dirty="0"/>
          </a:p>
        </p:txBody>
      </p:sp>
      <p:sp>
        <p:nvSpPr>
          <p:cNvPr id="9" name="Text 6"/>
          <p:cNvSpPr/>
          <p:nvPr/>
        </p:nvSpPr>
        <p:spPr>
          <a:xfrm>
            <a:off x="859536" y="3200400"/>
            <a:ext cx="5998464" cy="566928"/>
          </a:xfrm>
          <a:prstGeom prst="rect">
            <a:avLst/>
          </a:prstGeom>
          <a:noFill/>
          <a:ln/>
        </p:spPr>
        <p:txBody>
          <a:bodyPr wrap="square" lIns="0" tIns="0" rIns="0" bIns="0" rtlCol="0" anchor="ctr"/>
          <a:lstStyle/>
          <a:p>
            <a:pPr indent="0" marL="0">
              <a:lnSpc>
                <a:spcPct val="116000"/>
              </a:lnSpc>
              <a:buNone/>
            </a:pPr>
            <a:r>
              <a:rPr lang="en-US" sz="1150" b="1" dirty="0">
                <a:solidFill>
                  <a:srgbClr val="16202F"/>
                </a:solidFill>
                <a:latin typeface="Calibri" pitchFamily="34" charset="0"/>
                <a:ea typeface="Calibri" pitchFamily="34" charset="-122"/>
                <a:cs typeface="Calibri" pitchFamily="34" charset="-120"/>
              </a:rPr>
              <a:t>Recurring &gt; one-off — </a:t>
            </a:r>
            <a:pPr indent="0" marL="0">
              <a:lnSpc>
                <a:spcPct val="116000"/>
              </a:lnSpc>
              <a:buNone/>
            </a:pPr>
            <a:r>
              <a:rPr lang="en-US" sz="1150" dirty="0">
                <a:solidFill>
                  <a:srgbClr val="3A4859"/>
                </a:solidFill>
                <a:latin typeface="Calibri" pitchFamily="34" charset="0"/>
                <a:ea typeface="Calibri" pitchFamily="34" charset="-122"/>
                <a:cs typeface="Calibri" pitchFamily="34" charset="-120"/>
              </a:rPr>
              <a:t>Claims that repeat across adjacent tokens are more trustworthy than isolated ones.</a:t>
            </a:r>
            <a:endParaRPr lang="en-US" sz="1150" dirty="0"/>
          </a:p>
        </p:txBody>
      </p:sp>
      <p:sp>
        <p:nvSpPr>
          <p:cNvPr id="10" name="Text 7"/>
          <p:cNvSpPr/>
          <p:nvPr/>
        </p:nvSpPr>
        <p:spPr>
          <a:xfrm>
            <a:off x="859536" y="3858768"/>
            <a:ext cx="5998464" cy="566928"/>
          </a:xfrm>
          <a:prstGeom prst="rect">
            <a:avLst/>
          </a:prstGeom>
          <a:noFill/>
          <a:ln/>
        </p:spPr>
        <p:txBody>
          <a:bodyPr wrap="square" lIns="0" tIns="0" rIns="0" bIns="0" rtlCol="0" anchor="ctr"/>
          <a:lstStyle/>
          <a:p>
            <a:pPr indent="0" marL="0">
              <a:lnSpc>
                <a:spcPct val="116000"/>
              </a:lnSpc>
              <a:buNone/>
            </a:pPr>
            <a:r>
              <a:rPr lang="en-US" sz="1150" b="1" dirty="0">
                <a:solidFill>
                  <a:srgbClr val="16202F"/>
                </a:solidFill>
                <a:latin typeface="Calibri" pitchFamily="34" charset="0"/>
                <a:ea typeface="Calibri" pitchFamily="34" charset="-122"/>
                <a:cs typeface="Calibri" pitchFamily="34" charset="-120"/>
              </a:rPr>
              <a:t>The decoder is a weak verifier — </a:t>
            </a:r>
            <a:pPr indent="0" marL="0">
              <a:lnSpc>
                <a:spcPct val="116000"/>
              </a:lnSpc>
              <a:buNone/>
            </a:pPr>
            <a:r>
              <a:rPr lang="en-US" sz="1150" dirty="0">
                <a:solidFill>
                  <a:srgbClr val="3A4859"/>
                </a:solidFill>
                <a:latin typeface="Calibri" pitchFamily="34" charset="0"/>
                <a:ea typeface="Calibri" pitchFamily="34" charset="-122"/>
                <a:cs typeface="Calibri" pitchFamily="34" charset="-120"/>
              </a:rPr>
              <a:t>If a claim measurably helps reconstruction, it is more likely to be real.</a:t>
            </a:r>
            <a:endParaRPr lang="en-US" sz="1150" dirty="0"/>
          </a:p>
        </p:txBody>
      </p:sp>
      <p:sp>
        <p:nvSpPr>
          <p:cNvPr id="11" name="Shape 8"/>
          <p:cNvSpPr/>
          <p:nvPr/>
        </p:nvSpPr>
        <p:spPr>
          <a:xfrm>
            <a:off x="7415784" y="1517904"/>
            <a:ext cx="4208983" cy="950976"/>
          </a:xfrm>
          <a:prstGeom prst="roundRect">
            <a:avLst>
              <a:gd name="adj" fmla="val 4808"/>
            </a:avLst>
          </a:prstGeom>
          <a:solidFill>
            <a:srgbClr val="F3F5F8"/>
          </a:solidFill>
          <a:ln w="12700">
            <a:solidFill>
              <a:srgbClr val="333333"/>
            </a:solidFill>
            <a:prstDash val="solid"/>
          </a:ln>
        </p:spPr>
      </p:sp>
      <p:sp>
        <p:nvSpPr>
          <p:cNvPr id="12" name="Shape 9"/>
          <p:cNvSpPr/>
          <p:nvPr/>
        </p:nvSpPr>
        <p:spPr>
          <a:xfrm>
            <a:off x="7635240" y="1773936"/>
            <a:ext cx="420624" cy="420624"/>
          </a:xfrm>
          <a:prstGeom prst="ellipse">
            <a:avLst/>
          </a:prstGeom>
          <a:solidFill>
            <a:srgbClr val="2F6383"/>
          </a:solidFill>
          <a:ln w="12700">
            <a:solidFill>
              <a:srgbClr val="333333"/>
            </a:solidFill>
            <a:prstDash val="solid"/>
          </a:ln>
        </p:spPr>
      </p:sp>
      <p:pic>
        <p:nvPicPr>
          <p:cNvPr id="13" name="Image 1" descr="preencoded.png">    </p:cNvPr>
          <p:cNvPicPr>
            <a:picLocks noChangeAspect="1"/>
          </p:cNvPicPr>
          <p:nvPr/>
        </p:nvPicPr>
        <p:blipFill>
          <a:blip r:embed="rId2"/>
          <a:stretch>
            <a:fillRect/>
          </a:stretch>
        </p:blipFill>
        <p:spPr>
          <a:xfrm>
            <a:off x="7748808" y="1887504"/>
            <a:ext cx="193487" cy="193487"/>
          </a:xfrm>
          <a:prstGeom prst="rect">
            <a:avLst/>
          </a:prstGeom>
        </p:spPr>
      </p:pic>
      <p:sp>
        <p:nvSpPr>
          <p:cNvPr id="14" name="Text 10"/>
          <p:cNvSpPr/>
          <p:nvPr/>
        </p:nvSpPr>
        <p:spPr>
          <a:xfrm>
            <a:off x="8147304" y="1645920"/>
            <a:ext cx="3248863" cy="292608"/>
          </a:xfrm>
          <a:prstGeom prst="rect">
            <a:avLst/>
          </a:prstGeom>
          <a:noFill/>
          <a:ln/>
        </p:spPr>
        <p:txBody>
          <a:bodyPr wrap="square" lIns="0" tIns="0" rIns="0" bIns="0" rtlCol="0" anchor="ctr"/>
          <a:lstStyle/>
          <a:p>
            <a:pPr indent="0" marL="0">
              <a:buNone/>
            </a:pPr>
            <a:r>
              <a:rPr lang="en-US" sz="1200" b="1" dirty="0">
                <a:solidFill>
                  <a:srgbClr val="16202F"/>
                </a:solidFill>
                <a:latin typeface="Calibri" pitchFamily="34" charset="0"/>
                <a:ea typeface="Calibri" pitchFamily="34" charset="-122"/>
                <a:cs typeface="Calibri" pitchFamily="34" charset="-120"/>
              </a:rPr>
              <a:t>Single layer</a:t>
            </a:r>
            <a:endParaRPr lang="en-US" sz="1200" dirty="0"/>
          </a:p>
        </p:txBody>
      </p:sp>
      <p:sp>
        <p:nvSpPr>
          <p:cNvPr id="15" name="Text 11"/>
          <p:cNvSpPr/>
          <p:nvPr/>
        </p:nvSpPr>
        <p:spPr>
          <a:xfrm>
            <a:off x="8147304" y="1929384"/>
            <a:ext cx="3248863" cy="457200"/>
          </a:xfrm>
          <a:prstGeom prst="rect">
            <a:avLst/>
          </a:prstGeom>
          <a:noFill/>
          <a:ln/>
        </p:spPr>
        <p:txBody>
          <a:bodyPr wrap="square" lIns="0" tIns="0" rIns="0" bIns="0" rtlCol="0" anchor="ctr"/>
          <a:lstStyle/>
          <a:p>
            <a:pPr indent="0" marL="0">
              <a:lnSpc>
                <a:spcPct val="112000"/>
              </a:lnSpc>
              <a:buNone/>
            </a:pPr>
            <a:r>
              <a:rPr lang="en-US" sz="1000" dirty="0">
                <a:solidFill>
                  <a:srgbClr val="3A4859"/>
                </a:solidFill>
                <a:latin typeface="Calibri" pitchFamily="34" charset="0"/>
                <a:ea typeface="Calibri" pitchFamily="34" charset="-122"/>
                <a:cs typeface="Calibri" pitchFamily="34" charset="-120"/>
              </a:rPr>
              <a:t>One NLA reads one layer — sweep depths to find where the signal lives.</a:t>
            </a:r>
            <a:endParaRPr lang="en-US" sz="1000" dirty="0"/>
          </a:p>
        </p:txBody>
      </p:sp>
      <p:sp>
        <p:nvSpPr>
          <p:cNvPr id="16" name="Shape 12"/>
          <p:cNvSpPr/>
          <p:nvPr/>
        </p:nvSpPr>
        <p:spPr>
          <a:xfrm>
            <a:off x="7415784" y="2551176"/>
            <a:ext cx="4208983" cy="950976"/>
          </a:xfrm>
          <a:prstGeom prst="roundRect">
            <a:avLst>
              <a:gd name="adj" fmla="val 4808"/>
            </a:avLst>
          </a:prstGeom>
          <a:solidFill>
            <a:srgbClr val="F3F5F8"/>
          </a:solidFill>
          <a:ln w="12700">
            <a:solidFill>
              <a:srgbClr val="333333"/>
            </a:solidFill>
            <a:prstDash val="solid"/>
          </a:ln>
        </p:spPr>
      </p:sp>
      <p:sp>
        <p:nvSpPr>
          <p:cNvPr id="17" name="Shape 13"/>
          <p:cNvSpPr/>
          <p:nvPr/>
        </p:nvSpPr>
        <p:spPr>
          <a:xfrm>
            <a:off x="7635240" y="2807208"/>
            <a:ext cx="420624" cy="420624"/>
          </a:xfrm>
          <a:prstGeom prst="ellipse">
            <a:avLst/>
          </a:prstGeom>
          <a:solidFill>
            <a:srgbClr val="2F6383"/>
          </a:solidFill>
          <a:ln w="12700">
            <a:solidFill>
              <a:srgbClr val="333333"/>
            </a:solidFill>
            <a:prstDash val="solid"/>
          </a:ln>
        </p:spPr>
      </p:sp>
      <p:pic>
        <p:nvPicPr>
          <p:cNvPr id="18" name="Image 2" descr="preencoded.png">    </p:cNvPr>
          <p:cNvPicPr>
            <a:picLocks noChangeAspect="1"/>
          </p:cNvPicPr>
          <p:nvPr/>
        </p:nvPicPr>
        <p:blipFill>
          <a:blip r:embed="rId3"/>
          <a:stretch>
            <a:fillRect/>
          </a:stretch>
        </p:blipFill>
        <p:spPr>
          <a:xfrm>
            <a:off x="7748808" y="2920776"/>
            <a:ext cx="193487" cy="193487"/>
          </a:xfrm>
          <a:prstGeom prst="rect">
            <a:avLst/>
          </a:prstGeom>
        </p:spPr>
      </p:pic>
      <p:sp>
        <p:nvSpPr>
          <p:cNvPr id="19" name="Text 14"/>
          <p:cNvSpPr/>
          <p:nvPr/>
        </p:nvSpPr>
        <p:spPr>
          <a:xfrm>
            <a:off x="8147304" y="2679192"/>
            <a:ext cx="3248863" cy="292608"/>
          </a:xfrm>
          <a:prstGeom prst="rect">
            <a:avLst/>
          </a:prstGeom>
          <a:noFill/>
          <a:ln/>
        </p:spPr>
        <p:txBody>
          <a:bodyPr wrap="square" lIns="0" tIns="0" rIns="0" bIns="0" rtlCol="0" anchor="ctr"/>
          <a:lstStyle/>
          <a:p>
            <a:pPr indent="0" marL="0">
              <a:buNone/>
            </a:pPr>
            <a:r>
              <a:rPr lang="en-US" sz="1200" b="1" dirty="0">
                <a:solidFill>
                  <a:srgbClr val="16202F"/>
                </a:solidFill>
                <a:latin typeface="Calibri" pitchFamily="34" charset="0"/>
                <a:ea typeface="Calibri" pitchFamily="34" charset="-122"/>
                <a:cs typeface="Calibri" pitchFamily="34" charset="-120"/>
              </a:rPr>
              <a:t>Cost</a:t>
            </a:r>
            <a:endParaRPr lang="en-US" sz="1200" dirty="0"/>
          </a:p>
        </p:txBody>
      </p:sp>
      <p:sp>
        <p:nvSpPr>
          <p:cNvPr id="20" name="Text 15"/>
          <p:cNvSpPr/>
          <p:nvPr/>
        </p:nvSpPr>
        <p:spPr>
          <a:xfrm>
            <a:off x="8147304" y="2962656"/>
            <a:ext cx="3248863" cy="457200"/>
          </a:xfrm>
          <a:prstGeom prst="rect">
            <a:avLst/>
          </a:prstGeom>
          <a:noFill/>
          <a:ln/>
        </p:spPr>
        <p:txBody>
          <a:bodyPr wrap="square" lIns="0" tIns="0" rIns="0" bIns="0" rtlCol="0" anchor="ctr"/>
          <a:lstStyle/>
          <a:p>
            <a:pPr indent="0" marL="0">
              <a:lnSpc>
                <a:spcPct val="112000"/>
              </a:lnSpc>
              <a:buNone/>
            </a:pPr>
            <a:r>
              <a:rPr lang="en-US" sz="1000" dirty="0">
                <a:solidFill>
                  <a:srgbClr val="3A4859"/>
                </a:solidFill>
                <a:latin typeface="Calibri" pitchFamily="34" charset="0"/>
                <a:ea typeface="Calibri" pitchFamily="34" charset="-122"/>
                <a:cs typeface="Calibri" pitchFamily="34" charset="-120"/>
              </a:rPr>
              <a:t>~500 generated tokens per activation; impractical past ~10k tokens of context.</a:t>
            </a:r>
            <a:endParaRPr lang="en-US" sz="1000" dirty="0"/>
          </a:p>
        </p:txBody>
      </p:sp>
      <p:sp>
        <p:nvSpPr>
          <p:cNvPr id="21" name="Shape 16"/>
          <p:cNvSpPr/>
          <p:nvPr/>
        </p:nvSpPr>
        <p:spPr>
          <a:xfrm>
            <a:off x="7415784" y="3584448"/>
            <a:ext cx="4208983" cy="950976"/>
          </a:xfrm>
          <a:prstGeom prst="roundRect">
            <a:avLst>
              <a:gd name="adj" fmla="val 4808"/>
            </a:avLst>
          </a:prstGeom>
          <a:solidFill>
            <a:srgbClr val="F3F5F8"/>
          </a:solidFill>
          <a:ln w="12700">
            <a:solidFill>
              <a:srgbClr val="333333"/>
            </a:solidFill>
            <a:prstDash val="solid"/>
          </a:ln>
        </p:spPr>
      </p:sp>
      <p:sp>
        <p:nvSpPr>
          <p:cNvPr id="22" name="Shape 17"/>
          <p:cNvSpPr/>
          <p:nvPr/>
        </p:nvSpPr>
        <p:spPr>
          <a:xfrm>
            <a:off x="7635240" y="3840480"/>
            <a:ext cx="420624" cy="420624"/>
          </a:xfrm>
          <a:prstGeom prst="ellipse">
            <a:avLst/>
          </a:prstGeom>
          <a:solidFill>
            <a:srgbClr val="2F6383"/>
          </a:solidFill>
          <a:ln w="12700">
            <a:solidFill>
              <a:srgbClr val="333333"/>
            </a:solidFill>
            <a:prstDash val="solid"/>
          </a:ln>
        </p:spPr>
      </p:sp>
      <p:pic>
        <p:nvPicPr>
          <p:cNvPr id="23" name="Image 3" descr="preencoded.png">    </p:cNvPr>
          <p:cNvPicPr>
            <a:picLocks noChangeAspect="1"/>
          </p:cNvPicPr>
          <p:nvPr/>
        </p:nvPicPr>
        <p:blipFill>
          <a:blip r:embed="rId4"/>
          <a:stretch>
            <a:fillRect/>
          </a:stretch>
        </p:blipFill>
        <p:spPr>
          <a:xfrm>
            <a:off x="7748808" y="3954048"/>
            <a:ext cx="193487" cy="193487"/>
          </a:xfrm>
          <a:prstGeom prst="rect">
            <a:avLst/>
          </a:prstGeom>
        </p:spPr>
      </p:pic>
      <p:sp>
        <p:nvSpPr>
          <p:cNvPr id="24" name="Text 18"/>
          <p:cNvSpPr/>
          <p:nvPr/>
        </p:nvSpPr>
        <p:spPr>
          <a:xfrm>
            <a:off x="8147304" y="3712464"/>
            <a:ext cx="3248863" cy="292608"/>
          </a:xfrm>
          <a:prstGeom prst="rect">
            <a:avLst/>
          </a:prstGeom>
          <a:noFill/>
          <a:ln/>
        </p:spPr>
        <p:txBody>
          <a:bodyPr wrap="square" lIns="0" tIns="0" rIns="0" bIns="0" rtlCol="0" anchor="ctr"/>
          <a:lstStyle/>
          <a:p>
            <a:pPr indent="0" marL="0">
              <a:buNone/>
            </a:pPr>
            <a:r>
              <a:rPr lang="en-US" sz="1200" b="1" dirty="0">
                <a:solidFill>
                  <a:srgbClr val="16202F"/>
                </a:solidFill>
                <a:latin typeface="Calibri" pitchFamily="34" charset="0"/>
                <a:ea typeface="Calibri" pitchFamily="34" charset="-122"/>
                <a:cs typeface="Calibri" pitchFamily="34" charset="-120"/>
              </a:rPr>
              <a:t>Over-expressive reader</a:t>
            </a:r>
            <a:endParaRPr lang="en-US" sz="1200" dirty="0"/>
          </a:p>
        </p:txBody>
      </p:sp>
      <p:sp>
        <p:nvSpPr>
          <p:cNvPr id="25" name="Text 19"/>
          <p:cNvSpPr/>
          <p:nvPr/>
        </p:nvSpPr>
        <p:spPr>
          <a:xfrm>
            <a:off x="8147304" y="3995928"/>
            <a:ext cx="3248863" cy="457200"/>
          </a:xfrm>
          <a:prstGeom prst="rect">
            <a:avLst/>
          </a:prstGeom>
          <a:noFill/>
          <a:ln/>
        </p:spPr>
        <p:txBody>
          <a:bodyPr wrap="square" lIns="0" tIns="0" rIns="0" bIns="0" rtlCol="0" anchor="ctr"/>
          <a:lstStyle/>
          <a:p>
            <a:pPr indent="0" marL="0">
              <a:lnSpc>
                <a:spcPct val="112000"/>
              </a:lnSpc>
              <a:buNone/>
            </a:pPr>
            <a:r>
              <a:rPr lang="en-US" sz="1000" dirty="0">
                <a:solidFill>
                  <a:srgbClr val="3A4859"/>
                </a:solidFill>
                <a:latin typeface="Calibri" pitchFamily="34" charset="0"/>
                <a:ea typeface="Calibri" pitchFamily="34" charset="-122"/>
                <a:cs typeface="Calibri" pitchFamily="34" charset="-120"/>
              </a:rPr>
              <a:t>The verbaliser can infer beyond what the activation actually contains.</a:t>
            </a:r>
            <a:endParaRPr lang="en-US" sz="1000" dirty="0"/>
          </a:p>
        </p:txBody>
      </p:sp>
      <p:sp>
        <p:nvSpPr>
          <p:cNvPr id="26" name="Shape 20"/>
          <p:cNvSpPr/>
          <p:nvPr/>
        </p:nvSpPr>
        <p:spPr>
          <a:xfrm>
            <a:off x="566928" y="4791456"/>
            <a:ext cx="11057839" cy="914400"/>
          </a:xfrm>
          <a:prstGeom prst="roundRect">
            <a:avLst>
              <a:gd name="adj" fmla="val 6000"/>
            </a:avLst>
          </a:prstGeom>
          <a:solidFill>
            <a:srgbClr val="141B2E"/>
          </a:solidFill>
          <a:ln w="12700">
            <a:solidFill>
              <a:srgbClr val="333333"/>
            </a:solidFill>
            <a:prstDash val="solid"/>
          </a:ln>
        </p:spPr>
      </p:sp>
      <p:sp>
        <p:nvSpPr>
          <p:cNvPr id="27" name="Text 21"/>
          <p:cNvSpPr/>
          <p:nvPr/>
        </p:nvSpPr>
        <p:spPr>
          <a:xfrm>
            <a:off x="841248" y="4882896"/>
            <a:ext cx="10509199" cy="731520"/>
          </a:xfrm>
          <a:prstGeom prst="rect">
            <a:avLst/>
          </a:prstGeom>
          <a:noFill/>
          <a:ln/>
        </p:spPr>
        <p:txBody>
          <a:bodyPr wrap="square" lIns="0" tIns="0" rIns="0" bIns="0" rtlCol="0" anchor="ctr"/>
          <a:lstStyle/>
          <a:p>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Its strength is the flip side of the weakness: </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unsupervised and open-vocabulary, an NLA proposes hypotheses no predefined concept list would ever contain — which is exactly what we need when we do not know in advance what a model does with a corrupted identifier.</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The Move: From Behaviour to Representation</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For every proxy the prior papers already report, an NLA read replaces an inference about cognition with a direct read of it.</a:t>
            </a:r>
            <a:endParaRPr lang="en-US" sz="1250" dirty="0"/>
          </a:p>
        </p:txBody>
      </p:sp>
      <p:sp>
        <p:nvSpPr>
          <p:cNvPr id="4" name="Text 2"/>
          <p:cNvSpPr/>
          <p:nvPr/>
        </p:nvSpPr>
        <p:spPr>
          <a:xfrm>
            <a:off x="585216" y="1481328"/>
            <a:ext cx="5120640" cy="256032"/>
          </a:xfrm>
          <a:prstGeom prst="rect">
            <a:avLst/>
          </a:prstGeom>
          <a:noFill/>
          <a:ln/>
        </p:spPr>
        <p:txBody>
          <a:bodyPr wrap="square" lIns="0" tIns="0" rIns="0" bIns="0" rtlCol="0" anchor="ctr"/>
          <a:lstStyle/>
          <a:p>
            <a:pPr indent="0" marL="0">
              <a:buNone/>
            </a:pPr>
            <a:r>
              <a:rPr lang="en-US" sz="950" b="1" spc="140" kern="0" dirty="0">
                <a:solidFill>
                  <a:srgbClr val="68788B"/>
                </a:solidFill>
                <a:latin typeface="Calibri" pitchFamily="34" charset="0"/>
                <a:ea typeface="Calibri" pitchFamily="34" charset="-122"/>
                <a:cs typeface="Calibri" pitchFamily="34" charset="-120"/>
              </a:rPr>
              <a:t>WHAT WE MEASURE NOW  ·  PROXY</a:t>
            </a:r>
            <a:endParaRPr lang="en-US" sz="950" dirty="0"/>
          </a:p>
        </p:txBody>
      </p:sp>
      <p:sp>
        <p:nvSpPr>
          <p:cNvPr id="5" name="Text 3"/>
          <p:cNvSpPr/>
          <p:nvPr/>
        </p:nvSpPr>
        <p:spPr>
          <a:xfrm>
            <a:off x="6492240" y="1481328"/>
            <a:ext cx="5303520" cy="256032"/>
          </a:xfrm>
          <a:prstGeom prst="rect">
            <a:avLst/>
          </a:prstGeom>
          <a:noFill/>
          <a:ln/>
        </p:spPr>
        <p:txBody>
          <a:bodyPr wrap="square" lIns="0" tIns="0" rIns="0" bIns="0" rtlCol="0" anchor="ctr"/>
          <a:lstStyle/>
          <a:p>
            <a:pPr indent="0" marL="0">
              <a:buNone/>
            </a:pPr>
            <a:r>
              <a:rPr lang="en-US" sz="950" b="1" spc="140" kern="0" dirty="0">
                <a:solidFill>
                  <a:srgbClr val="1FA184"/>
                </a:solidFill>
                <a:latin typeface="Calibri" pitchFamily="34" charset="0"/>
                <a:ea typeface="Calibri" pitchFamily="34" charset="-122"/>
                <a:cs typeface="Calibri" pitchFamily="34" charset="-120"/>
              </a:rPr>
              <a:t>WHAT THE NLA LETS US READ  ·  REPRESENTATION</a:t>
            </a:r>
            <a:endParaRPr lang="en-US" sz="950" dirty="0"/>
          </a:p>
        </p:txBody>
      </p:sp>
      <p:sp>
        <p:nvSpPr>
          <p:cNvPr id="6" name="Shape 4"/>
          <p:cNvSpPr/>
          <p:nvPr/>
        </p:nvSpPr>
        <p:spPr>
          <a:xfrm>
            <a:off x="566928" y="1792224"/>
            <a:ext cx="5166360" cy="896112"/>
          </a:xfrm>
          <a:prstGeom prst="roundRect">
            <a:avLst>
              <a:gd name="adj" fmla="val 5102"/>
            </a:avLst>
          </a:prstGeom>
          <a:solidFill>
            <a:srgbClr val="F3F5F8"/>
          </a:solidFill>
          <a:ln w="12700">
            <a:solidFill>
              <a:srgbClr val="333333"/>
            </a:solidFill>
            <a:prstDash val="solid"/>
          </a:ln>
        </p:spPr>
      </p:sp>
      <p:sp>
        <p:nvSpPr>
          <p:cNvPr id="7" name="Text 5"/>
          <p:cNvSpPr/>
          <p:nvPr/>
        </p:nvSpPr>
        <p:spPr>
          <a:xfrm>
            <a:off x="822960" y="1792224"/>
            <a:ext cx="4663440" cy="896112"/>
          </a:xfrm>
          <a:prstGeom prst="rect">
            <a:avLst/>
          </a:prstGeom>
          <a:noFill/>
          <a:ln/>
        </p:spPr>
        <p:txBody>
          <a:bodyPr wrap="square" lIns="0" tIns="0" rIns="0" bIns="0" rtlCol="0" anchor="ctr"/>
          <a:lstStyle/>
          <a:p>
            <a:pPr indent="0" marL="0">
              <a:lnSpc>
                <a:spcPct val="114000"/>
              </a:lnSpc>
              <a:buNone/>
            </a:pPr>
            <a:r>
              <a:rPr lang="en-US" sz="1200" dirty="0">
                <a:solidFill>
                  <a:srgbClr val="3A4859"/>
                </a:solidFill>
                <a:latin typeface="Calibri" pitchFamily="34" charset="0"/>
                <a:ea typeface="Calibri" pitchFamily="34" charset="-122"/>
                <a:cs typeface="Calibri" pitchFamily="34" charset="-120"/>
              </a:rPr>
              <a:t>Output accuracy — a single right/wrong bit</a:t>
            </a:r>
            <a:endParaRPr lang="en-US" sz="1200" dirty="0"/>
          </a:p>
        </p:txBody>
      </p:sp>
      <p:sp>
        <p:nvSpPr>
          <p:cNvPr id="8" name="Shape 6"/>
          <p:cNvSpPr/>
          <p:nvPr/>
        </p:nvSpPr>
        <p:spPr>
          <a:xfrm>
            <a:off x="5888736" y="2121408"/>
            <a:ext cx="420624" cy="237744"/>
          </a:xfrm>
          <a:prstGeom prst="rightArrow">
            <a:avLst/>
          </a:prstGeom>
          <a:solidFill>
            <a:srgbClr val="1FA184"/>
          </a:solidFill>
          <a:ln w="12700">
            <a:solidFill>
              <a:srgbClr val="333333"/>
            </a:solidFill>
            <a:prstDash val="solid"/>
          </a:ln>
        </p:spPr>
      </p:sp>
      <p:sp>
        <p:nvSpPr>
          <p:cNvPr id="9" name="Shape 7"/>
          <p:cNvSpPr/>
          <p:nvPr/>
        </p:nvSpPr>
        <p:spPr>
          <a:xfrm>
            <a:off x="6492240" y="1792224"/>
            <a:ext cx="5132527" cy="896112"/>
          </a:xfrm>
          <a:prstGeom prst="roundRect">
            <a:avLst>
              <a:gd name="adj" fmla="val 5102"/>
            </a:avLst>
          </a:prstGeom>
          <a:solidFill>
            <a:srgbClr val="E9F5F1"/>
          </a:solidFill>
          <a:ln w="12700">
            <a:solidFill>
              <a:srgbClr val="333333"/>
            </a:solidFill>
            <a:prstDash val="solid"/>
          </a:ln>
        </p:spPr>
      </p:sp>
      <p:sp>
        <p:nvSpPr>
          <p:cNvPr id="10" name="Text 8"/>
          <p:cNvSpPr/>
          <p:nvPr/>
        </p:nvSpPr>
        <p:spPr>
          <a:xfrm>
            <a:off x="6748272" y="1792224"/>
            <a:ext cx="4620463" cy="896112"/>
          </a:xfrm>
          <a:prstGeom prst="rect">
            <a:avLst/>
          </a:prstGeom>
          <a:noFill/>
          <a:ln/>
        </p:spPr>
        <p:txBody>
          <a:bodyPr wrap="square" lIns="0" tIns="0" rIns="0" bIns="0" rtlCol="0" anchor="ctr"/>
          <a:lstStyle/>
          <a:p>
            <a:pPr indent="0" marL="0">
              <a:lnSpc>
                <a:spcPct val="114000"/>
              </a:lnSpc>
              <a:buNone/>
            </a:pPr>
            <a:r>
              <a:rPr lang="en-US" sz="1200" b="1" dirty="0">
                <a:solidFill>
                  <a:srgbClr val="1FA184"/>
                </a:solidFill>
                <a:latin typeface="Calibri" pitchFamily="34" charset="0"/>
                <a:ea typeface="Calibri" pitchFamily="34" charset="-122"/>
                <a:cs typeface="Calibri" pitchFamily="34" charset="-120"/>
              </a:rPr>
              <a:t>Whether the model represents the actual program state</a:t>
            </a:r>
            <a:endParaRPr lang="en-US" sz="1200" dirty="0"/>
          </a:p>
        </p:txBody>
      </p:sp>
      <p:sp>
        <p:nvSpPr>
          <p:cNvPr id="11" name="Shape 9"/>
          <p:cNvSpPr/>
          <p:nvPr/>
        </p:nvSpPr>
        <p:spPr>
          <a:xfrm>
            <a:off x="566928" y="2834640"/>
            <a:ext cx="5166360" cy="896112"/>
          </a:xfrm>
          <a:prstGeom prst="roundRect">
            <a:avLst>
              <a:gd name="adj" fmla="val 5102"/>
            </a:avLst>
          </a:prstGeom>
          <a:solidFill>
            <a:srgbClr val="F3F5F8"/>
          </a:solidFill>
          <a:ln w="12700">
            <a:solidFill>
              <a:srgbClr val="333333"/>
            </a:solidFill>
            <a:prstDash val="solid"/>
          </a:ln>
        </p:spPr>
      </p:sp>
      <p:sp>
        <p:nvSpPr>
          <p:cNvPr id="12" name="Text 10"/>
          <p:cNvSpPr/>
          <p:nvPr/>
        </p:nvSpPr>
        <p:spPr>
          <a:xfrm>
            <a:off x="822960" y="2834640"/>
            <a:ext cx="4663440" cy="896112"/>
          </a:xfrm>
          <a:prstGeom prst="rect">
            <a:avLst/>
          </a:prstGeom>
          <a:noFill/>
          <a:ln/>
        </p:spPr>
        <p:txBody>
          <a:bodyPr wrap="square" lIns="0" tIns="0" rIns="0" bIns="0" rtlCol="0" anchor="ctr"/>
          <a:lstStyle/>
          <a:p>
            <a:pPr indent="0" marL="0">
              <a:lnSpc>
                <a:spcPct val="114000"/>
              </a:lnSpc>
              <a:buNone/>
            </a:pPr>
            <a:r>
              <a:rPr lang="en-US" sz="1200" dirty="0">
                <a:solidFill>
                  <a:srgbClr val="3A4859"/>
                </a:solidFill>
                <a:latin typeface="Calibri" pitchFamily="34" charset="0"/>
                <a:ea typeface="Calibri" pitchFamily="34" charset="-122"/>
                <a:cs typeface="Calibri" pitchFamily="34" charset="-120"/>
              </a:rPr>
              <a:t>CoT trace length as a proxy for effort</a:t>
            </a:r>
            <a:endParaRPr lang="en-US" sz="1200" dirty="0"/>
          </a:p>
        </p:txBody>
      </p:sp>
      <p:sp>
        <p:nvSpPr>
          <p:cNvPr id="13" name="Shape 11"/>
          <p:cNvSpPr/>
          <p:nvPr/>
        </p:nvSpPr>
        <p:spPr>
          <a:xfrm>
            <a:off x="5888736" y="3163824"/>
            <a:ext cx="420624" cy="237744"/>
          </a:xfrm>
          <a:prstGeom prst="rightArrow">
            <a:avLst/>
          </a:prstGeom>
          <a:solidFill>
            <a:srgbClr val="1FA184"/>
          </a:solidFill>
          <a:ln w="12700">
            <a:solidFill>
              <a:srgbClr val="333333"/>
            </a:solidFill>
            <a:prstDash val="solid"/>
          </a:ln>
        </p:spPr>
      </p:sp>
      <p:sp>
        <p:nvSpPr>
          <p:cNvPr id="14" name="Shape 12"/>
          <p:cNvSpPr/>
          <p:nvPr/>
        </p:nvSpPr>
        <p:spPr>
          <a:xfrm>
            <a:off x="6492240" y="2834640"/>
            <a:ext cx="5132527" cy="896112"/>
          </a:xfrm>
          <a:prstGeom prst="roundRect">
            <a:avLst>
              <a:gd name="adj" fmla="val 5102"/>
            </a:avLst>
          </a:prstGeom>
          <a:solidFill>
            <a:srgbClr val="E9F5F1"/>
          </a:solidFill>
          <a:ln w="12700">
            <a:solidFill>
              <a:srgbClr val="333333"/>
            </a:solidFill>
            <a:prstDash val="solid"/>
          </a:ln>
        </p:spPr>
      </p:sp>
      <p:sp>
        <p:nvSpPr>
          <p:cNvPr id="15" name="Text 13"/>
          <p:cNvSpPr/>
          <p:nvPr/>
        </p:nvSpPr>
        <p:spPr>
          <a:xfrm>
            <a:off x="6748272" y="2834640"/>
            <a:ext cx="4620463" cy="896112"/>
          </a:xfrm>
          <a:prstGeom prst="rect">
            <a:avLst/>
          </a:prstGeom>
          <a:noFill/>
          <a:ln/>
        </p:spPr>
        <p:txBody>
          <a:bodyPr wrap="square" lIns="0" tIns="0" rIns="0" bIns="0" rtlCol="0" anchor="ctr"/>
          <a:lstStyle/>
          <a:p>
            <a:pPr indent="0" marL="0">
              <a:lnSpc>
                <a:spcPct val="114000"/>
              </a:lnSpc>
              <a:buNone/>
            </a:pPr>
            <a:r>
              <a:rPr lang="en-US" sz="1200" b="1" dirty="0">
                <a:solidFill>
                  <a:srgbClr val="1FA184"/>
                </a:solidFill>
                <a:latin typeface="Calibri" pitchFamily="34" charset="0"/>
                <a:ea typeface="Calibri" pitchFamily="34" charset="-122"/>
                <a:cs typeface="Calibri" pitchFamily="34" charset="-120"/>
              </a:rPr>
              <a:t>Productive tracing versus fixation and thrashing in the trace</a:t>
            </a:r>
            <a:endParaRPr lang="en-US" sz="1200" dirty="0"/>
          </a:p>
        </p:txBody>
      </p:sp>
      <p:sp>
        <p:nvSpPr>
          <p:cNvPr id="16" name="Shape 14"/>
          <p:cNvSpPr/>
          <p:nvPr/>
        </p:nvSpPr>
        <p:spPr>
          <a:xfrm>
            <a:off x="566928" y="3877056"/>
            <a:ext cx="5166360" cy="896112"/>
          </a:xfrm>
          <a:prstGeom prst="roundRect">
            <a:avLst>
              <a:gd name="adj" fmla="val 5102"/>
            </a:avLst>
          </a:prstGeom>
          <a:solidFill>
            <a:srgbClr val="F3F5F8"/>
          </a:solidFill>
          <a:ln w="12700">
            <a:solidFill>
              <a:srgbClr val="333333"/>
            </a:solidFill>
            <a:prstDash val="solid"/>
          </a:ln>
        </p:spPr>
      </p:sp>
      <p:sp>
        <p:nvSpPr>
          <p:cNvPr id="17" name="Text 15"/>
          <p:cNvSpPr/>
          <p:nvPr/>
        </p:nvSpPr>
        <p:spPr>
          <a:xfrm>
            <a:off x="822960" y="3877056"/>
            <a:ext cx="4663440" cy="896112"/>
          </a:xfrm>
          <a:prstGeom prst="rect">
            <a:avLst/>
          </a:prstGeom>
          <a:noFill/>
          <a:ln/>
        </p:spPr>
        <p:txBody>
          <a:bodyPr wrap="square" lIns="0" tIns="0" rIns="0" bIns="0" rtlCol="0" anchor="ctr"/>
          <a:lstStyle/>
          <a:p>
            <a:pPr indent="0" marL="0">
              <a:lnSpc>
                <a:spcPct val="114000"/>
              </a:lnSpc>
              <a:buNone/>
            </a:pPr>
            <a:r>
              <a:rPr lang="en-US" sz="1200" dirty="0">
                <a:solidFill>
                  <a:srgbClr val="3A4859"/>
                </a:solidFill>
                <a:latin typeface="Calibri" pitchFamily="34" charset="0"/>
                <a:ea typeface="Calibri" pitchFamily="34" charset="-122"/>
                <a:cs typeface="Calibri" pitchFamily="34" charset="-120"/>
              </a:rPr>
              <a:t>Embedding distance of renamed identifiers</a:t>
            </a:r>
            <a:endParaRPr lang="en-US" sz="1200" dirty="0"/>
          </a:p>
        </p:txBody>
      </p:sp>
      <p:sp>
        <p:nvSpPr>
          <p:cNvPr id="18" name="Shape 16"/>
          <p:cNvSpPr/>
          <p:nvPr/>
        </p:nvSpPr>
        <p:spPr>
          <a:xfrm>
            <a:off x="5888736" y="4206240"/>
            <a:ext cx="420624" cy="237744"/>
          </a:xfrm>
          <a:prstGeom prst="rightArrow">
            <a:avLst/>
          </a:prstGeom>
          <a:solidFill>
            <a:srgbClr val="1FA184"/>
          </a:solidFill>
          <a:ln w="12700">
            <a:solidFill>
              <a:srgbClr val="333333"/>
            </a:solidFill>
            <a:prstDash val="solid"/>
          </a:ln>
        </p:spPr>
      </p:sp>
      <p:sp>
        <p:nvSpPr>
          <p:cNvPr id="19" name="Shape 17"/>
          <p:cNvSpPr/>
          <p:nvPr/>
        </p:nvSpPr>
        <p:spPr>
          <a:xfrm>
            <a:off x="6492240" y="3877056"/>
            <a:ext cx="5132527" cy="896112"/>
          </a:xfrm>
          <a:prstGeom prst="roundRect">
            <a:avLst>
              <a:gd name="adj" fmla="val 5102"/>
            </a:avLst>
          </a:prstGeom>
          <a:solidFill>
            <a:srgbClr val="E9F5F1"/>
          </a:solidFill>
          <a:ln w="12700">
            <a:solidFill>
              <a:srgbClr val="333333"/>
            </a:solidFill>
            <a:prstDash val="solid"/>
          </a:ln>
        </p:spPr>
      </p:sp>
      <p:sp>
        <p:nvSpPr>
          <p:cNvPr id="20" name="Text 18"/>
          <p:cNvSpPr/>
          <p:nvPr/>
        </p:nvSpPr>
        <p:spPr>
          <a:xfrm>
            <a:off x="6748272" y="3877056"/>
            <a:ext cx="4620463" cy="896112"/>
          </a:xfrm>
          <a:prstGeom prst="rect">
            <a:avLst/>
          </a:prstGeom>
          <a:noFill/>
          <a:ln/>
        </p:spPr>
        <p:txBody>
          <a:bodyPr wrap="square" lIns="0" tIns="0" rIns="0" bIns="0" rtlCol="0" anchor="ctr"/>
          <a:lstStyle/>
          <a:p>
            <a:pPr indent="0" marL="0">
              <a:lnSpc>
                <a:spcPct val="114000"/>
              </a:lnSpc>
              <a:buNone/>
            </a:pPr>
            <a:r>
              <a:rPr lang="en-US" sz="1200" b="1" dirty="0">
                <a:solidFill>
                  <a:srgbClr val="1FA184"/>
                </a:solidFill>
                <a:latin typeface="Calibri" pitchFamily="34" charset="0"/>
                <a:ea typeface="Calibri" pitchFamily="34" charset="-122"/>
                <a:cs typeface="Calibri" pitchFamily="34" charset="-120"/>
              </a:rPr>
              <a:t>Whether the model adopts the misleading decoy semantics</a:t>
            </a:r>
            <a:endParaRPr lang="en-US" sz="1200" dirty="0"/>
          </a:p>
        </p:txBody>
      </p:sp>
      <p:sp>
        <p:nvSpPr>
          <p:cNvPr id="21" name="Shape 19"/>
          <p:cNvSpPr/>
          <p:nvPr/>
        </p:nvSpPr>
        <p:spPr>
          <a:xfrm>
            <a:off x="566928" y="4919472"/>
            <a:ext cx="5166360" cy="896112"/>
          </a:xfrm>
          <a:prstGeom prst="roundRect">
            <a:avLst>
              <a:gd name="adj" fmla="val 5102"/>
            </a:avLst>
          </a:prstGeom>
          <a:solidFill>
            <a:srgbClr val="F3F5F8"/>
          </a:solidFill>
          <a:ln w="12700">
            <a:solidFill>
              <a:srgbClr val="333333"/>
            </a:solidFill>
            <a:prstDash val="solid"/>
          </a:ln>
        </p:spPr>
      </p:sp>
      <p:sp>
        <p:nvSpPr>
          <p:cNvPr id="22" name="Text 20"/>
          <p:cNvSpPr/>
          <p:nvPr/>
        </p:nvSpPr>
        <p:spPr>
          <a:xfrm>
            <a:off x="822960" y="4919472"/>
            <a:ext cx="4663440" cy="896112"/>
          </a:xfrm>
          <a:prstGeom prst="rect">
            <a:avLst/>
          </a:prstGeom>
          <a:noFill/>
          <a:ln/>
        </p:spPr>
        <p:txBody>
          <a:bodyPr wrap="square" lIns="0" tIns="0" rIns="0" bIns="0" rtlCol="0" anchor="ctr"/>
          <a:lstStyle/>
          <a:p>
            <a:pPr indent="0" marL="0">
              <a:lnSpc>
                <a:spcPct val="114000"/>
              </a:lnSpc>
              <a:buNone/>
            </a:pPr>
            <a:r>
              <a:rPr lang="en-US" sz="1200" dirty="0">
                <a:solidFill>
                  <a:srgbClr val="3A4859"/>
                </a:solidFill>
                <a:latin typeface="Calibri" pitchFamily="34" charset="0"/>
                <a:ea typeface="Calibri" pitchFamily="34" charset="-122"/>
                <a:cs typeface="Calibri" pitchFamily="34" charset="-120"/>
              </a:rPr>
              <a:t>Confidence / log-probability score</a:t>
            </a:r>
            <a:endParaRPr lang="en-US" sz="1200" dirty="0"/>
          </a:p>
        </p:txBody>
      </p:sp>
      <p:sp>
        <p:nvSpPr>
          <p:cNvPr id="23" name="Shape 21"/>
          <p:cNvSpPr/>
          <p:nvPr/>
        </p:nvSpPr>
        <p:spPr>
          <a:xfrm>
            <a:off x="5888736" y="5248656"/>
            <a:ext cx="420624" cy="237744"/>
          </a:xfrm>
          <a:prstGeom prst="rightArrow">
            <a:avLst/>
          </a:prstGeom>
          <a:solidFill>
            <a:srgbClr val="1FA184"/>
          </a:solidFill>
          <a:ln w="12700">
            <a:solidFill>
              <a:srgbClr val="333333"/>
            </a:solidFill>
            <a:prstDash val="solid"/>
          </a:ln>
        </p:spPr>
      </p:sp>
      <p:sp>
        <p:nvSpPr>
          <p:cNvPr id="24" name="Shape 22"/>
          <p:cNvSpPr/>
          <p:nvPr/>
        </p:nvSpPr>
        <p:spPr>
          <a:xfrm>
            <a:off x="6492240" y="4919472"/>
            <a:ext cx="5132527" cy="896112"/>
          </a:xfrm>
          <a:prstGeom prst="roundRect">
            <a:avLst>
              <a:gd name="adj" fmla="val 5102"/>
            </a:avLst>
          </a:prstGeom>
          <a:solidFill>
            <a:srgbClr val="E9F5F1"/>
          </a:solidFill>
          <a:ln w="12700">
            <a:solidFill>
              <a:srgbClr val="333333"/>
            </a:solidFill>
            <a:prstDash val="solid"/>
          </a:ln>
        </p:spPr>
      </p:sp>
      <p:sp>
        <p:nvSpPr>
          <p:cNvPr id="25" name="Text 23"/>
          <p:cNvSpPr/>
          <p:nvPr/>
        </p:nvSpPr>
        <p:spPr>
          <a:xfrm>
            <a:off x="6748272" y="4919472"/>
            <a:ext cx="4620463" cy="896112"/>
          </a:xfrm>
          <a:prstGeom prst="rect">
            <a:avLst/>
          </a:prstGeom>
          <a:noFill/>
          <a:ln/>
        </p:spPr>
        <p:txBody>
          <a:bodyPr wrap="square" lIns="0" tIns="0" rIns="0" bIns="0" rtlCol="0" anchor="ctr"/>
          <a:lstStyle/>
          <a:p>
            <a:pPr indent="0" marL="0">
              <a:lnSpc>
                <a:spcPct val="114000"/>
              </a:lnSpc>
              <a:buNone/>
            </a:pPr>
            <a:r>
              <a:rPr lang="en-US" sz="1200" b="1" dirty="0">
                <a:solidFill>
                  <a:srgbClr val="1FA184"/>
                </a:solidFill>
                <a:latin typeface="Calibri" pitchFamily="34" charset="0"/>
                <a:ea typeface="Calibri" pitchFamily="34" charset="-122"/>
                <a:cs typeface="Calibri" pitchFamily="34" charset="-120"/>
              </a:rPr>
              <a:t>Certainty that is represented internally but never verbalised</a:t>
            </a:r>
            <a:endParaRPr lang="en-US" sz="1200" dirty="0"/>
          </a:p>
        </p:txBody>
      </p:sp>
      <p:sp>
        <p:nvSpPr>
          <p:cNvPr id="26" name="Text 24"/>
          <p:cNvSpPr/>
          <p:nvPr/>
        </p:nvSpPr>
        <p:spPr>
          <a:xfrm>
            <a:off x="566928" y="6053328"/>
            <a:ext cx="11064240" cy="310896"/>
          </a:xfrm>
          <a:prstGeom prst="rect">
            <a:avLst/>
          </a:prstGeom>
          <a:noFill/>
          <a:ln/>
        </p:spPr>
        <p:txBody>
          <a:bodyPr wrap="square" lIns="0" tIns="0" rIns="0" bIns="0" rtlCol="0" anchor="ctr"/>
          <a:lstStyle/>
          <a:p>
            <a:pPr indent="0" marL="0">
              <a:buNone/>
            </a:pPr>
            <a:r>
              <a:rPr lang="en-US" sz="1200" i="1" dirty="0">
                <a:solidFill>
                  <a:srgbClr val="68788B"/>
                </a:solidFill>
                <a:latin typeface="Calibri" pitchFamily="34" charset="0"/>
                <a:ea typeface="Calibri" pitchFamily="34" charset="-122"/>
                <a:cs typeface="Calibri" pitchFamily="34" charset="-120"/>
              </a:rPr>
              <a:t>This is the contribution in one line: the “evaluation proxy” limitations the prior papers list as threats to validity become readable quantities.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NLA Track: Five Experiments on Obfuscated Code</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Reading the Function dimension of the Block Model directly from the residual stream — each experiment mapped to a question we already answered behaviourally.</a:t>
            </a:r>
            <a:endParaRPr lang="en-US" sz="1250" dirty="0"/>
          </a:p>
        </p:txBody>
      </p:sp>
      <p:sp>
        <p:nvSpPr>
          <p:cNvPr id="4" name="Shape 2"/>
          <p:cNvSpPr/>
          <p:nvPr/>
        </p:nvSpPr>
        <p:spPr>
          <a:xfrm>
            <a:off x="566928" y="1444752"/>
            <a:ext cx="5394960" cy="1554480"/>
          </a:xfrm>
          <a:prstGeom prst="roundRect">
            <a:avLst>
              <a:gd name="adj" fmla="val 2941"/>
            </a:avLst>
          </a:prstGeom>
          <a:solidFill>
            <a:srgbClr val="E9F5F1"/>
          </a:solidFill>
          <a:ln w="12700">
            <a:solidFill>
              <a:srgbClr val="333333"/>
            </a:solidFill>
            <a:prstDash val="solid"/>
          </a:ln>
        </p:spPr>
      </p:sp>
      <p:sp>
        <p:nvSpPr>
          <p:cNvPr id="5" name="Shape 3"/>
          <p:cNvSpPr/>
          <p:nvPr/>
        </p:nvSpPr>
        <p:spPr>
          <a:xfrm>
            <a:off x="804672" y="1645920"/>
            <a:ext cx="548640" cy="365760"/>
          </a:xfrm>
          <a:prstGeom prst="roundRect">
            <a:avLst>
              <a:gd name="adj" fmla="val 20000"/>
            </a:avLst>
          </a:prstGeom>
          <a:solidFill>
            <a:srgbClr val="1FA184"/>
          </a:solidFill>
          <a:ln w="12700">
            <a:solidFill>
              <a:srgbClr val="333333"/>
            </a:solidFill>
            <a:prstDash val="solid"/>
          </a:ln>
        </p:spPr>
      </p:sp>
      <p:sp>
        <p:nvSpPr>
          <p:cNvPr id="6" name="Text 4"/>
          <p:cNvSpPr/>
          <p:nvPr/>
        </p:nvSpPr>
        <p:spPr>
          <a:xfrm>
            <a:off x="804672" y="1645920"/>
            <a:ext cx="5486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E1</a:t>
            </a:r>
            <a:endParaRPr lang="en-US" sz="1300" dirty="0"/>
          </a:p>
        </p:txBody>
      </p:sp>
      <p:sp>
        <p:nvSpPr>
          <p:cNvPr id="7" name="Text 5"/>
          <p:cNvSpPr/>
          <p:nvPr/>
        </p:nvSpPr>
        <p:spPr>
          <a:xfrm>
            <a:off x="1444752" y="1627632"/>
            <a:ext cx="4279392" cy="237744"/>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Verbalise the read</a:t>
            </a:r>
            <a:endParaRPr lang="en-US" sz="1250" dirty="0"/>
          </a:p>
        </p:txBody>
      </p:sp>
      <p:sp>
        <p:nvSpPr>
          <p:cNvPr id="8" name="Text 6"/>
          <p:cNvSpPr/>
          <p:nvPr/>
        </p:nvSpPr>
        <p:spPr>
          <a:xfrm>
            <a:off x="1444752" y="1865376"/>
            <a:ext cx="4279392" cy="219456"/>
          </a:xfrm>
          <a:prstGeom prst="rect">
            <a:avLst/>
          </a:prstGeom>
          <a:noFill/>
          <a:ln/>
        </p:spPr>
        <p:txBody>
          <a:bodyPr wrap="square" lIns="0" tIns="0" rIns="0" bIns="0" rtlCol="0" anchor="ctr"/>
          <a:lstStyle/>
          <a:p>
            <a:pPr indent="0" marL="0">
              <a:buNone/>
            </a:pPr>
            <a:r>
              <a:rPr lang="en-US" sz="950" i="1" dirty="0">
                <a:solidFill>
                  <a:srgbClr val="1FA184"/>
                </a:solidFill>
                <a:latin typeface="Calibri" pitchFamily="34" charset="0"/>
                <a:ea typeface="Calibri" pitchFamily="34" charset="-122"/>
                <a:cs typeface="Calibri" pitchFamily="34" charset="-120"/>
              </a:rPr>
              <a:t>Atoms &amp; Blocks</a:t>
            </a:r>
            <a:endParaRPr lang="en-US" sz="950" dirty="0"/>
          </a:p>
        </p:txBody>
      </p:sp>
      <p:sp>
        <p:nvSpPr>
          <p:cNvPr id="9" name="Text 7"/>
          <p:cNvSpPr/>
          <p:nvPr/>
        </p:nvSpPr>
        <p:spPr>
          <a:xfrm>
            <a:off x="804672" y="2121408"/>
            <a:ext cx="4919472" cy="804672"/>
          </a:xfrm>
          <a:prstGeom prst="rect">
            <a:avLst/>
          </a:prstGeom>
          <a:noFill/>
          <a:ln/>
        </p:spPr>
        <p:txBody>
          <a:bodyPr wrap="square" lIns="0" tIns="0" rIns="0" bIns="0" rtlCol="0" anchor="ctr"/>
          <a:lstStyle/>
          <a:p>
            <a:pPr indent="0" marL="0">
              <a:lnSpc>
                <a:spcPct val="110000"/>
              </a:lnSpc>
              <a:buNone/>
            </a:pPr>
            <a:r>
              <a:rPr lang="en-US" sz="950" dirty="0">
                <a:solidFill>
                  <a:srgbClr val="3A4859"/>
                </a:solidFill>
                <a:latin typeface="Calibri" pitchFamily="34" charset="0"/>
                <a:ea typeface="Calibri" pitchFamily="34" charset="-122"/>
                <a:cs typeface="Calibri" pitchFamily="34" charset="-120"/>
              </a:rPr>
              <a:t>Run the verbaliser over identifier and dispatcher tokens at every tier. At L1b: does the internal explanation recover the original semantics, adopt the adversarial frame, or waver? Score against ground-truth function descriptions.</a:t>
            </a:r>
            <a:endParaRPr lang="en-US" sz="950" dirty="0"/>
          </a:p>
        </p:txBody>
      </p:sp>
      <p:sp>
        <p:nvSpPr>
          <p:cNvPr id="10" name="Shape 8"/>
          <p:cNvSpPr/>
          <p:nvPr/>
        </p:nvSpPr>
        <p:spPr>
          <a:xfrm>
            <a:off x="6227064" y="1444752"/>
            <a:ext cx="5394960" cy="1554480"/>
          </a:xfrm>
          <a:prstGeom prst="roundRect">
            <a:avLst>
              <a:gd name="adj" fmla="val 2941"/>
            </a:avLst>
          </a:prstGeom>
          <a:solidFill>
            <a:srgbClr val="FAECEA"/>
          </a:solidFill>
          <a:ln w="12700">
            <a:solidFill>
              <a:srgbClr val="333333"/>
            </a:solidFill>
            <a:prstDash val="solid"/>
          </a:ln>
        </p:spPr>
      </p:sp>
      <p:sp>
        <p:nvSpPr>
          <p:cNvPr id="11" name="Shape 9"/>
          <p:cNvSpPr/>
          <p:nvPr/>
        </p:nvSpPr>
        <p:spPr>
          <a:xfrm>
            <a:off x="6464808" y="1645920"/>
            <a:ext cx="548640" cy="365760"/>
          </a:xfrm>
          <a:prstGeom prst="roundRect">
            <a:avLst>
              <a:gd name="adj" fmla="val 20000"/>
            </a:avLst>
          </a:prstGeom>
          <a:solidFill>
            <a:srgbClr val="C9534B"/>
          </a:solidFill>
          <a:ln w="12700">
            <a:solidFill>
              <a:srgbClr val="333333"/>
            </a:solidFill>
            <a:prstDash val="solid"/>
          </a:ln>
        </p:spPr>
      </p:sp>
      <p:sp>
        <p:nvSpPr>
          <p:cNvPr id="12" name="Text 10"/>
          <p:cNvSpPr/>
          <p:nvPr/>
        </p:nvSpPr>
        <p:spPr>
          <a:xfrm>
            <a:off x="6464808" y="1645920"/>
            <a:ext cx="5486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E2</a:t>
            </a:r>
            <a:endParaRPr lang="en-US" sz="1300" dirty="0"/>
          </a:p>
        </p:txBody>
      </p:sp>
      <p:sp>
        <p:nvSpPr>
          <p:cNvPr id="13" name="Text 11"/>
          <p:cNvSpPr/>
          <p:nvPr/>
        </p:nvSpPr>
        <p:spPr>
          <a:xfrm>
            <a:off x="7104888" y="1627632"/>
            <a:ext cx="4279392" cy="237744"/>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Stroop-detection probe</a:t>
            </a:r>
            <a:endParaRPr lang="en-US" sz="1250" dirty="0"/>
          </a:p>
        </p:txBody>
      </p:sp>
      <p:sp>
        <p:nvSpPr>
          <p:cNvPr id="14" name="Text 12"/>
          <p:cNvSpPr/>
          <p:nvPr/>
        </p:nvSpPr>
        <p:spPr>
          <a:xfrm>
            <a:off x="7104888" y="1865376"/>
            <a:ext cx="4279392" cy="219456"/>
          </a:xfrm>
          <a:prstGeom prst="rect">
            <a:avLst/>
          </a:prstGeom>
          <a:noFill/>
          <a:ln/>
        </p:spPr>
        <p:txBody>
          <a:bodyPr wrap="square" lIns="0" tIns="0" rIns="0" bIns="0" rtlCol="0" anchor="ctr"/>
          <a:lstStyle/>
          <a:p>
            <a:pPr indent="0" marL="0">
              <a:buNone/>
            </a:pPr>
            <a:r>
              <a:rPr lang="en-US" sz="950" i="1" dirty="0">
                <a:solidFill>
                  <a:srgbClr val="C9534B"/>
                </a:solidFill>
                <a:latin typeface="Calibri" pitchFamily="34" charset="0"/>
                <a:ea typeface="Calibri" pitchFamily="34" charset="-122"/>
                <a:cs typeface="Calibri" pitchFamily="34" charset="-120"/>
              </a:rPr>
              <a:t>Atoms · vs. ×3.22 in humans</a:t>
            </a:r>
            <a:endParaRPr lang="en-US" sz="950" dirty="0"/>
          </a:p>
        </p:txBody>
      </p:sp>
      <p:sp>
        <p:nvSpPr>
          <p:cNvPr id="15" name="Text 13"/>
          <p:cNvSpPr/>
          <p:nvPr/>
        </p:nvSpPr>
        <p:spPr>
          <a:xfrm>
            <a:off x="6464808" y="2121408"/>
            <a:ext cx="4919472" cy="804672"/>
          </a:xfrm>
          <a:prstGeom prst="rect">
            <a:avLst/>
          </a:prstGeom>
          <a:noFill/>
          <a:ln/>
        </p:spPr>
        <p:txBody>
          <a:bodyPr wrap="square" lIns="0" tIns="0" rIns="0" bIns="0" rtlCol="0" anchor="ctr"/>
          <a:lstStyle/>
          <a:p>
            <a:pPr indent="0" marL="0">
              <a:lnSpc>
                <a:spcPct val="110000"/>
              </a:lnSpc>
              <a:buNone/>
            </a:pPr>
            <a:r>
              <a:rPr lang="en-US" sz="950" dirty="0">
                <a:solidFill>
                  <a:srgbClr val="3A4859"/>
                </a:solidFill>
                <a:latin typeface="Calibri" pitchFamily="34" charset="0"/>
                <a:ea typeface="Calibri" pitchFamily="34" charset="-122"/>
                <a:cs typeface="Calibri" pitchFamily="34" charset="-120"/>
              </a:rPr>
              <a:t>Do NLA explanations flag “misleading name” — the internal analog of the human confused-then-traced switch? Correlate the flag rate with ISF spikes and HCI: is confident failure preceded by silent detection, or by none at all?</a:t>
            </a:r>
            <a:endParaRPr lang="en-US" sz="950" dirty="0"/>
          </a:p>
        </p:txBody>
      </p:sp>
      <p:sp>
        <p:nvSpPr>
          <p:cNvPr id="16" name="Shape 14"/>
          <p:cNvSpPr/>
          <p:nvPr/>
        </p:nvSpPr>
        <p:spPr>
          <a:xfrm>
            <a:off x="566928" y="3145536"/>
            <a:ext cx="5394960" cy="1554480"/>
          </a:xfrm>
          <a:prstGeom prst="roundRect">
            <a:avLst>
              <a:gd name="adj" fmla="val 2941"/>
            </a:avLst>
          </a:prstGeom>
          <a:solidFill>
            <a:srgbClr val="EBF1F6"/>
          </a:solidFill>
          <a:ln w="12700">
            <a:solidFill>
              <a:srgbClr val="333333"/>
            </a:solidFill>
            <a:prstDash val="solid"/>
          </a:ln>
        </p:spPr>
      </p:sp>
      <p:sp>
        <p:nvSpPr>
          <p:cNvPr id="17" name="Shape 15"/>
          <p:cNvSpPr/>
          <p:nvPr/>
        </p:nvSpPr>
        <p:spPr>
          <a:xfrm>
            <a:off x="804672" y="3346704"/>
            <a:ext cx="548640" cy="365760"/>
          </a:xfrm>
          <a:prstGeom prst="roundRect">
            <a:avLst>
              <a:gd name="adj" fmla="val 20000"/>
            </a:avLst>
          </a:prstGeom>
          <a:solidFill>
            <a:srgbClr val="2F6383"/>
          </a:solidFill>
          <a:ln w="12700">
            <a:solidFill>
              <a:srgbClr val="333333"/>
            </a:solidFill>
            <a:prstDash val="solid"/>
          </a:ln>
        </p:spPr>
      </p:sp>
      <p:sp>
        <p:nvSpPr>
          <p:cNvPr id="18" name="Text 16"/>
          <p:cNvSpPr/>
          <p:nvPr/>
        </p:nvSpPr>
        <p:spPr>
          <a:xfrm>
            <a:off x="804672" y="3346704"/>
            <a:ext cx="5486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E3</a:t>
            </a:r>
            <a:endParaRPr lang="en-US" sz="1300" dirty="0"/>
          </a:p>
        </p:txBody>
      </p:sp>
      <p:sp>
        <p:nvSpPr>
          <p:cNvPr id="19" name="Text 17"/>
          <p:cNvSpPr/>
          <p:nvPr/>
        </p:nvSpPr>
        <p:spPr>
          <a:xfrm>
            <a:off x="1444752" y="3328416"/>
            <a:ext cx="4279392" cy="237744"/>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Dispatcher state tracking</a:t>
            </a:r>
            <a:endParaRPr lang="en-US" sz="1250" dirty="0"/>
          </a:p>
        </p:txBody>
      </p:sp>
      <p:sp>
        <p:nvSpPr>
          <p:cNvPr id="20" name="Text 18"/>
          <p:cNvSpPr/>
          <p:nvPr/>
        </p:nvSpPr>
        <p:spPr>
          <a:xfrm>
            <a:off x="1444752" y="3566160"/>
            <a:ext cx="4279392" cy="219456"/>
          </a:xfrm>
          <a:prstGeom prst="rect">
            <a:avLst/>
          </a:prstGeom>
          <a:noFill/>
          <a:ln/>
        </p:spPr>
        <p:txBody>
          <a:bodyPr wrap="square" lIns="0" tIns="0" rIns="0" bIns="0" rtlCol="0" anchor="ctr"/>
          <a:lstStyle/>
          <a:p>
            <a:pPr indent="0" marL="0">
              <a:buNone/>
            </a:pPr>
            <a:r>
              <a:rPr lang="en-US" sz="950" i="1" dirty="0">
                <a:solidFill>
                  <a:srgbClr val="2F6383"/>
                </a:solidFill>
                <a:latin typeface="Calibri" pitchFamily="34" charset="0"/>
                <a:ea typeface="Calibri" pitchFamily="34" charset="-122"/>
                <a:cs typeface="Calibri" pitchFamily="34" charset="-120"/>
              </a:rPr>
              <a:t>Relations · vs. r = −0.196</a:t>
            </a:r>
            <a:endParaRPr lang="en-US" sz="950" dirty="0"/>
          </a:p>
        </p:txBody>
      </p:sp>
      <p:sp>
        <p:nvSpPr>
          <p:cNvPr id="21" name="Text 19"/>
          <p:cNvSpPr/>
          <p:nvPr/>
        </p:nvSpPr>
        <p:spPr>
          <a:xfrm>
            <a:off x="804672" y="3822192"/>
            <a:ext cx="4919472" cy="804672"/>
          </a:xfrm>
          <a:prstGeom prst="rect">
            <a:avLst/>
          </a:prstGeom>
          <a:noFill/>
          <a:ln/>
        </p:spPr>
        <p:txBody>
          <a:bodyPr wrap="square" lIns="0" tIns="0" rIns="0" bIns="0" rtlCol="0" anchor="ctr"/>
          <a:lstStyle/>
          <a:p>
            <a:pPr indent="0" marL="0">
              <a:lnSpc>
                <a:spcPct val="110000"/>
              </a:lnSpc>
              <a:buNone/>
            </a:pPr>
            <a:r>
              <a:rPr lang="en-US" sz="950" dirty="0">
                <a:solidFill>
                  <a:srgbClr val="3A4859"/>
                </a:solidFill>
                <a:latin typeface="Calibri" pitchFamily="34" charset="0"/>
                <a:ea typeface="Calibri" pitchFamily="34" charset="-122"/>
                <a:cs typeface="Calibri" pitchFamily="34" charset="-120"/>
              </a:rPr>
              <a:t>Read the represented state value at each dispatcher hop under control-flow flattening, score it against ground truth, and correlate with downstream output correctness.</a:t>
            </a:r>
            <a:endParaRPr lang="en-US" sz="950" dirty="0"/>
          </a:p>
        </p:txBody>
      </p:sp>
      <p:sp>
        <p:nvSpPr>
          <p:cNvPr id="22" name="Shape 20"/>
          <p:cNvSpPr/>
          <p:nvPr/>
        </p:nvSpPr>
        <p:spPr>
          <a:xfrm>
            <a:off x="6227064" y="3145536"/>
            <a:ext cx="5394960" cy="1554480"/>
          </a:xfrm>
          <a:prstGeom prst="roundRect">
            <a:avLst>
              <a:gd name="adj" fmla="val 2941"/>
            </a:avLst>
          </a:prstGeom>
          <a:solidFill>
            <a:srgbClr val="E9F5F1"/>
          </a:solidFill>
          <a:ln w="12700">
            <a:solidFill>
              <a:srgbClr val="333333"/>
            </a:solidFill>
            <a:prstDash val="solid"/>
          </a:ln>
        </p:spPr>
      </p:sp>
      <p:sp>
        <p:nvSpPr>
          <p:cNvPr id="23" name="Shape 21"/>
          <p:cNvSpPr/>
          <p:nvPr/>
        </p:nvSpPr>
        <p:spPr>
          <a:xfrm>
            <a:off x="6464808" y="3346704"/>
            <a:ext cx="548640" cy="365760"/>
          </a:xfrm>
          <a:prstGeom prst="roundRect">
            <a:avLst>
              <a:gd name="adj" fmla="val 20000"/>
            </a:avLst>
          </a:prstGeom>
          <a:solidFill>
            <a:srgbClr val="1FA184"/>
          </a:solidFill>
          <a:ln w="12700">
            <a:solidFill>
              <a:srgbClr val="333333"/>
            </a:solidFill>
            <a:prstDash val="solid"/>
          </a:ln>
        </p:spPr>
      </p:sp>
      <p:sp>
        <p:nvSpPr>
          <p:cNvPr id="24" name="Text 22"/>
          <p:cNvSpPr/>
          <p:nvPr/>
        </p:nvSpPr>
        <p:spPr>
          <a:xfrm>
            <a:off x="6464808" y="3346704"/>
            <a:ext cx="5486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E4</a:t>
            </a:r>
            <a:endParaRPr lang="en-US" sz="1300" dirty="0"/>
          </a:p>
        </p:txBody>
      </p:sp>
      <p:sp>
        <p:nvSpPr>
          <p:cNvPr id="25" name="Text 23"/>
          <p:cNvSpPr/>
          <p:nvPr/>
        </p:nvSpPr>
        <p:spPr>
          <a:xfrm>
            <a:off x="7104888" y="3328416"/>
            <a:ext cx="4279392" cy="237744"/>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NLA-derived activation steering</a:t>
            </a:r>
            <a:endParaRPr lang="en-US" sz="1250" dirty="0"/>
          </a:p>
        </p:txBody>
      </p:sp>
      <p:sp>
        <p:nvSpPr>
          <p:cNvPr id="26" name="Text 24"/>
          <p:cNvSpPr/>
          <p:nvPr/>
        </p:nvSpPr>
        <p:spPr>
          <a:xfrm>
            <a:off x="7104888" y="3566160"/>
            <a:ext cx="4279392" cy="219456"/>
          </a:xfrm>
          <a:prstGeom prst="rect">
            <a:avLst/>
          </a:prstGeom>
          <a:noFill/>
          <a:ln/>
        </p:spPr>
        <p:txBody>
          <a:bodyPr wrap="square" lIns="0" tIns="0" rIns="0" bIns="0" rtlCol="0" anchor="ctr"/>
          <a:lstStyle/>
          <a:p>
            <a:pPr indent="0" marL="0">
              <a:buNone/>
            </a:pPr>
            <a:r>
              <a:rPr lang="en-US" sz="950" i="1" dirty="0">
                <a:solidFill>
                  <a:srgbClr val="1FA184"/>
                </a:solidFill>
                <a:latin typeface="Calibri" pitchFamily="34" charset="0"/>
                <a:ea typeface="Calibri" pitchFamily="34" charset="-122"/>
                <a:cs typeface="Calibri" pitchFamily="34" charset="-120"/>
              </a:rPr>
              <a:t>Causal · atom level</a:t>
            </a:r>
            <a:endParaRPr lang="en-US" sz="950" dirty="0"/>
          </a:p>
        </p:txBody>
      </p:sp>
      <p:sp>
        <p:nvSpPr>
          <p:cNvPr id="27" name="Text 25"/>
          <p:cNvSpPr/>
          <p:nvPr/>
        </p:nvSpPr>
        <p:spPr>
          <a:xfrm>
            <a:off x="6464808" y="3822192"/>
            <a:ext cx="4919472" cy="804672"/>
          </a:xfrm>
          <a:prstGeom prst="rect">
            <a:avLst/>
          </a:prstGeom>
          <a:noFill/>
          <a:ln/>
        </p:spPr>
        <p:txBody>
          <a:bodyPr wrap="square" lIns="0" tIns="0" rIns="0" bIns="0" rtlCol="0" anchor="ctr"/>
          <a:lstStyle/>
          <a:p>
            <a:pPr indent="0" marL="0">
              <a:lnSpc>
                <a:spcPct val="110000"/>
              </a:lnSpc>
              <a:buNone/>
            </a:pPr>
            <a:r>
              <a:rPr lang="en-US" sz="950" dirty="0">
                <a:solidFill>
                  <a:srgbClr val="3A4859"/>
                </a:solidFill>
                <a:latin typeface="Calibri" pitchFamily="34" charset="0"/>
                <a:ea typeface="Calibri" pitchFamily="34" charset="-122"/>
                <a:cs typeface="Calibri" pitchFamily="34" charset="-120"/>
              </a:rPr>
              <a:t>Edit an explanation (“counts characters” → “sums prices”, or inject “this is a three-state dispatcher”), reconstruct it, and steer with the difference vector. Does correcting the internal frame rescue L1b and L3 accuracy?</a:t>
            </a:r>
            <a:endParaRPr lang="en-US" sz="950" dirty="0"/>
          </a:p>
        </p:txBody>
      </p:sp>
      <p:sp>
        <p:nvSpPr>
          <p:cNvPr id="28" name="Shape 26"/>
          <p:cNvSpPr/>
          <p:nvPr/>
        </p:nvSpPr>
        <p:spPr>
          <a:xfrm>
            <a:off x="566928" y="4846320"/>
            <a:ext cx="5394960" cy="1554480"/>
          </a:xfrm>
          <a:prstGeom prst="roundRect">
            <a:avLst>
              <a:gd name="adj" fmla="val 2941"/>
            </a:avLst>
          </a:prstGeom>
          <a:solidFill>
            <a:srgbClr val="F3F5F8"/>
          </a:solidFill>
          <a:ln w="12700">
            <a:solidFill>
              <a:srgbClr val="333333"/>
            </a:solidFill>
            <a:prstDash val="solid"/>
          </a:ln>
        </p:spPr>
      </p:sp>
      <p:sp>
        <p:nvSpPr>
          <p:cNvPr id="29" name="Shape 27"/>
          <p:cNvSpPr/>
          <p:nvPr/>
        </p:nvSpPr>
        <p:spPr>
          <a:xfrm>
            <a:off x="804672" y="5047488"/>
            <a:ext cx="548640" cy="365760"/>
          </a:xfrm>
          <a:prstGeom prst="roundRect">
            <a:avLst>
              <a:gd name="adj" fmla="val 20000"/>
            </a:avLst>
          </a:prstGeom>
          <a:solidFill>
            <a:srgbClr val="212D48"/>
          </a:solidFill>
          <a:ln w="12700">
            <a:solidFill>
              <a:srgbClr val="333333"/>
            </a:solidFill>
            <a:prstDash val="solid"/>
          </a:ln>
        </p:spPr>
      </p:sp>
      <p:sp>
        <p:nvSpPr>
          <p:cNvPr id="30" name="Text 28"/>
          <p:cNvSpPr/>
          <p:nvPr/>
        </p:nvSpPr>
        <p:spPr>
          <a:xfrm>
            <a:off x="804672" y="5047488"/>
            <a:ext cx="5486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E5</a:t>
            </a:r>
            <a:endParaRPr lang="en-US" sz="1300" dirty="0"/>
          </a:p>
        </p:txBody>
      </p:sp>
      <p:sp>
        <p:nvSpPr>
          <p:cNvPr id="31" name="Text 29"/>
          <p:cNvSpPr/>
          <p:nvPr/>
        </p:nvSpPr>
        <p:spPr>
          <a:xfrm>
            <a:off x="1444752" y="5029200"/>
            <a:ext cx="4279392" cy="237744"/>
          </a:xfrm>
          <a:prstGeom prst="rect">
            <a:avLst/>
          </a:prstGeom>
          <a:noFill/>
          <a:ln/>
        </p:spPr>
        <p:txBody>
          <a:bodyPr wrap="square" lIns="0" tIns="0" rIns="0" bIns="0" rtlCol="0" anchor="ctr"/>
          <a:lstStyle/>
          <a:p>
            <a:pPr indent="0" marL="0">
              <a:buNone/>
            </a:pPr>
            <a:r>
              <a:rPr lang="en-US" sz="1250" b="1" dirty="0">
                <a:solidFill>
                  <a:srgbClr val="16202F"/>
                </a:solidFill>
                <a:latin typeface="Calibri" pitchFamily="34" charset="0"/>
                <a:ea typeface="Calibri" pitchFamily="34" charset="-122"/>
                <a:cs typeface="Calibri" pitchFamily="34" charset="-120"/>
              </a:rPr>
              <a:t>Internal vs. displayed thinking</a:t>
            </a:r>
            <a:endParaRPr lang="en-US" sz="1250" dirty="0"/>
          </a:p>
        </p:txBody>
      </p:sp>
      <p:sp>
        <p:nvSpPr>
          <p:cNvPr id="32" name="Text 30"/>
          <p:cNvSpPr/>
          <p:nvPr/>
        </p:nvSpPr>
        <p:spPr>
          <a:xfrm>
            <a:off x="1444752" y="5266944"/>
            <a:ext cx="4279392" cy="219456"/>
          </a:xfrm>
          <a:prstGeom prst="rect">
            <a:avLst/>
          </a:prstGeom>
          <a:noFill/>
          <a:ln/>
        </p:spPr>
        <p:txBody>
          <a:bodyPr wrap="square" lIns="0" tIns="0" rIns="0" bIns="0" rtlCol="0" anchor="ctr"/>
          <a:lstStyle/>
          <a:p>
            <a:pPr indent="0" marL="0">
              <a:buNone/>
            </a:pPr>
            <a:r>
              <a:rPr lang="en-US" sz="950" i="1" dirty="0">
                <a:solidFill>
                  <a:srgbClr val="212D48"/>
                </a:solidFill>
                <a:latin typeface="Calibri" pitchFamily="34" charset="0"/>
                <a:ea typeface="Calibri" pitchFamily="34" charset="-122"/>
                <a:cs typeface="Calibri" pitchFamily="34" charset="-120"/>
              </a:rPr>
              <a:t>Macro · CoT faithfulness</a:t>
            </a:r>
            <a:endParaRPr lang="en-US" sz="950" dirty="0"/>
          </a:p>
        </p:txBody>
      </p:sp>
      <p:sp>
        <p:nvSpPr>
          <p:cNvPr id="33" name="Text 31"/>
          <p:cNvSpPr/>
          <p:nvPr/>
        </p:nvSpPr>
        <p:spPr>
          <a:xfrm>
            <a:off x="804672" y="5522976"/>
            <a:ext cx="4919472" cy="804672"/>
          </a:xfrm>
          <a:prstGeom prst="rect">
            <a:avLst/>
          </a:prstGeom>
          <a:noFill/>
          <a:ln/>
        </p:spPr>
        <p:txBody>
          <a:bodyPr wrap="square" lIns="0" tIns="0" rIns="0" bIns="0" rtlCol="0" anchor="ctr"/>
          <a:lstStyle/>
          <a:p>
            <a:pPr indent="0" marL="0">
              <a:lnSpc>
                <a:spcPct val="110000"/>
              </a:lnSpc>
              <a:buNone/>
            </a:pPr>
            <a:r>
              <a:rPr lang="en-US" sz="950" dirty="0">
                <a:solidFill>
                  <a:srgbClr val="3A4859"/>
                </a:solidFill>
                <a:latin typeface="Calibri" pitchFamily="34" charset="0"/>
                <a:ea typeface="Calibri" pitchFamily="34" charset="-122"/>
                <a:cs typeface="Calibri" pitchFamily="34" charset="-120"/>
              </a:rPr>
              <a:t>Compare NLA verbalisations of the residual stream with the model’s own chain of thought over the same tokens, quantifying unverbalised comprehension and confusion (Turpin ’23; Lanham ’23).</a:t>
            </a:r>
            <a:endParaRPr lang="en-US" sz="950" dirty="0"/>
          </a:p>
        </p:txBody>
      </p:sp>
      <p:sp>
        <p:nvSpPr>
          <p:cNvPr id="34" name="Shape 32"/>
          <p:cNvSpPr/>
          <p:nvPr/>
        </p:nvSpPr>
        <p:spPr>
          <a:xfrm>
            <a:off x="6227064" y="4846320"/>
            <a:ext cx="5394960" cy="1554480"/>
          </a:xfrm>
          <a:prstGeom prst="roundRect">
            <a:avLst>
              <a:gd name="adj" fmla="val 2941"/>
            </a:avLst>
          </a:prstGeom>
          <a:solidFill>
            <a:srgbClr val="141B2E"/>
          </a:solidFill>
          <a:ln w="12700">
            <a:solidFill>
              <a:srgbClr val="333333"/>
            </a:solidFill>
            <a:prstDash val="solid"/>
          </a:ln>
        </p:spPr>
      </p:sp>
      <p:sp>
        <p:nvSpPr>
          <p:cNvPr id="35" name="Text 33"/>
          <p:cNvSpPr/>
          <p:nvPr/>
        </p:nvSpPr>
        <p:spPr>
          <a:xfrm>
            <a:off x="6464808" y="5010912"/>
            <a:ext cx="4919472" cy="274320"/>
          </a:xfrm>
          <a:prstGeom prst="rect">
            <a:avLst/>
          </a:prstGeom>
          <a:noFill/>
          <a:ln/>
        </p:spPr>
        <p:txBody>
          <a:bodyPr wrap="square" lIns="0" tIns="0" rIns="0" bIns="0" rtlCol="0" anchor="ctr"/>
          <a:lstStyle/>
          <a:p>
            <a:pPr indent="0" marL="0">
              <a:buNone/>
            </a:pPr>
            <a:r>
              <a:rPr lang="en-US" sz="1250" b="1" dirty="0">
                <a:solidFill>
                  <a:srgbClr val="6FD3B8"/>
                </a:solidFill>
                <a:latin typeface="Calibri" pitchFamily="34" charset="0"/>
                <a:ea typeface="Calibri" pitchFamily="34" charset="-122"/>
                <a:cs typeface="Calibri" pitchFamily="34" charset="-120"/>
              </a:rPr>
              <a:t>Human contact point</a:t>
            </a:r>
            <a:endParaRPr lang="en-US" sz="1250" dirty="0"/>
          </a:p>
        </p:txBody>
      </p:sp>
      <p:sp>
        <p:nvSpPr>
          <p:cNvPr id="36" name="Text 34"/>
          <p:cNvSpPr/>
          <p:nvPr/>
        </p:nvSpPr>
        <p:spPr>
          <a:xfrm>
            <a:off x="6464808" y="5321808"/>
            <a:ext cx="4919472" cy="932688"/>
          </a:xfrm>
          <a:prstGeom prst="rect">
            <a:avLst/>
          </a:prstGeom>
          <a:noFill/>
          <a:ln/>
        </p:spPr>
        <p:txBody>
          <a:bodyPr wrap="square" lIns="0" tIns="0" rIns="0" bIns="0" rtlCol="0" anchor="ctr"/>
          <a:lstStyle/>
          <a:p>
            <a:pPr indent="0" marL="0">
              <a:lnSpc>
                <a:spcPct val="110000"/>
              </a:lnSpc>
              <a:buNone/>
            </a:pPr>
            <a:r>
              <a:rPr lang="en-US" sz="950" dirty="0">
                <a:solidFill>
                  <a:srgbClr val="C7D3E3"/>
                </a:solidFill>
                <a:latin typeface="Calibri" pitchFamily="34" charset="0"/>
                <a:ea typeface="Calibri" pitchFamily="34" charset="-122"/>
                <a:cs typeface="Calibri" pitchFamily="34" charset="-120"/>
              </a:rPr>
              <a:t>E1 and E2 put model internals on the same instrument as the human self-reports of Paper 3, resolving whether the “shared grader ruler” convergence — both populations peaking in heuristic reasoning at L1b — extends to what is represented, not just how it is scored.</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Four Recipes Borrowed Directly from the NLA Work</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Each published technique maps onto a specific prior result, converting a statistic into a testable internal mechanism.</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1874520"/>
                <a:gridCol w="3063240"/>
                <a:gridCol w="3520440"/>
                <a:gridCol w="2596896"/>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Recipe</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Original finding</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Our adaptation to obfuscated code</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Prior result it tests</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r>
              <a:tr h="0">
                <a:tc>
                  <a:txBody>
                    <a:bodyPr/>
                    <a:lstStyle/>
                    <a:p>
                      <a:pPr indent="0" marL="0">
                        <a:buNone/>
                      </a:pPr>
                      <a:r>
                        <a:rPr lang="en-US" sz="900" b="1" dirty="0">
                          <a:solidFill>
                            <a:srgbClr val="16202F"/>
                          </a:solidFill>
                          <a:latin typeface="Calibri" pitchFamily="34" charset="0"/>
                          <a:ea typeface="Calibri" pitchFamily="34" charset="-122"/>
                          <a:cs typeface="Calibri" pitchFamily="34" charset="-120"/>
                        </a:rPr>
                        <a:t>Steering</a:t>
                      </a:r>
                      <a:endParaRPr lang="en-US" sz="900" dirty="0">
                        <a:latin typeface="Calibri" charset="0"/>
                        <a:ea typeface="Calibri" charset="0"/>
                        <a:cs typeface="Calibri" charset="0"/>
                      </a:endParaRPr>
                    </a:p>
                    <a:p>
                      <a:pPr indent="0" marL="0">
                        <a:buNone/>
                      </a:pPr>
                      <a:r>
                        <a:rPr lang="en-US" sz="900" b="1" dirty="0">
                          <a:solidFill>
                            <a:srgbClr val="16202F"/>
                          </a:solidFill>
                          <a:latin typeface="Calibri" pitchFamily="34" charset="0"/>
                          <a:ea typeface="Calibri" pitchFamily="34" charset="-122"/>
                          <a:cs typeface="Calibri" pitchFamily="34" charset="-120"/>
                        </a:rPr>
                        <a:t>via edited explanation</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Editing a poem’s plan (rabbit → mouse) and reconstructing it yields a steering vector that rewrites the rhyme at α ≥ 0.5.</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On the real L1b trap (fibfib renamed to smoothArea, n → _lastNSecs): if the NLA reads the decoy, edit it to the true role and steer that token. Predict a confident-wrong output flips toward correct.</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C9534B"/>
                          </a:solidFill>
                          <a:latin typeface="Calibri" pitchFamily="34" charset="0"/>
                          <a:ea typeface="Calibri" pitchFamily="34" charset="-122"/>
                          <a:cs typeface="Calibri" pitchFamily="34" charset="-120"/>
                        </a:rPr>
                        <a:t>Turns the 21.25% accuracy collapse into a manipulable mechanism.</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900" b="1" dirty="0">
                          <a:solidFill>
                            <a:srgbClr val="16202F"/>
                          </a:solidFill>
                          <a:latin typeface="Calibri" pitchFamily="34" charset="0"/>
                          <a:ea typeface="Calibri" pitchFamily="34" charset="-122"/>
                          <a:cs typeface="Calibri" pitchFamily="34" charset="-120"/>
                        </a:rPr>
                        <a:t>Onset tracking</a:t>
                      </a:r>
                      <a:endParaRPr lang="en-US" sz="900" dirty="0">
                        <a:latin typeface="Calibri" charset="0"/>
                        <a:ea typeface="Calibri" charset="0"/>
                        <a:cs typeface="Calibri" charset="0"/>
                      </a:endParaRPr>
                    </a:p>
                    <a:p>
                      <a:pPr indent="0" marL="0">
                        <a:buNone/>
                      </a:pPr>
                      <a:r>
                        <a:rPr lang="en-US" sz="900" b="1" dirty="0">
                          <a:solidFill>
                            <a:srgbClr val="16202F"/>
                          </a:solidFill>
                          <a:latin typeface="Calibri" pitchFamily="34" charset="0"/>
                          <a:ea typeface="Calibri" pitchFamily="34" charset="-122"/>
                          <a:cs typeface="Calibri" pitchFamily="34" charset="-120"/>
                        </a:rPr>
                        <a:t>when does the trap spring?</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The target language was represented before any cue in the prompt and persisted across tokens; tracking by position traced the bug to training data.</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Run the NLA over every token of the snippet and string-match decoy references (“area / time”) against true ones (“recurrence / sum”); plot decoy-reference rate by token position.</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C9534B"/>
                          </a:solidFill>
                          <a:latin typeface="Calibri" pitchFamily="34" charset="0"/>
                          <a:ea typeface="Calibri" pitchFamily="34" charset="-122"/>
                          <a:cs typeface="Calibri" pitchFamily="34" charset="-120"/>
                        </a:rPr>
                        <a:t>Does an adversarial name bait fast, pre-trace commitment, as the dual-process account claims?</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900" b="1" dirty="0">
                          <a:solidFill>
                            <a:srgbClr val="16202F"/>
                          </a:solidFill>
                          <a:latin typeface="Calibri" pitchFamily="34" charset="0"/>
                          <a:ea typeface="Calibri" pitchFamily="34" charset="-122"/>
                          <a:cs typeface="Calibri" pitchFamily="34" charset="-120"/>
                        </a:rPr>
                        <a:t>Cached-answer analysis</a:t>
                      </a:r>
                      <a:endParaRPr lang="en-US" sz="900" dirty="0">
                        <a:latin typeface="Calibri" charset="0"/>
                        <a:ea typeface="Calibri" charset="0"/>
                        <a:cs typeface="Calibri" charset="0"/>
                      </a:endParaRPr>
                    </a:p>
                    <a:p>
                      <a:pPr indent="0" marL="0">
                        <a:buNone/>
                      </a:pPr>
                      <a:r>
                        <a:rPr lang="en-US" sz="900" b="1" dirty="0">
                          <a:solidFill>
                            <a:srgbClr val="16202F"/>
                          </a:solidFill>
                          <a:latin typeface="Calibri" pitchFamily="34" charset="0"/>
                          <a:ea typeface="Calibri" pitchFamily="34" charset="-122"/>
                          <a:cs typeface="Calibri" pitchFamily="34" charset="-120"/>
                        </a:rPr>
                        <a:t>the HCI mechanism</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A model cached its own answer and ignored a contradicting tool result; a wrong answer was represented across input tokens before any computation.</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In high-confidence-incorrect cases, test whether the model caches a decoy-driven answer early — the Tribonacci item is the natural probe, where wrong answers anchored to the input (12, 15) or to small Fibonacci numbers.</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C9534B"/>
                          </a:solidFill>
                          <a:latin typeface="Calibri" pitchFamily="34" charset="0"/>
                          <a:ea typeface="Calibri" pitchFamily="34" charset="-122"/>
                          <a:cs typeface="Calibri" pitchFamily="34" charset="-120"/>
                        </a:rPr>
                        <a:t>Explains why adversarial renaming produces confident wrong answers.</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900" b="1" dirty="0">
                          <a:solidFill>
                            <a:srgbClr val="16202F"/>
                          </a:solidFill>
                          <a:latin typeface="Calibri" pitchFamily="34" charset="0"/>
                          <a:ea typeface="Calibri" pitchFamily="34" charset="-122"/>
                          <a:cs typeface="Calibri" pitchFamily="34" charset="-120"/>
                        </a:rPr>
                        <a:t>Hidden-state grader</a:t>
                      </a:r>
                      <a:endParaRPr lang="en-US" sz="900" dirty="0">
                        <a:latin typeface="Calibri" charset="0"/>
                        <a:ea typeface="Calibri" charset="0"/>
                        <a:cs typeface="Calibri" charset="0"/>
                      </a:endParaRPr>
                    </a:p>
                    <a:p>
                      <a:pPr indent="0" marL="0">
                        <a:buNone/>
                      </a:pPr>
                      <a:r>
                        <a:rPr lang="en-US" sz="900" b="1" dirty="0">
                          <a:solidFill>
                            <a:srgbClr val="16202F"/>
                          </a:solidFill>
                          <a:latin typeface="Calibri" pitchFamily="34" charset="0"/>
                          <a:ea typeface="Calibri" pitchFamily="34" charset="-122"/>
                          <a:cs typeface="Calibri" pitchFamily="34" charset="-120"/>
                        </a:rPr>
                        <a:t>unverbalised commitment</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A grader reading NLAs over 50 sampled tokens detected evaluation awareness the model never verbalised (97% agreement), and it moved under three manipulations.</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Build a “decoy-commitment” grader over NLA explanations with three matched manipulations: L0 vs L1b, steer toward/against the decoy, and de-bait by swapping adversarial names for neutral L1 names.</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b="1" dirty="0">
                          <a:solidFill>
                            <a:srgbClr val="C9534B"/>
                          </a:solidFill>
                          <a:latin typeface="Calibri" pitchFamily="34" charset="0"/>
                          <a:ea typeface="Calibri" pitchFamily="34" charset="-122"/>
                          <a:cs typeface="Calibri" pitchFamily="34" charset="-120"/>
                        </a:rPr>
                        <a:t>Gives the HCI signature an internal, manipulation-validated metric.</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566928" y="6144768"/>
            <a:ext cx="11064240" cy="310896"/>
          </a:xfrm>
          <a:prstGeom prst="rect">
            <a:avLst/>
          </a:prstGeom>
          <a:noFill/>
          <a:ln/>
        </p:spPr>
        <p:txBody>
          <a:bodyPr wrap="square" lIns="0" tIns="0" rIns="0" bIns="0" rtlCol="0" anchor="ctr"/>
          <a:lstStyle/>
          <a:p>
            <a:pPr indent="0" marL="0">
              <a:buNone/>
            </a:pPr>
            <a:r>
              <a:rPr lang="en-US" sz="1050" i="1" dirty="0">
                <a:solidFill>
                  <a:srgbClr val="68788B"/>
                </a:solidFill>
                <a:latin typeface="Calibri" pitchFamily="34" charset="0"/>
                <a:ea typeface="Calibri" pitchFamily="34" charset="-122"/>
                <a:cs typeface="Calibri" pitchFamily="34" charset="-120"/>
              </a:rPr>
              <a:t>Confabulation rule applied throughout: trust a claim only if it recurs across adjacent tokens, and cross-check every claim against the visible transcript.</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Case Study: The smoothArea Renaming Trap</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A real L1b snippet from the study — fibfib, a three-term recurrence, disguised as smoothArea(_lastNSecs). Identical behaviour, misleading name.</a:t>
            </a:r>
            <a:endParaRPr lang="en-US" sz="1250" dirty="0"/>
          </a:p>
        </p:txBody>
      </p:sp>
      <p:sp>
        <p:nvSpPr>
          <p:cNvPr id="4" name="Shape 2"/>
          <p:cNvSpPr/>
          <p:nvPr/>
        </p:nvSpPr>
        <p:spPr>
          <a:xfrm>
            <a:off x="566928" y="1481328"/>
            <a:ext cx="5760720" cy="1737360"/>
          </a:xfrm>
          <a:prstGeom prst="roundRect">
            <a:avLst>
              <a:gd name="adj" fmla="val 2632"/>
            </a:avLst>
          </a:prstGeom>
          <a:solidFill>
            <a:srgbClr val="141B2E"/>
          </a:solidFill>
          <a:ln w="12700">
            <a:solidFill>
              <a:srgbClr val="333333"/>
            </a:solidFill>
            <a:prstDash val="solid"/>
          </a:ln>
        </p:spPr>
      </p:sp>
      <p:sp>
        <p:nvSpPr>
          <p:cNvPr id="5" name="Text 3"/>
          <p:cNvSpPr/>
          <p:nvPr/>
        </p:nvSpPr>
        <p:spPr>
          <a:xfrm>
            <a:off x="804672" y="1572768"/>
            <a:ext cx="5303520" cy="237744"/>
          </a:xfrm>
          <a:prstGeom prst="rect">
            <a:avLst/>
          </a:prstGeom>
          <a:noFill/>
          <a:ln/>
        </p:spPr>
        <p:txBody>
          <a:bodyPr wrap="square" lIns="0" tIns="0" rIns="0" bIns="0" rtlCol="0" anchor="ctr"/>
          <a:lstStyle/>
          <a:p>
            <a:pPr indent="0" marL="0">
              <a:buNone/>
            </a:pPr>
            <a:r>
              <a:rPr lang="en-US" sz="900" b="1" spc="120" kern="0" dirty="0">
                <a:solidFill>
                  <a:srgbClr val="6FD3B8"/>
                </a:solidFill>
                <a:latin typeface="Calibri" pitchFamily="34" charset="0"/>
                <a:ea typeface="Calibri" pitchFamily="34" charset="-122"/>
                <a:cs typeface="Calibri" pitchFamily="34" charset="-120"/>
              </a:rPr>
              <a:t>L0  ·  NEUTRAL NAME (no cue)</a:t>
            </a:r>
            <a:endParaRPr lang="en-US" sz="900" dirty="0"/>
          </a:p>
        </p:txBody>
      </p:sp>
      <p:sp>
        <p:nvSpPr>
          <p:cNvPr id="6" name="Text 4"/>
          <p:cNvSpPr/>
          <p:nvPr/>
        </p:nvSpPr>
        <p:spPr>
          <a:xfrm>
            <a:off x="804672" y="1828800"/>
            <a:ext cx="5303520" cy="1280160"/>
          </a:xfrm>
          <a:prstGeom prst="rect">
            <a:avLst/>
          </a:prstGeom>
          <a:noFill/>
          <a:ln/>
        </p:spPr>
        <p:txBody>
          <a:bodyPr wrap="square" lIns="0" tIns="0" rIns="0" bIns="0" rtlCol="0" anchor="ctr"/>
          <a:lstStyle/>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const myFunct = (n) =&gt; {</a:t>
            </a:r>
            <a:endParaRPr lang="en-US" sz="950" dirty="0"/>
          </a:p>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if (n==0 || n==1) return 0;</a:t>
            </a:r>
            <a:endParaRPr lang="en-US" sz="950" dirty="0"/>
          </a:p>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if (n==2) return 1;</a:t>
            </a:r>
            <a:endParaRPr lang="en-US" sz="950" dirty="0"/>
          </a:p>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return myFunct(n-1) + myFunct(n-2)</a:t>
            </a:r>
            <a:endParaRPr lang="en-US" sz="950" dirty="0"/>
          </a:p>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 myFunct(n-3);</a:t>
            </a:r>
            <a:endParaRPr lang="en-US" sz="950" dirty="0"/>
          </a:p>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 myFunct(14) -&gt; 927</a:t>
            </a:r>
            <a:endParaRPr lang="en-US" sz="950" dirty="0"/>
          </a:p>
        </p:txBody>
      </p:sp>
      <p:sp>
        <p:nvSpPr>
          <p:cNvPr id="7" name="Shape 5"/>
          <p:cNvSpPr/>
          <p:nvPr/>
        </p:nvSpPr>
        <p:spPr>
          <a:xfrm>
            <a:off x="566928" y="3310128"/>
            <a:ext cx="5760720" cy="2011680"/>
          </a:xfrm>
          <a:prstGeom prst="roundRect">
            <a:avLst>
              <a:gd name="adj" fmla="val 2273"/>
            </a:avLst>
          </a:prstGeom>
          <a:solidFill>
            <a:srgbClr val="141B2E"/>
          </a:solidFill>
          <a:ln w="12700">
            <a:solidFill>
              <a:srgbClr val="333333"/>
            </a:solidFill>
            <a:prstDash val="solid"/>
          </a:ln>
        </p:spPr>
      </p:sp>
      <p:sp>
        <p:nvSpPr>
          <p:cNvPr id="8" name="Text 6"/>
          <p:cNvSpPr/>
          <p:nvPr/>
        </p:nvSpPr>
        <p:spPr>
          <a:xfrm>
            <a:off x="804672" y="3401568"/>
            <a:ext cx="5303520" cy="237744"/>
          </a:xfrm>
          <a:prstGeom prst="rect">
            <a:avLst/>
          </a:prstGeom>
          <a:noFill/>
          <a:ln/>
        </p:spPr>
        <p:txBody>
          <a:bodyPr wrap="square" lIns="0" tIns="0" rIns="0" bIns="0" rtlCol="0" anchor="ctr"/>
          <a:lstStyle/>
          <a:p>
            <a:pPr indent="0" marL="0">
              <a:buNone/>
            </a:pPr>
            <a:r>
              <a:rPr lang="en-US" sz="900" b="1" spc="120" kern="0" dirty="0">
                <a:solidFill>
                  <a:srgbClr val="E89A93"/>
                </a:solidFill>
                <a:latin typeface="Calibri" pitchFamily="34" charset="0"/>
                <a:ea typeface="Calibri" pitchFamily="34" charset="-122"/>
                <a:cs typeface="Calibri" pitchFamily="34" charset="-120"/>
              </a:rPr>
              <a:t>L1b  ·  ADVERSARIAL NAME (decoy cue)</a:t>
            </a:r>
            <a:endParaRPr lang="en-US" sz="900" dirty="0"/>
          </a:p>
        </p:txBody>
      </p:sp>
      <p:sp>
        <p:nvSpPr>
          <p:cNvPr id="9" name="Text 7"/>
          <p:cNvSpPr/>
          <p:nvPr/>
        </p:nvSpPr>
        <p:spPr>
          <a:xfrm>
            <a:off x="804672" y="3657600"/>
            <a:ext cx="5303520" cy="1572768"/>
          </a:xfrm>
          <a:prstGeom prst="rect">
            <a:avLst/>
          </a:prstGeom>
          <a:noFill/>
          <a:ln/>
        </p:spPr>
        <p:txBody>
          <a:bodyPr wrap="square" lIns="0" tIns="0" rIns="0" bIns="0" rtlCol="0" anchor="ctr"/>
          <a:lstStyle/>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const </a:t>
            </a:r>
            <a:pPr indent="0" marL="0">
              <a:lnSpc>
                <a:spcPct val="102000"/>
              </a:lnSpc>
              <a:buNone/>
            </a:pPr>
            <a:r>
              <a:rPr lang="en-US" sz="950" dirty="0">
                <a:solidFill>
                  <a:srgbClr val="E8756B"/>
                </a:solidFill>
                <a:latin typeface="Courier New" pitchFamily="34" charset="0"/>
                <a:ea typeface="Courier New" pitchFamily="34" charset="-122"/>
                <a:cs typeface="Courier New" pitchFamily="34" charset="-120"/>
              </a:rPr>
              <a:t>smoothArea</a:t>
            </a:r>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 (</a:t>
            </a:r>
            <a:pPr indent="0" marL="0">
              <a:lnSpc>
                <a:spcPct val="102000"/>
              </a:lnSpc>
              <a:buNone/>
            </a:pPr>
            <a:r>
              <a:rPr lang="en-US" sz="950" dirty="0">
                <a:solidFill>
                  <a:srgbClr val="E8756B"/>
                </a:solidFill>
                <a:latin typeface="Courier New" pitchFamily="34" charset="0"/>
                <a:ea typeface="Courier New" pitchFamily="34" charset="-122"/>
                <a:cs typeface="Courier New" pitchFamily="34" charset="-120"/>
              </a:rPr>
              <a:t>_lastNSecs</a:t>
            </a:r>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=&gt; {</a:t>
            </a:r>
            <a:endParaRPr lang="en-US" sz="950" dirty="0"/>
          </a:p>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if (_lastNSecs==0 || _lastNSecs==1)</a:t>
            </a:r>
            <a:endParaRPr lang="en-US" sz="950" dirty="0"/>
          </a:p>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return 0;</a:t>
            </a:r>
            <a:endParaRPr lang="en-US" sz="950" dirty="0"/>
          </a:p>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if (_lastNSecs==2) return 1;</a:t>
            </a:r>
            <a:endParaRPr lang="en-US" sz="950" dirty="0"/>
          </a:p>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return smoothArea(_lastNSecs-1)</a:t>
            </a:r>
            <a:endParaRPr lang="en-US" sz="950" dirty="0"/>
          </a:p>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 smoothArea(_lastNSecs-2)</a:t>
            </a:r>
            <a:endParaRPr lang="en-US" sz="950" dirty="0"/>
          </a:p>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 smoothArea(_lastNSecs-3);</a:t>
            </a:r>
            <a:endParaRPr lang="en-US" sz="950" dirty="0"/>
          </a:p>
          <a:p>
            <a:pPr indent="0" marL="0">
              <a:lnSpc>
                <a:spcPct val="102000"/>
              </a:lnSpc>
              <a:buNone/>
            </a:pPr>
            <a:r>
              <a:rPr lang="en-US" sz="950" dirty="0">
                <a:solidFill>
                  <a:srgbClr val="C7D3E3"/>
                </a:solidFill>
                <a:latin typeface="Courier New" pitchFamily="34" charset="0"/>
                <a:ea typeface="Courier New" pitchFamily="34" charset="-122"/>
                <a:cs typeface="Courier New" pitchFamily="34" charset="-120"/>
              </a:rPr>
              <a:t>}   // smoothArea(14) -&gt; 927  (same!)</a:t>
            </a:r>
            <a:endParaRPr lang="en-US" sz="950" dirty="0"/>
          </a:p>
        </p:txBody>
      </p:sp>
      <p:sp>
        <p:nvSpPr>
          <p:cNvPr id="10" name="Shape 8"/>
          <p:cNvSpPr/>
          <p:nvPr/>
        </p:nvSpPr>
        <p:spPr>
          <a:xfrm>
            <a:off x="6601968" y="1481328"/>
            <a:ext cx="5022799" cy="1737360"/>
          </a:xfrm>
          <a:prstGeom prst="roundRect">
            <a:avLst>
              <a:gd name="adj" fmla="val 2632"/>
            </a:avLst>
          </a:prstGeom>
          <a:solidFill>
            <a:srgbClr val="E9F5F1"/>
          </a:solidFill>
          <a:ln w="12700">
            <a:solidFill>
              <a:srgbClr val="333333"/>
            </a:solidFill>
            <a:prstDash val="solid"/>
          </a:ln>
        </p:spPr>
      </p:sp>
      <p:sp>
        <p:nvSpPr>
          <p:cNvPr id="11" name="Text 9"/>
          <p:cNvSpPr/>
          <p:nvPr/>
        </p:nvSpPr>
        <p:spPr>
          <a:xfrm>
            <a:off x="6839712" y="1591056"/>
            <a:ext cx="4547311" cy="237744"/>
          </a:xfrm>
          <a:prstGeom prst="rect">
            <a:avLst/>
          </a:prstGeom>
          <a:noFill/>
          <a:ln/>
        </p:spPr>
        <p:txBody>
          <a:bodyPr wrap="square" lIns="0" tIns="0" rIns="0" bIns="0" rtlCol="0" anchor="ctr"/>
          <a:lstStyle/>
          <a:p>
            <a:pPr indent="0" marL="0">
              <a:buNone/>
            </a:pPr>
            <a:r>
              <a:rPr lang="en-US" sz="900" b="1" spc="110" kern="0" dirty="0">
                <a:solidFill>
                  <a:srgbClr val="1FA184"/>
                </a:solidFill>
                <a:latin typeface="Calibri" pitchFamily="34" charset="0"/>
                <a:ea typeface="Calibri" pitchFamily="34" charset="-122"/>
                <a:cs typeface="Calibri" pitchFamily="34" charset="-120"/>
              </a:rPr>
              <a:t>PREDICTED NLA READ AT smoothArea  ·  ILLUSTRATIVE</a:t>
            </a:r>
            <a:endParaRPr lang="en-US" sz="900" dirty="0"/>
          </a:p>
        </p:txBody>
      </p:sp>
      <p:sp>
        <p:nvSpPr>
          <p:cNvPr id="12" name="Text 10"/>
          <p:cNvSpPr/>
          <p:nvPr/>
        </p:nvSpPr>
        <p:spPr>
          <a:xfrm>
            <a:off x="6839712" y="1847088"/>
            <a:ext cx="4547311" cy="1280160"/>
          </a:xfrm>
          <a:prstGeom prst="rect">
            <a:avLst/>
          </a:prstGeom>
          <a:noFill/>
          <a:ln/>
        </p:spPr>
        <p:txBody>
          <a:bodyPr wrap="square" lIns="0" tIns="0" rIns="0" bIns="0" rtlCol="0" anchor="ctr"/>
          <a:lstStyle/>
          <a:p>
            <a:pPr indent="0" marL="0">
              <a:lnSpc>
                <a:spcPct val="110000"/>
              </a:lnSpc>
              <a:buNone/>
            </a:pPr>
            <a:r>
              <a:rPr lang="en-US" sz="1000" b="1" dirty="0">
                <a:solidFill>
                  <a:srgbClr val="C9534B"/>
                </a:solidFill>
                <a:latin typeface="Calibri" pitchFamily="34" charset="0"/>
                <a:ea typeface="Calibri" pitchFamily="34" charset="-122"/>
                <a:cs typeface="Calibri" pitchFamily="34" charset="-120"/>
              </a:rPr>
              <a:t>Temporal smoothing — </a:t>
            </a:r>
            <a:pPr indent="0" marL="0">
              <a:lnSpc>
                <a:spcPct val="110000"/>
              </a:lnSpc>
              <a:buNone/>
            </a:pPr>
            <a:r>
              <a:rPr lang="en-US" sz="1000" i="1" dirty="0">
                <a:solidFill>
                  <a:srgbClr val="3A4859"/>
                </a:solidFill>
                <a:latin typeface="Calibri" pitchFamily="34" charset="0"/>
                <a:ea typeface="Calibri" pitchFamily="34" charset="-122"/>
                <a:cs typeface="Calibri" pitchFamily="34" charset="-120"/>
              </a:rPr>
              <a:t>“computes a smoothed value over _lastNSecs seconds; a moving average or area.”
</a:t>
            </a:r>
            <a:pPr indent="0" marL="0">
              <a:lnSpc>
                <a:spcPct val="110000"/>
              </a:lnSpc>
              <a:buNone/>
            </a:pPr>
            <a:r>
              <a:rPr lang="en-US" sz="1000" b="1" dirty="0">
                <a:solidFill>
                  <a:srgbClr val="C9534B"/>
                </a:solidFill>
                <a:latin typeface="Calibri" pitchFamily="34" charset="0"/>
                <a:ea typeface="Calibri" pitchFamily="34" charset="-122"/>
                <a:cs typeface="Calibri" pitchFamily="34" charset="-120"/>
              </a:rPr>
              <a:t>Geometry cue — </a:t>
            </a:r>
            <a:pPr indent="0" marL="0">
              <a:lnSpc>
                <a:spcPct val="110000"/>
              </a:lnSpc>
              <a:buNone/>
            </a:pPr>
            <a:r>
              <a:rPr lang="en-US" sz="1000" i="1" dirty="0">
                <a:solidFill>
                  <a:srgbClr val="3A4859"/>
                </a:solidFill>
                <a:latin typeface="Calibri" pitchFamily="34" charset="0"/>
                <a:ea typeface="Calibri" pitchFamily="34" charset="-122"/>
                <a:cs typeface="Calibri" pitchFamily="34" charset="-120"/>
              </a:rPr>
              <a:t>“the name reads as integrating an area; recursion looks like windowed accumulation.”</a:t>
            </a:r>
            <a:endParaRPr lang="en-US" sz="1000" dirty="0"/>
          </a:p>
        </p:txBody>
      </p:sp>
      <p:sp>
        <p:nvSpPr>
          <p:cNvPr id="13" name="Shape 11"/>
          <p:cNvSpPr/>
          <p:nvPr/>
        </p:nvSpPr>
        <p:spPr>
          <a:xfrm>
            <a:off x="6601968" y="3310128"/>
            <a:ext cx="5022799" cy="2011680"/>
          </a:xfrm>
          <a:prstGeom prst="roundRect">
            <a:avLst>
              <a:gd name="adj" fmla="val 2273"/>
            </a:avLst>
          </a:prstGeom>
          <a:solidFill>
            <a:srgbClr val="F3F5F8"/>
          </a:solidFill>
          <a:ln w="12700">
            <a:solidFill>
              <a:srgbClr val="333333"/>
            </a:solidFill>
            <a:prstDash val="solid"/>
          </a:ln>
        </p:spPr>
      </p:sp>
      <p:sp>
        <p:nvSpPr>
          <p:cNvPr id="14" name="Text 12"/>
          <p:cNvSpPr/>
          <p:nvPr/>
        </p:nvSpPr>
        <p:spPr>
          <a:xfrm>
            <a:off x="6839712" y="3419856"/>
            <a:ext cx="4547311" cy="237744"/>
          </a:xfrm>
          <a:prstGeom prst="rect">
            <a:avLst/>
          </a:prstGeom>
          <a:noFill/>
          <a:ln/>
        </p:spPr>
        <p:txBody>
          <a:bodyPr wrap="square" lIns="0" tIns="0" rIns="0" bIns="0" rtlCol="0" anchor="ctr"/>
          <a:lstStyle/>
          <a:p>
            <a:pPr indent="0" marL="0">
              <a:buNone/>
            </a:pPr>
            <a:r>
              <a:rPr lang="en-US" sz="900" b="1" spc="110" kern="0" dirty="0">
                <a:solidFill>
                  <a:srgbClr val="68788B"/>
                </a:solidFill>
                <a:latin typeface="Calibri" pitchFamily="34" charset="0"/>
                <a:ea typeface="Calibri" pitchFamily="34" charset="-122"/>
                <a:cs typeface="Calibri" pitchFamily="34" charset="-120"/>
              </a:rPr>
              <a:t>THE EXPERIMENT</a:t>
            </a:r>
            <a:endParaRPr lang="en-US" sz="900" dirty="0"/>
          </a:p>
        </p:txBody>
      </p:sp>
      <p:sp>
        <p:nvSpPr>
          <p:cNvPr id="15" name="Text 13"/>
          <p:cNvSpPr/>
          <p:nvPr/>
        </p:nvSpPr>
        <p:spPr>
          <a:xfrm>
            <a:off x="6839712" y="3694176"/>
            <a:ext cx="256032" cy="274320"/>
          </a:xfrm>
          <a:prstGeom prst="rect">
            <a:avLst/>
          </a:prstGeom>
          <a:noFill/>
          <a:ln/>
        </p:spPr>
        <p:txBody>
          <a:bodyPr wrap="square" lIns="0" tIns="0" rIns="0" bIns="0" rtlCol="0" anchor="ctr"/>
          <a:lstStyle/>
          <a:p>
            <a:pPr indent="0" marL="0">
              <a:buNone/>
            </a:pPr>
            <a:r>
              <a:rPr lang="en-US" sz="1100" b="1" dirty="0">
                <a:solidFill>
                  <a:srgbClr val="1FA184"/>
                </a:solidFill>
                <a:latin typeface="Calibri" pitchFamily="34" charset="0"/>
                <a:ea typeface="Calibri" pitchFamily="34" charset="-122"/>
                <a:cs typeface="Calibri" pitchFamily="34" charset="-120"/>
              </a:rPr>
              <a:t>1</a:t>
            </a:r>
            <a:endParaRPr lang="en-US" sz="1100" dirty="0"/>
          </a:p>
        </p:txBody>
      </p:sp>
      <p:sp>
        <p:nvSpPr>
          <p:cNvPr id="16" name="Text 14"/>
          <p:cNvSpPr/>
          <p:nvPr/>
        </p:nvSpPr>
        <p:spPr>
          <a:xfrm>
            <a:off x="7132320" y="3694176"/>
            <a:ext cx="4236415" cy="384048"/>
          </a:xfrm>
          <a:prstGeom prst="rect">
            <a:avLst/>
          </a:prstGeom>
          <a:noFill/>
          <a:ln/>
        </p:spPr>
        <p:txBody>
          <a:bodyPr wrap="square" lIns="0" tIns="0" rIns="0" bIns="0" rtlCol="0" anchor="ctr"/>
          <a:lstStyle/>
          <a:p>
            <a:pPr indent="0" marL="0">
              <a:lnSpc>
                <a:spcPct val="110000"/>
              </a:lnSpc>
              <a:buNone/>
            </a:pPr>
            <a:r>
              <a:rPr lang="en-US" sz="1050" dirty="0">
                <a:solidFill>
                  <a:srgbClr val="3A4859"/>
                </a:solidFill>
                <a:latin typeface="Calibri" pitchFamily="34" charset="0"/>
                <a:ea typeface="Calibri" pitchFamily="34" charset="-122"/>
                <a:cs typeface="Calibri" pitchFamily="34" charset="-120"/>
              </a:rPr>
              <a:t>Read the NLA at the smoothArea token — decoy (area / seconds) or true role?</a:t>
            </a:r>
            <a:endParaRPr lang="en-US" sz="1050" dirty="0"/>
          </a:p>
        </p:txBody>
      </p:sp>
      <p:sp>
        <p:nvSpPr>
          <p:cNvPr id="17" name="Text 15"/>
          <p:cNvSpPr/>
          <p:nvPr/>
        </p:nvSpPr>
        <p:spPr>
          <a:xfrm>
            <a:off x="6839712" y="4096512"/>
            <a:ext cx="256032" cy="274320"/>
          </a:xfrm>
          <a:prstGeom prst="rect">
            <a:avLst/>
          </a:prstGeom>
          <a:noFill/>
          <a:ln/>
        </p:spPr>
        <p:txBody>
          <a:bodyPr wrap="square" lIns="0" tIns="0" rIns="0" bIns="0" rtlCol="0" anchor="ctr"/>
          <a:lstStyle/>
          <a:p>
            <a:pPr indent="0" marL="0">
              <a:buNone/>
            </a:pPr>
            <a:r>
              <a:rPr lang="en-US" sz="1100" b="1" dirty="0">
                <a:solidFill>
                  <a:srgbClr val="1FA184"/>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7132320" y="4096512"/>
            <a:ext cx="4236415" cy="384048"/>
          </a:xfrm>
          <a:prstGeom prst="rect">
            <a:avLst/>
          </a:prstGeom>
          <a:noFill/>
          <a:ln/>
        </p:spPr>
        <p:txBody>
          <a:bodyPr wrap="square" lIns="0" tIns="0" rIns="0" bIns="0" rtlCol="0" anchor="ctr"/>
          <a:lstStyle/>
          <a:p>
            <a:pPr indent="0" marL="0">
              <a:lnSpc>
                <a:spcPct val="110000"/>
              </a:lnSpc>
              <a:buNone/>
            </a:pPr>
            <a:r>
              <a:rPr lang="en-US" sz="1050" dirty="0">
                <a:solidFill>
                  <a:srgbClr val="3A4859"/>
                </a:solidFill>
                <a:latin typeface="Calibri" pitchFamily="34" charset="0"/>
                <a:ea typeface="Calibri" pitchFamily="34" charset="-122"/>
                <a:cs typeface="Calibri" pitchFamily="34" charset="-120"/>
              </a:rPr>
              <a:t>Edit the decoy to “three-term recurrence (fibfib)” and rebuild via the reconstructor to get Δ.</a:t>
            </a:r>
            <a:endParaRPr lang="en-US" sz="1050" dirty="0"/>
          </a:p>
        </p:txBody>
      </p:sp>
      <p:sp>
        <p:nvSpPr>
          <p:cNvPr id="19" name="Text 17"/>
          <p:cNvSpPr/>
          <p:nvPr/>
        </p:nvSpPr>
        <p:spPr>
          <a:xfrm>
            <a:off x="6839712" y="4498848"/>
            <a:ext cx="256032" cy="274320"/>
          </a:xfrm>
          <a:prstGeom prst="rect">
            <a:avLst/>
          </a:prstGeom>
          <a:noFill/>
          <a:ln/>
        </p:spPr>
        <p:txBody>
          <a:bodyPr wrap="square" lIns="0" tIns="0" rIns="0" bIns="0" rtlCol="0" anchor="ctr"/>
          <a:lstStyle/>
          <a:p>
            <a:pPr indent="0" marL="0">
              <a:buNone/>
            </a:pPr>
            <a:r>
              <a:rPr lang="en-US" sz="1100" b="1" dirty="0">
                <a:solidFill>
                  <a:srgbClr val="1FA184"/>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7132320" y="4498848"/>
            <a:ext cx="4236415" cy="384048"/>
          </a:xfrm>
          <a:prstGeom prst="rect">
            <a:avLst/>
          </a:prstGeom>
          <a:noFill/>
          <a:ln/>
        </p:spPr>
        <p:txBody>
          <a:bodyPr wrap="square" lIns="0" tIns="0" rIns="0" bIns="0" rtlCol="0" anchor="ctr"/>
          <a:lstStyle/>
          <a:p>
            <a:pPr indent="0" marL="0">
              <a:lnSpc>
                <a:spcPct val="110000"/>
              </a:lnSpc>
              <a:buNone/>
            </a:pPr>
            <a:r>
              <a:rPr lang="en-US" sz="1050" dirty="0">
                <a:solidFill>
                  <a:srgbClr val="3A4859"/>
                </a:solidFill>
                <a:latin typeface="Calibri" pitchFamily="34" charset="0"/>
                <a:ea typeface="Calibri" pitchFamily="34" charset="-122"/>
                <a:cs typeface="Calibri" pitchFamily="34" charset="-120"/>
              </a:rPr>
              <a:t>Steer that one token, following the Planning-in-Poetry recipe.</a:t>
            </a:r>
            <a:endParaRPr lang="en-US" sz="1050" dirty="0"/>
          </a:p>
        </p:txBody>
      </p:sp>
      <p:sp>
        <p:nvSpPr>
          <p:cNvPr id="21" name="Text 19"/>
          <p:cNvSpPr/>
          <p:nvPr/>
        </p:nvSpPr>
        <p:spPr>
          <a:xfrm>
            <a:off x="6839712" y="4901184"/>
            <a:ext cx="256032" cy="274320"/>
          </a:xfrm>
          <a:prstGeom prst="rect">
            <a:avLst/>
          </a:prstGeom>
          <a:noFill/>
          <a:ln/>
        </p:spPr>
        <p:txBody>
          <a:bodyPr wrap="square" lIns="0" tIns="0" rIns="0" bIns="0" rtlCol="0" anchor="ctr"/>
          <a:lstStyle/>
          <a:p>
            <a:pPr indent="0" marL="0">
              <a:buNone/>
            </a:pPr>
            <a:r>
              <a:rPr lang="en-US" sz="1100" b="1" dirty="0">
                <a:solidFill>
                  <a:srgbClr val="1FA184"/>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7132320" y="4901184"/>
            <a:ext cx="4236415" cy="384048"/>
          </a:xfrm>
          <a:prstGeom prst="rect">
            <a:avLst/>
          </a:prstGeom>
          <a:noFill/>
          <a:ln/>
        </p:spPr>
        <p:txBody>
          <a:bodyPr wrap="square" lIns="0" tIns="0" rIns="0" bIns="0" rtlCol="0" anchor="ctr"/>
          <a:lstStyle/>
          <a:p>
            <a:pPr indent="0" marL="0">
              <a:lnSpc>
                <a:spcPct val="110000"/>
              </a:lnSpc>
              <a:buNone/>
            </a:pPr>
            <a:r>
              <a:rPr lang="en-US" sz="1050" dirty="0">
                <a:solidFill>
                  <a:srgbClr val="3A4859"/>
                </a:solidFill>
                <a:latin typeface="Calibri" pitchFamily="34" charset="0"/>
                <a:ea typeface="Calibri" pitchFamily="34" charset="-122"/>
                <a:cs typeface="Calibri" pitchFamily="34" charset="-120"/>
              </a:rPr>
              <a:t>Does the predicted output move toward 927?</a:t>
            </a:r>
            <a:endParaRPr lang="en-US" sz="1050" dirty="0"/>
          </a:p>
        </p:txBody>
      </p:sp>
      <p:sp>
        <p:nvSpPr>
          <p:cNvPr id="23" name="Shape 21"/>
          <p:cNvSpPr/>
          <p:nvPr/>
        </p:nvSpPr>
        <p:spPr>
          <a:xfrm>
            <a:off x="566928" y="5486400"/>
            <a:ext cx="11057839" cy="749808"/>
          </a:xfrm>
          <a:prstGeom prst="roundRect">
            <a:avLst>
              <a:gd name="adj" fmla="val 7317"/>
            </a:avLst>
          </a:prstGeom>
          <a:solidFill>
            <a:srgbClr val="141B2E"/>
          </a:solidFill>
          <a:ln w="12700">
            <a:solidFill>
              <a:srgbClr val="333333"/>
            </a:solidFill>
            <a:prstDash val="solid"/>
          </a:ln>
        </p:spPr>
      </p:sp>
      <p:sp>
        <p:nvSpPr>
          <p:cNvPr id="24" name="Text 22"/>
          <p:cNvSpPr/>
          <p:nvPr/>
        </p:nvSpPr>
        <p:spPr>
          <a:xfrm>
            <a:off x="841248" y="5577840"/>
            <a:ext cx="10509199" cy="566928"/>
          </a:xfrm>
          <a:prstGeom prst="rect">
            <a:avLst/>
          </a:prstGeom>
          <a:noFill/>
          <a:ln/>
        </p:spPr>
        <p:txBody>
          <a:bodyPr wrap="square" lIns="0" tIns="0" rIns="0" bIns="0" rtlCol="0" anchor="ctr"/>
          <a:lstStyle/>
          <a:p>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Reads as causal.   </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If steering to the true role restores 927, then the decoy representation — not the structure — drove the confident error.</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Case Study: Tracking Dispatcher State</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A real L2 snippet — control flow flattened into a while-if state machine. The variable s is the dispatcher; the model must hold its value hop to hop.</a:t>
            </a:r>
            <a:endParaRPr lang="en-US" sz="1250" dirty="0"/>
          </a:p>
        </p:txBody>
      </p:sp>
      <p:sp>
        <p:nvSpPr>
          <p:cNvPr id="4" name="Shape 2"/>
          <p:cNvSpPr/>
          <p:nvPr/>
        </p:nvSpPr>
        <p:spPr>
          <a:xfrm>
            <a:off x="566928" y="1481328"/>
            <a:ext cx="5760720" cy="3200400"/>
          </a:xfrm>
          <a:prstGeom prst="roundRect">
            <a:avLst>
              <a:gd name="adj" fmla="val 1429"/>
            </a:avLst>
          </a:prstGeom>
          <a:solidFill>
            <a:srgbClr val="141B2E"/>
          </a:solidFill>
          <a:ln w="12700">
            <a:solidFill>
              <a:srgbClr val="333333"/>
            </a:solidFill>
            <a:prstDash val="solid"/>
          </a:ln>
        </p:spPr>
      </p:sp>
      <p:sp>
        <p:nvSpPr>
          <p:cNvPr id="5" name="Text 3"/>
          <p:cNvSpPr/>
          <p:nvPr/>
        </p:nvSpPr>
        <p:spPr>
          <a:xfrm>
            <a:off x="804672" y="1591056"/>
            <a:ext cx="5303520" cy="237744"/>
          </a:xfrm>
          <a:prstGeom prst="rect">
            <a:avLst/>
          </a:prstGeom>
          <a:noFill/>
          <a:ln/>
        </p:spPr>
        <p:txBody>
          <a:bodyPr wrap="square" lIns="0" tIns="0" rIns="0" bIns="0" rtlCol="0" anchor="ctr"/>
          <a:lstStyle/>
          <a:p>
            <a:pPr indent="0" marL="0">
              <a:buNone/>
            </a:pPr>
            <a:r>
              <a:rPr lang="en-US" sz="900" b="1" spc="120" kern="0" dirty="0">
                <a:solidFill>
                  <a:srgbClr val="8FC7DE"/>
                </a:solidFill>
                <a:latin typeface="Calibri" pitchFamily="34" charset="0"/>
                <a:ea typeface="Calibri" pitchFamily="34" charset="-122"/>
                <a:cs typeface="Calibri" pitchFamily="34" charset="-120"/>
              </a:rPr>
              <a:t>L2  ·  CONTROL-FLOW FLATTENED (Python)</a:t>
            </a:r>
            <a:endParaRPr lang="en-US" sz="900" dirty="0"/>
          </a:p>
        </p:txBody>
      </p:sp>
      <p:sp>
        <p:nvSpPr>
          <p:cNvPr id="6" name="Text 4"/>
          <p:cNvSpPr/>
          <p:nvPr/>
        </p:nvSpPr>
        <p:spPr>
          <a:xfrm>
            <a:off x="804672" y="1865376"/>
            <a:ext cx="5303520" cy="2651760"/>
          </a:xfrm>
          <a:prstGeom prst="rect">
            <a:avLst/>
          </a:prstGeom>
          <a:noFill/>
          <a:ln/>
        </p:spPr>
        <p:txBody>
          <a:bodyPr wrap="square" lIns="0" tIns="0" rIns="0" bIns="0" rtlCol="0" anchor="ctr"/>
          <a:lstStyle/>
          <a:p>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def isBalanced(num):</a:t>
            </a:r>
            <a:endParaRPr lang="en-US" sz="1050" dirty="0"/>
          </a:p>
          <a:p>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  </a:t>
            </a:r>
            <a:endParaRPr lang="en-US" sz="1050" dirty="0"/>
          </a:p>
          <a:p>
            <a:pPr indent="0" marL="0">
              <a:lnSpc>
                <a:spcPct val="104000"/>
              </a:lnSpc>
              <a:buNone/>
            </a:pPr>
            <a:r>
              <a:rPr lang="en-US" sz="1050" dirty="0">
                <a:solidFill>
                  <a:srgbClr val="7FD8B8"/>
                </a:solidFill>
                <a:latin typeface="Courier New" pitchFamily="34" charset="0"/>
                <a:ea typeface="Courier New" pitchFamily="34" charset="-122"/>
                <a:cs typeface="Courier New" pitchFamily="34" charset="-120"/>
              </a:rPr>
              <a:t>s = 0</a:t>
            </a:r>
            <a:pPr indent="0" marL="0">
              <a:lnSpc>
                <a:spcPct val="104000"/>
              </a:lnSpc>
              <a:buNone/>
            </a:pPr>
            <a:endParaRPr lang="en-US" sz="1050" dirty="0"/>
          </a:p>
          <a:p>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  while </a:t>
            </a:r>
            <a:endParaRPr lang="en-US" sz="1050" dirty="0"/>
          </a:p>
          <a:p>
            <a:pPr indent="0" marL="0">
              <a:lnSpc>
                <a:spcPct val="104000"/>
              </a:lnSpc>
              <a:buNone/>
            </a:pPr>
            <a:r>
              <a:rPr lang="en-US" sz="1050" dirty="0">
                <a:solidFill>
                  <a:srgbClr val="7FD8B8"/>
                </a:solidFill>
                <a:latin typeface="Courier New" pitchFamily="34" charset="0"/>
                <a:ea typeface="Courier New" pitchFamily="34" charset="-122"/>
                <a:cs typeface="Courier New" pitchFamily="34" charset="-120"/>
              </a:rPr>
              <a:t>s</a:t>
            </a:r>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 &lt; 3:</a:t>
            </a:r>
            <a:endParaRPr lang="en-US" sz="1050" dirty="0"/>
          </a:p>
          <a:p>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    if </a:t>
            </a:r>
            <a:endParaRPr lang="en-US" sz="1050" dirty="0"/>
          </a:p>
          <a:p>
            <a:pPr indent="0" marL="0">
              <a:lnSpc>
                <a:spcPct val="104000"/>
              </a:lnSpc>
              <a:buNone/>
            </a:pPr>
            <a:r>
              <a:rPr lang="en-US" sz="1050" dirty="0">
                <a:solidFill>
                  <a:srgbClr val="7FD8B8"/>
                </a:solidFill>
                <a:latin typeface="Courier New" pitchFamily="34" charset="0"/>
                <a:ea typeface="Courier New" pitchFamily="34" charset="-122"/>
                <a:cs typeface="Courier New" pitchFamily="34" charset="-120"/>
              </a:rPr>
              <a:t>s == 0</a:t>
            </a:r>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a:t>
            </a:r>
            <a:endParaRPr lang="en-US" sz="1050" dirty="0"/>
          </a:p>
          <a:p>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      f = [0, 0]; s += 1</a:t>
            </a:r>
            <a:endParaRPr lang="en-US" sz="1050" dirty="0"/>
          </a:p>
          <a:p>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    if </a:t>
            </a:r>
            <a:endParaRPr lang="en-US" sz="1050" dirty="0"/>
          </a:p>
          <a:p>
            <a:pPr indent="0" marL="0">
              <a:lnSpc>
                <a:spcPct val="104000"/>
              </a:lnSpc>
              <a:buNone/>
            </a:pPr>
            <a:r>
              <a:rPr lang="en-US" sz="1050" dirty="0">
                <a:solidFill>
                  <a:srgbClr val="7FD8B8"/>
                </a:solidFill>
                <a:latin typeface="Courier New" pitchFamily="34" charset="0"/>
                <a:ea typeface="Courier New" pitchFamily="34" charset="-122"/>
                <a:cs typeface="Courier New" pitchFamily="34" charset="-120"/>
              </a:rPr>
              <a:t>s == 1</a:t>
            </a:r>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a:t>
            </a:r>
            <a:endParaRPr lang="en-US" sz="1050" dirty="0"/>
          </a:p>
          <a:p>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      for i,c in enumerate(num):</a:t>
            </a:r>
            <a:endParaRPr lang="en-US" sz="1050" dirty="0"/>
          </a:p>
          <a:p>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        f[i] += int(c)</a:t>
            </a:r>
            <a:endParaRPr lang="en-US" sz="1050" dirty="0"/>
          </a:p>
          <a:p>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      s += 1</a:t>
            </a:r>
            <a:endParaRPr lang="en-US" sz="1050" dirty="0"/>
          </a:p>
          <a:p>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    if </a:t>
            </a:r>
            <a:endParaRPr lang="en-US" sz="1050" dirty="0"/>
          </a:p>
          <a:p>
            <a:pPr indent="0" marL="0">
              <a:lnSpc>
                <a:spcPct val="104000"/>
              </a:lnSpc>
              <a:buNone/>
            </a:pPr>
            <a:r>
              <a:rPr lang="en-US" sz="1050" dirty="0">
                <a:solidFill>
                  <a:srgbClr val="7FD8B8"/>
                </a:solidFill>
                <a:latin typeface="Courier New" pitchFamily="34" charset="0"/>
                <a:ea typeface="Courier New" pitchFamily="34" charset="-122"/>
                <a:cs typeface="Courier New" pitchFamily="34" charset="-120"/>
              </a:rPr>
              <a:t>s == 2</a:t>
            </a:r>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a:t>
            </a:r>
            <a:endParaRPr lang="en-US" sz="1050" dirty="0"/>
          </a:p>
          <a:p>
            <a:pPr indent="0" marL="0">
              <a:lnSpc>
                <a:spcPct val="104000"/>
              </a:lnSpc>
              <a:buNone/>
            </a:pPr>
            <a:r>
              <a:rPr lang="en-US" sz="1050" dirty="0">
                <a:solidFill>
                  <a:srgbClr val="C7D3E3"/>
                </a:solidFill>
                <a:latin typeface="Courier New" pitchFamily="34" charset="0"/>
                <a:ea typeface="Courier New" pitchFamily="34" charset="-122"/>
                <a:cs typeface="Courier New" pitchFamily="34" charset="-120"/>
              </a:rPr>
              <a:t>      return f[0] == f[1]</a:t>
            </a:r>
            <a:endParaRPr lang="en-US" sz="1050" dirty="0"/>
          </a:p>
        </p:txBody>
      </p:sp>
      <p:sp>
        <p:nvSpPr>
          <p:cNvPr id="7" name="Shape 5"/>
          <p:cNvSpPr/>
          <p:nvPr/>
        </p:nvSpPr>
        <p:spPr>
          <a:xfrm>
            <a:off x="6601968" y="1481328"/>
            <a:ext cx="5022799" cy="1700784"/>
          </a:xfrm>
          <a:prstGeom prst="roundRect">
            <a:avLst>
              <a:gd name="adj" fmla="val 2688"/>
            </a:avLst>
          </a:prstGeom>
          <a:solidFill>
            <a:srgbClr val="E9F5F1"/>
          </a:solidFill>
          <a:ln w="12700">
            <a:solidFill>
              <a:srgbClr val="333333"/>
            </a:solidFill>
            <a:prstDash val="solid"/>
          </a:ln>
        </p:spPr>
      </p:sp>
      <p:sp>
        <p:nvSpPr>
          <p:cNvPr id="8" name="Text 6"/>
          <p:cNvSpPr/>
          <p:nvPr/>
        </p:nvSpPr>
        <p:spPr>
          <a:xfrm>
            <a:off x="6839712" y="1572768"/>
            <a:ext cx="4547311" cy="237744"/>
          </a:xfrm>
          <a:prstGeom prst="rect">
            <a:avLst/>
          </a:prstGeom>
          <a:noFill/>
          <a:ln/>
        </p:spPr>
        <p:txBody>
          <a:bodyPr wrap="square" lIns="0" tIns="0" rIns="0" bIns="0" rtlCol="0" anchor="ctr"/>
          <a:lstStyle/>
          <a:p>
            <a:pPr indent="0" marL="0">
              <a:buNone/>
            </a:pPr>
            <a:r>
              <a:rPr lang="en-US" sz="900" b="1" spc="110" kern="0" dirty="0">
                <a:solidFill>
                  <a:srgbClr val="1FA184"/>
                </a:solidFill>
                <a:latin typeface="Calibri" pitchFamily="34" charset="0"/>
                <a:ea typeface="Calibri" pitchFamily="34" charset="-122"/>
                <a:cs typeface="Calibri" pitchFamily="34" charset="-120"/>
              </a:rPr>
              <a:t>PREDICTED NLA READ PER HOP  ·  ILLUSTRATIVE</a:t>
            </a:r>
            <a:endParaRPr lang="en-US" sz="900" dirty="0"/>
          </a:p>
        </p:txBody>
      </p:sp>
      <p:sp>
        <p:nvSpPr>
          <p:cNvPr id="9" name="Text 7"/>
          <p:cNvSpPr/>
          <p:nvPr/>
        </p:nvSpPr>
        <p:spPr>
          <a:xfrm>
            <a:off x="6839712" y="1865376"/>
            <a:ext cx="822960" cy="274320"/>
          </a:xfrm>
          <a:prstGeom prst="rect">
            <a:avLst/>
          </a:prstGeom>
          <a:noFill/>
          <a:ln/>
        </p:spPr>
        <p:txBody>
          <a:bodyPr wrap="square" lIns="0" tIns="0" rIns="0" bIns="0" rtlCol="0" anchor="ctr"/>
          <a:lstStyle/>
          <a:p>
            <a:pPr indent="0" marL="0">
              <a:buNone/>
            </a:pPr>
            <a:r>
              <a:rPr lang="en-US" sz="1050" b="1" dirty="0">
                <a:solidFill>
                  <a:srgbClr val="C9534B"/>
                </a:solidFill>
                <a:latin typeface="Courier New" pitchFamily="34" charset="0"/>
                <a:ea typeface="Courier New" pitchFamily="34" charset="-122"/>
                <a:cs typeface="Courier New" pitchFamily="34" charset="-120"/>
              </a:rPr>
              <a:t>s = 0</a:t>
            </a:r>
            <a:endParaRPr lang="en-US" sz="1050" dirty="0"/>
          </a:p>
        </p:txBody>
      </p:sp>
      <p:sp>
        <p:nvSpPr>
          <p:cNvPr id="10" name="Text 8"/>
          <p:cNvSpPr/>
          <p:nvPr/>
        </p:nvSpPr>
        <p:spPr>
          <a:xfrm>
            <a:off x="7699248" y="1865376"/>
            <a:ext cx="3687775" cy="274320"/>
          </a:xfrm>
          <a:prstGeom prst="rect">
            <a:avLst/>
          </a:prstGeom>
          <a:noFill/>
          <a:ln/>
        </p:spPr>
        <p:txBody>
          <a:bodyPr wrap="square" lIns="0" tIns="0" rIns="0" bIns="0" rtlCol="0" anchor="ctr"/>
          <a:lstStyle/>
          <a:p>
            <a:pPr indent="0" marL="0">
              <a:buNone/>
            </a:pPr>
            <a:r>
              <a:rPr lang="en-US" sz="1050" i="1" dirty="0">
                <a:solidFill>
                  <a:srgbClr val="3A4859"/>
                </a:solidFill>
                <a:latin typeface="Calibri" pitchFamily="34" charset="0"/>
                <a:ea typeface="Calibri" pitchFamily="34" charset="-122"/>
                <a:cs typeface="Calibri" pitchFamily="34" charset="-120"/>
              </a:rPr>
              <a:t>initialising; sets f = [0,0], about to advance.</a:t>
            </a:r>
            <a:endParaRPr lang="en-US" sz="1050" dirty="0"/>
          </a:p>
        </p:txBody>
      </p:sp>
      <p:sp>
        <p:nvSpPr>
          <p:cNvPr id="11" name="Text 9"/>
          <p:cNvSpPr/>
          <p:nvPr/>
        </p:nvSpPr>
        <p:spPr>
          <a:xfrm>
            <a:off x="6839712" y="2194560"/>
            <a:ext cx="822960" cy="274320"/>
          </a:xfrm>
          <a:prstGeom prst="rect">
            <a:avLst/>
          </a:prstGeom>
          <a:noFill/>
          <a:ln/>
        </p:spPr>
        <p:txBody>
          <a:bodyPr wrap="square" lIns="0" tIns="0" rIns="0" bIns="0" rtlCol="0" anchor="ctr"/>
          <a:lstStyle/>
          <a:p>
            <a:pPr indent="0" marL="0">
              <a:buNone/>
            </a:pPr>
            <a:r>
              <a:rPr lang="en-US" sz="1050" b="1" dirty="0">
                <a:solidFill>
                  <a:srgbClr val="C9534B"/>
                </a:solidFill>
                <a:latin typeface="Courier New" pitchFamily="34" charset="0"/>
                <a:ea typeface="Courier New" pitchFamily="34" charset="-122"/>
                <a:cs typeface="Courier New" pitchFamily="34" charset="-120"/>
              </a:rPr>
              <a:t>s = 1</a:t>
            </a:r>
            <a:endParaRPr lang="en-US" sz="1050" dirty="0"/>
          </a:p>
        </p:txBody>
      </p:sp>
      <p:sp>
        <p:nvSpPr>
          <p:cNvPr id="12" name="Text 10"/>
          <p:cNvSpPr/>
          <p:nvPr/>
        </p:nvSpPr>
        <p:spPr>
          <a:xfrm>
            <a:off x="7699248" y="2194560"/>
            <a:ext cx="3687775" cy="274320"/>
          </a:xfrm>
          <a:prstGeom prst="rect">
            <a:avLst/>
          </a:prstGeom>
          <a:noFill/>
          <a:ln/>
        </p:spPr>
        <p:txBody>
          <a:bodyPr wrap="square" lIns="0" tIns="0" rIns="0" bIns="0" rtlCol="0" anchor="ctr"/>
          <a:lstStyle/>
          <a:p>
            <a:pPr indent="0" marL="0">
              <a:buNone/>
            </a:pPr>
            <a:r>
              <a:rPr lang="en-US" sz="1050" i="1" dirty="0">
                <a:solidFill>
                  <a:srgbClr val="3A4859"/>
                </a:solidFill>
                <a:latin typeface="Calibri" pitchFamily="34" charset="0"/>
                <a:ea typeface="Calibri" pitchFamily="34" charset="-122"/>
                <a:cs typeface="Calibri" pitchFamily="34" charset="-120"/>
              </a:rPr>
              <a:t>accumulation state; summing digits into f.</a:t>
            </a:r>
            <a:endParaRPr lang="en-US" sz="1050" dirty="0"/>
          </a:p>
        </p:txBody>
      </p:sp>
      <p:sp>
        <p:nvSpPr>
          <p:cNvPr id="13" name="Text 11"/>
          <p:cNvSpPr/>
          <p:nvPr/>
        </p:nvSpPr>
        <p:spPr>
          <a:xfrm>
            <a:off x="6839712" y="2523744"/>
            <a:ext cx="822960" cy="274320"/>
          </a:xfrm>
          <a:prstGeom prst="rect">
            <a:avLst/>
          </a:prstGeom>
          <a:noFill/>
          <a:ln/>
        </p:spPr>
        <p:txBody>
          <a:bodyPr wrap="square" lIns="0" tIns="0" rIns="0" bIns="0" rtlCol="0" anchor="ctr"/>
          <a:lstStyle/>
          <a:p>
            <a:pPr indent="0" marL="0">
              <a:buNone/>
            </a:pPr>
            <a:r>
              <a:rPr lang="en-US" sz="1050" b="1" dirty="0">
                <a:solidFill>
                  <a:srgbClr val="C9534B"/>
                </a:solidFill>
                <a:latin typeface="Courier New" pitchFamily="34" charset="0"/>
                <a:ea typeface="Courier New" pitchFamily="34" charset="-122"/>
                <a:cs typeface="Courier New" pitchFamily="34" charset="-120"/>
              </a:rPr>
              <a:t>s = 2</a:t>
            </a:r>
            <a:endParaRPr lang="en-US" sz="1050" dirty="0"/>
          </a:p>
        </p:txBody>
      </p:sp>
      <p:sp>
        <p:nvSpPr>
          <p:cNvPr id="14" name="Text 12"/>
          <p:cNvSpPr/>
          <p:nvPr/>
        </p:nvSpPr>
        <p:spPr>
          <a:xfrm>
            <a:off x="7699248" y="2523744"/>
            <a:ext cx="3687775" cy="274320"/>
          </a:xfrm>
          <a:prstGeom prst="rect">
            <a:avLst/>
          </a:prstGeom>
          <a:noFill/>
          <a:ln/>
        </p:spPr>
        <p:txBody>
          <a:bodyPr wrap="square" lIns="0" tIns="0" rIns="0" bIns="0" rtlCol="0" anchor="ctr"/>
          <a:lstStyle/>
          <a:p>
            <a:pPr indent="0" marL="0">
              <a:buNone/>
            </a:pPr>
            <a:r>
              <a:rPr lang="en-US" sz="1050" i="1" dirty="0">
                <a:solidFill>
                  <a:srgbClr val="3A4859"/>
                </a:solidFill>
                <a:latin typeface="Calibri" pitchFamily="34" charset="0"/>
                <a:ea typeface="Calibri" pitchFamily="34" charset="-122"/>
                <a:cs typeface="Calibri" pitchFamily="34" charset="-120"/>
              </a:rPr>
              <a:t>terminal; compares the two accumulators.</a:t>
            </a:r>
            <a:endParaRPr lang="en-US" sz="1050" dirty="0"/>
          </a:p>
        </p:txBody>
      </p:sp>
      <p:sp>
        <p:nvSpPr>
          <p:cNvPr id="15" name="Text 13"/>
          <p:cNvSpPr/>
          <p:nvPr/>
        </p:nvSpPr>
        <p:spPr>
          <a:xfrm>
            <a:off x="6839712" y="2852928"/>
            <a:ext cx="4547311" cy="274320"/>
          </a:xfrm>
          <a:prstGeom prst="rect">
            <a:avLst/>
          </a:prstGeom>
          <a:noFill/>
          <a:ln/>
        </p:spPr>
        <p:txBody>
          <a:bodyPr wrap="square" lIns="0" tIns="0" rIns="0" bIns="0" rtlCol="0" anchor="ctr"/>
          <a:lstStyle/>
          <a:p>
            <a:pPr indent="0" marL="0">
              <a:buNone/>
            </a:pPr>
            <a:r>
              <a:rPr lang="en-US" sz="1050" b="1" dirty="0">
                <a:solidFill>
                  <a:srgbClr val="C9534B"/>
                </a:solidFill>
                <a:latin typeface="Calibri" pitchFamily="34" charset="0"/>
                <a:ea typeface="Calibri" pitchFamily="34" charset="-122"/>
                <a:cs typeface="Calibri" pitchFamily="34" charset="-120"/>
              </a:rPr>
              <a:t>Failure = the read loses which state s currently holds.</a:t>
            </a:r>
            <a:endParaRPr lang="en-US" sz="1050" dirty="0"/>
          </a:p>
        </p:txBody>
      </p:sp>
      <p:sp>
        <p:nvSpPr>
          <p:cNvPr id="16" name="Shape 14"/>
          <p:cNvSpPr/>
          <p:nvPr/>
        </p:nvSpPr>
        <p:spPr>
          <a:xfrm>
            <a:off x="6601968" y="3291840"/>
            <a:ext cx="5022799" cy="1389888"/>
          </a:xfrm>
          <a:prstGeom prst="roundRect">
            <a:avLst>
              <a:gd name="adj" fmla="val 3289"/>
            </a:avLst>
          </a:prstGeom>
          <a:solidFill>
            <a:srgbClr val="F3F5F8"/>
          </a:solidFill>
          <a:ln w="12700">
            <a:solidFill>
              <a:srgbClr val="333333"/>
            </a:solidFill>
            <a:prstDash val="solid"/>
          </a:ln>
        </p:spPr>
      </p:sp>
      <p:sp>
        <p:nvSpPr>
          <p:cNvPr id="17" name="Text 15"/>
          <p:cNvSpPr/>
          <p:nvPr/>
        </p:nvSpPr>
        <p:spPr>
          <a:xfrm>
            <a:off x="6839712" y="3383280"/>
            <a:ext cx="4547311" cy="237744"/>
          </a:xfrm>
          <a:prstGeom prst="rect">
            <a:avLst/>
          </a:prstGeom>
          <a:noFill/>
          <a:ln/>
        </p:spPr>
        <p:txBody>
          <a:bodyPr wrap="square" lIns="0" tIns="0" rIns="0" bIns="0" rtlCol="0" anchor="ctr"/>
          <a:lstStyle/>
          <a:p>
            <a:pPr indent="0" marL="0">
              <a:buNone/>
            </a:pPr>
            <a:r>
              <a:rPr lang="en-US" sz="900" b="1" spc="110" kern="0" dirty="0">
                <a:solidFill>
                  <a:srgbClr val="68788B"/>
                </a:solidFill>
                <a:latin typeface="Calibri" pitchFamily="34" charset="0"/>
                <a:ea typeface="Calibri" pitchFamily="34" charset="-122"/>
                <a:cs typeface="Calibri" pitchFamily="34" charset="-120"/>
              </a:rPr>
              <a:t>THE EXPERIMENT</a:t>
            </a:r>
            <a:endParaRPr lang="en-US" sz="900" dirty="0"/>
          </a:p>
        </p:txBody>
      </p:sp>
      <p:sp>
        <p:nvSpPr>
          <p:cNvPr id="18" name="Text 16"/>
          <p:cNvSpPr/>
          <p:nvPr/>
        </p:nvSpPr>
        <p:spPr>
          <a:xfrm>
            <a:off x="6839712" y="3639312"/>
            <a:ext cx="256032" cy="237744"/>
          </a:xfrm>
          <a:prstGeom prst="rect">
            <a:avLst/>
          </a:prstGeom>
          <a:noFill/>
          <a:ln/>
        </p:spPr>
        <p:txBody>
          <a:bodyPr wrap="square" lIns="0" tIns="0" rIns="0" bIns="0" rtlCol="0" anchor="ctr"/>
          <a:lstStyle/>
          <a:p>
            <a:pPr indent="0" marL="0">
              <a:buNone/>
            </a:pPr>
            <a:r>
              <a:rPr lang="en-US" sz="1000" b="1" dirty="0">
                <a:solidFill>
                  <a:srgbClr val="2F6383"/>
                </a:solidFill>
                <a:latin typeface="Calibri" pitchFamily="34" charset="0"/>
                <a:ea typeface="Calibri" pitchFamily="34" charset="-122"/>
                <a:cs typeface="Calibri" pitchFamily="34" charset="-120"/>
              </a:rPr>
              <a:t>1</a:t>
            </a:r>
            <a:endParaRPr lang="en-US" sz="1000" dirty="0"/>
          </a:p>
        </p:txBody>
      </p:sp>
      <p:sp>
        <p:nvSpPr>
          <p:cNvPr id="19" name="Text 17"/>
          <p:cNvSpPr/>
          <p:nvPr/>
        </p:nvSpPr>
        <p:spPr>
          <a:xfrm>
            <a:off x="7132320" y="3639312"/>
            <a:ext cx="4236415" cy="237744"/>
          </a:xfrm>
          <a:prstGeom prst="rect">
            <a:avLst/>
          </a:prstGeom>
          <a:noFill/>
          <a:ln/>
        </p:spPr>
        <p:txBody>
          <a:bodyPr wrap="square" lIns="0" tIns="0" rIns="0" bIns="0" rtlCol="0" anchor="ctr"/>
          <a:lstStyle/>
          <a:p>
            <a:pPr indent="0" marL="0">
              <a:buNone/>
            </a:pPr>
            <a:r>
              <a:rPr lang="en-US" sz="1000" dirty="0">
                <a:solidFill>
                  <a:srgbClr val="3A4859"/>
                </a:solidFill>
                <a:latin typeface="Calibri" pitchFamily="34" charset="0"/>
                <a:ea typeface="Calibri" pitchFamily="34" charset="-122"/>
                <a:cs typeface="Calibri" pitchFamily="34" charset="-120"/>
              </a:rPr>
              <a:t>Read the NLA at each hop — does it name the current state?</a:t>
            </a:r>
            <a:endParaRPr lang="en-US" sz="1000" dirty="0"/>
          </a:p>
        </p:txBody>
      </p:sp>
      <p:sp>
        <p:nvSpPr>
          <p:cNvPr id="20" name="Text 18"/>
          <p:cNvSpPr/>
          <p:nvPr/>
        </p:nvSpPr>
        <p:spPr>
          <a:xfrm>
            <a:off x="6839712" y="3895344"/>
            <a:ext cx="256032" cy="237744"/>
          </a:xfrm>
          <a:prstGeom prst="rect">
            <a:avLst/>
          </a:prstGeom>
          <a:noFill/>
          <a:ln/>
        </p:spPr>
        <p:txBody>
          <a:bodyPr wrap="square" lIns="0" tIns="0" rIns="0" bIns="0" rtlCol="0" anchor="ctr"/>
          <a:lstStyle/>
          <a:p>
            <a:pPr indent="0" marL="0">
              <a:buNone/>
            </a:pPr>
            <a:r>
              <a:rPr lang="en-US" sz="1000" b="1" dirty="0">
                <a:solidFill>
                  <a:srgbClr val="2F6383"/>
                </a:solidFill>
                <a:latin typeface="Calibri" pitchFamily="34" charset="0"/>
                <a:ea typeface="Calibri" pitchFamily="34" charset="-122"/>
                <a:cs typeface="Calibri" pitchFamily="34" charset="-120"/>
              </a:rPr>
              <a:t>2</a:t>
            </a:r>
            <a:endParaRPr lang="en-US" sz="1000" dirty="0"/>
          </a:p>
        </p:txBody>
      </p:sp>
      <p:sp>
        <p:nvSpPr>
          <p:cNvPr id="21" name="Text 19"/>
          <p:cNvSpPr/>
          <p:nvPr/>
        </p:nvSpPr>
        <p:spPr>
          <a:xfrm>
            <a:off x="7132320" y="3895344"/>
            <a:ext cx="4236415" cy="237744"/>
          </a:xfrm>
          <a:prstGeom prst="rect">
            <a:avLst/>
          </a:prstGeom>
          <a:noFill/>
          <a:ln/>
        </p:spPr>
        <p:txBody>
          <a:bodyPr wrap="square" lIns="0" tIns="0" rIns="0" bIns="0" rtlCol="0" anchor="ctr"/>
          <a:lstStyle/>
          <a:p>
            <a:pPr indent="0" marL="0">
              <a:buNone/>
            </a:pPr>
            <a:r>
              <a:rPr lang="en-US" sz="1000" dirty="0">
                <a:solidFill>
                  <a:srgbClr val="3A4859"/>
                </a:solidFill>
                <a:latin typeface="Calibri" pitchFamily="34" charset="0"/>
                <a:ea typeface="Calibri" pitchFamily="34" charset="-122"/>
                <a:cs typeface="Calibri" pitchFamily="34" charset="-120"/>
              </a:rPr>
              <a:t>Score the represented state value against ground truth.</a:t>
            </a:r>
            <a:endParaRPr lang="en-US" sz="1000" dirty="0"/>
          </a:p>
        </p:txBody>
      </p:sp>
      <p:sp>
        <p:nvSpPr>
          <p:cNvPr id="22" name="Text 20"/>
          <p:cNvSpPr/>
          <p:nvPr/>
        </p:nvSpPr>
        <p:spPr>
          <a:xfrm>
            <a:off x="6839712" y="4151376"/>
            <a:ext cx="256032" cy="237744"/>
          </a:xfrm>
          <a:prstGeom prst="rect">
            <a:avLst/>
          </a:prstGeom>
          <a:noFill/>
          <a:ln/>
        </p:spPr>
        <p:txBody>
          <a:bodyPr wrap="square" lIns="0" tIns="0" rIns="0" bIns="0" rtlCol="0" anchor="ctr"/>
          <a:lstStyle/>
          <a:p>
            <a:pPr indent="0" marL="0">
              <a:buNone/>
            </a:pPr>
            <a:r>
              <a:rPr lang="en-US" sz="1000" b="1" dirty="0">
                <a:solidFill>
                  <a:srgbClr val="2F6383"/>
                </a:solidFill>
                <a:latin typeface="Calibri" pitchFamily="34" charset="0"/>
                <a:ea typeface="Calibri" pitchFamily="34" charset="-122"/>
                <a:cs typeface="Calibri" pitchFamily="34" charset="-120"/>
              </a:rPr>
              <a:t>3</a:t>
            </a:r>
            <a:endParaRPr lang="en-US" sz="1000" dirty="0"/>
          </a:p>
        </p:txBody>
      </p:sp>
      <p:sp>
        <p:nvSpPr>
          <p:cNvPr id="23" name="Text 21"/>
          <p:cNvSpPr/>
          <p:nvPr/>
        </p:nvSpPr>
        <p:spPr>
          <a:xfrm>
            <a:off x="7132320" y="4151376"/>
            <a:ext cx="4236415" cy="237744"/>
          </a:xfrm>
          <a:prstGeom prst="rect">
            <a:avLst/>
          </a:prstGeom>
          <a:noFill/>
          <a:ln/>
        </p:spPr>
        <p:txBody>
          <a:bodyPr wrap="square" lIns="0" tIns="0" rIns="0" bIns="0" rtlCol="0" anchor="ctr"/>
          <a:lstStyle/>
          <a:p>
            <a:pPr indent="0" marL="0">
              <a:buNone/>
            </a:pPr>
            <a:r>
              <a:rPr lang="en-US" sz="1000" dirty="0">
                <a:solidFill>
                  <a:srgbClr val="3A4859"/>
                </a:solidFill>
                <a:latin typeface="Calibri" pitchFamily="34" charset="0"/>
                <a:ea typeface="Calibri" pitchFamily="34" charset="-122"/>
                <a:cs typeface="Calibri" pitchFamily="34" charset="-120"/>
              </a:rPr>
              <a:t>Correlate with downstream output correctness.</a:t>
            </a:r>
            <a:endParaRPr lang="en-US" sz="1000" dirty="0"/>
          </a:p>
        </p:txBody>
      </p:sp>
      <p:sp>
        <p:nvSpPr>
          <p:cNvPr id="24" name="Text 22"/>
          <p:cNvSpPr/>
          <p:nvPr/>
        </p:nvSpPr>
        <p:spPr>
          <a:xfrm>
            <a:off x="6839712" y="4407408"/>
            <a:ext cx="256032" cy="237744"/>
          </a:xfrm>
          <a:prstGeom prst="rect">
            <a:avLst/>
          </a:prstGeom>
          <a:noFill/>
          <a:ln/>
        </p:spPr>
        <p:txBody>
          <a:bodyPr wrap="square" lIns="0" tIns="0" rIns="0" bIns="0" rtlCol="0" anchor="ctr"/>
          <a:lstStyle/>
          <a:p>
            <a:pPr indent="0" marL="0">
              <a:buNone/>
            </a:pPr>
            <a:r>
              <a:rPr lang="en-US" sz="1000" b="1" dirty="0">
                <a:solidFill>
                  <a:srgbClr val="2F6383"/>
                </a:solidFill>
                <a:latin typeface="Calibri" pitchFamily="34" charset="0"/>
                <a:ea typeface="Calibri" pitchFamily="34" charset="-122"/>
                <a:cs typeface="Calibri" pitchFamily="34" charset="-120"/>
              </a:rPr>
              <a:t>4</a:t>
            </a:r>
            <a:endParaRPr lang="en-US" sz="1000" dirty="0"/>
          </a:p>
        </p:txBody>
      </p:sp>
      <p:sp>
        <p:nvSpPr>
          <p:cNvPr id="25" name="Text 23"/>
          <p:cNvSpPr/>
          <p:nvPr/>
        </p:nvSpPr>
        <p:spPr>
          <a:xfrm>
            <a:off x="7132320" y="4407408"/>
            <a:ext cx="4236415" cy="237744"/>
          </a:xfrm>
          <a:prstGeom prst="rect">
            <a:avLst/>
          </a:prstGeom>
          <a:noFill/>
          <a:ln/>
        </p:spPr>
        <p:txBody>
          <a:bodyPr wrap="square" lIns="0" tIns="0" rIns="0" bIns="0" rtlCol="0" anchor="ctr"/>
          <a:lstStyle/>
          <a:p>
            <a:pPr indent="0" marL="0">
              <a:buNone/>
            </a:pPr>
            <a:r>
              <a:rPr lang="en-US" sz="1000" dirty="0">
                <a:solidFill>
                  <a:srgbClr val="3A4859"/>
                </a:solidFill>
                <a:latin typeface="Calibri" pitchFamily="34" charset="0"/>
                <a:ea typeface="Calibri" pitchFamily="34" charset="-122"/>
                <a:cs typeface="Calibri" pitchFamily="34" charset="-120"/>
              </a:rPr>
              <a:t>Compare against the while-if state count (r = −0.196).</a:t>
            </a:r>
            <a:endParaRPr lang="en-US" sz="1000" dirty="0"/>
          </a:p>
        </p:txBody>
      </p:sp>
      <p:sp>
        <p:nvSpPr>
          <p:cNvPr id="26" name="Shape 24"/>
          <p:cNvSpPr/>
          <p:nvPr/>
        </p:nvSpPr>
        <p:spPr>
          <a:xfrm>
            <a:off x="566928" y="4882896"/>
            <a:ext cx="11057839" cy="914400"/>
          </a:xfrm>
          <a:prstGeom prst="roundRect">
            <a:avLst>
              <a:gd name="adj" fmla="val 6000"/>
            </a:avLst>
          </a:prstGeom>
          <a:solidFill>
            <a:srgbClr val="141B2E"/>
          </a:solidFill>
          <a:ln w="12700">
            <a:solidFill>
              <a:srgbClr val="333333"/>
            </a:solidFill>
            <a:prstDash val="solid"/>
          </a:ln>
        </p:spPr>
      </p:sp>
      <p:sp>
        <p:nvSpPr>
          <p:cNvPr id="27" name="Text 25"/>
          <p:cNvSpPr/>
          <p:nvPr/>
        </p:nvSpPr>
        <p:spPr>
          <a:xfrm>
            <a:off x="841248" y="4974336"/>
            <a:ext cx="10509199" cy="731520"/>
          </a:xfrm>
          <a:prstGeom prst="rect">
            <a:avLst/>
          </a:prstGeom>
          <a:noFill/>
          <a:ln/>
        </p:spPr>
        <p:txBody>
          <a:bodyPr wrap="square" lIns="0" tIns="0" rIns="0" bIns="0" rtlCol="0" anchor="ctr"/>
          <a:lstStyle/>
          <a:p>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Localises the failure.   </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This is the Relations level — does the model hold the dispatcher’s state from hop to hop under L2 and L3? Attention says whether it looks at s; the NLA says whether it knows what s currently is.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Building the NLA — and Knowing When to Trust It</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Method lessons from the source paper’s auditing game and confabulation analysis, applied to our code models.</a:t>
            </a:r>
            <a:endParaRPr lang="en-US" sz="1250" dirty="0"/>
          </a:p>
        </p:txBody>
      </p:sp>
      <p:sp>
        <p:nvSpPr>
          <p:cNvPr id="4" name="Shape 2"/>
          <p:cNvSpPr/>
          <p:nvPr/>
        </p:nvSpPr>
        <p:spPr>
          <a:xfrm>
            <a:off x="566928" y="1517904"/>
            <a:ext cx="5394960" cy="1828800"/>
          </a:xfrm>
          <a:prstGeom prst="roundRect">
            <a:avLst>
              <a:gd name="adj" fmla="val 2500"/>
            </a:avLst>
          </a:prstGeom>
          <a:solidFill>
            <a:srgbClr val="E9F5F1"/>
          </a:solidFill>
          <a:ln w="12700">
            <a:solidFill>
              <a:srgbClr val="333333"/>
            </a:solidFill>
            <a:prstDash val="solid"/>
          </a:ln>
        </p:spPr>
      </p:sp>
      <p:sp>
        <p:nvSpPr>
          <p:cNvPr id="5" name="Shape 3"/>
          <p:cNvSpPr/>
          <p:nvPr/>
        </p:nvSpPr>
        <p:spPr>
          <a:xfrm>
            <a:off x="822960" y="1773936"/>
            <a:ext cx="493776" cy="493776"/>
          </a:xfrm>
          <a:prstGeom prst="ellipse">
            <a:avLst/>
          </a:prstGeom>
          <a:solidFill>
            <a:srgbClr val="1FA184"/>
          </a:solidFill>
          <a:ln w="12700">
            <a:solidFill>
              <a:srgbClr val="333333"/>
            </a:solidFill>
            <a:prstDash val="solid"/>
          </a:ln>
        </p:spPr>
      </p:sp>
      <p:pic>
        <p:nvPicPr>
          <p:cNvPr id="6" name="Image 0" descr="preencoded.png">    </p:cNvPr>
          <p:cNvPicPr>
            <a:picLocks noChangeAspect="1"/>
          </p:cNvPicPr>
          <p:nvPr/>
        </p:nvPicPr>
        <p:blipFill>
          <a:blip r:embed="rId1"/>
          <a:stretch>
            <a:fillRect/>
          </a:stretch>
        </p:blipFill>
        <p:spPr>
          <a:xfrm>
            <a:off x="956280" y="1907256"/>
            <a:ext cx="227137" cy="227137"/>
          </a:xfrm>
          <a:prstGeom prst="rect">
            <a:avLst/>
          </a:prstGeom>
        </p:spPr>
      </p:pic>
      <p:sp>
        <p:nvSpPr>
          <p:cNvPr id="7" name="Text 4"/>
          <p:cNvSpPr/>
          <p:nvPr/>
        </p:nvSpPr>
        <p:spPr>
          <a:xfrm>
            <a:off x="1444752" y="1810512"/>
            <a:ext cx="4242816" cy="402336"/>
          </a:xfrm>
          <a:prstGeom prst="rect">
            <a:avLst/>
          </a:prstGeom>
          <a:noFill/>
          <a:ln/>
        </p:spPr>
        <p:txBody>
          <a:bodyPr wrap="square" lIns="0" tIns="0" rIns="0" bIns="0" rtlCol="0" anchor="ctr"/>
          <a:lstStyle/>
          <a:p>
            <a:pPr indent="0" marL="0">
              <a:buNone/>
            </a:pPr>
            <a:r>
              <a:rPr lang="en-US" sz="1400" b="1" dirty="0">
                <a:solidFill>
                  <a:srgbClr val="1FA184"/>
                </a:solidFill>
                <a:latin typeface="Calibri" pitchFamily="34" charset="0"/>
                <a:ea typeface="Calibri" pitchFamily="34" charset="-122"/>
                <a:cs typeface="Calibri" pitchFamily="34" charset="-120"/>
              </a:rPr>
              <a:t>Train the NLA</a:t>
            </a:r>
            <a:endParaRPr lang="en-US" sz="1400" dirty="0"/>
          </a:p>
        </p:txBody>
      </p:sp>
      <p:sp>
        <p:nvSpPr>
          <p:cNvPr id="8" name="Text 5"/>
          <p:cNvSpPr/>
          <p:nvPr/>
        </p:nvSpPr>
        <p:spPr>
          <a:xfrm>
            <a:off x="822960" y="2340864"/>
            <a:ext cx="4882896" cy="914400"/>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Initialise from the target model and RL-reconstruct on a generic code corpus — no obfuscated data needed. FVE target 0.6–0.8 (Gemma-3-27B reached 0.71).</a:t>
            </a:r>
            <a:endParaRPr lang="en-US" sz="1100" dirty="0"/>
          </a:p>
        </p:txBody>
      </p:sp>
      <p:sp>
        <p:nvSpPr>
          <p:cNvPr id="9" name="Shape 6"/>
          <p:cNvSpPr/>
          <p:nvPr/>
        </p:nvSpPr>
        <p:spPr>
          <a:xfrm>
            <a:off x="6227064" y="1517904"/>
            <a:ext cx="5394960" cy="1828800"/>
          </a:xfrm>
          <a:prstGeom prst="roundRect">
            <a:avLst>
              <a:gd name="adj" fmla="val 2500"/>
            </a:avLst>
          </a:prstGeom>
          <a:solidFill>
            <a:srgbClr val="EBF1F6"/>
          </a:solidFill>
          <a:ln w="12700">
            <a:solidFill>
              <a:srgbClr val="333333"/>
            </a:solidFill>
            <a:prstDash val="solid"/>
          </a:ln>
        </p:spPr>
      </p:sp>
      <p:sp>
        <p:nvSpPr>
          <p:cNvPr id="10" name="Shape 7"/>
          <p:cNvSpPr/>
          <p:nvPr/>
        </p:nvSpPr>
        <p:spPr>
          <a:xfrm>
            <a:off x="6483096" y="1773936"/>
            <a:ext cx="493776" cy="493776"/>
          </a:xfrm>
          <a:prstGeom prst="ellipse">
            <a:avLst/>
          </a:prstGeom>
          <a:solidFill>
            <a:srgbClr val="2F6383"/>
          </a:solidFill>
          <a:ln w="12700">
            <a:solidFill>
              <a:srgbClr val="333333"/>
            </a:solidFill>
            <a:prstDash val="solid"/>
          </a:ln>
        </p:spPr>
      </p:sp>
      <p:pic>
        <p:nvPicPr>
          <p:cNvPr id="11" name="Image 1" descr="preencoded.png">    </p:cNvPr>
          <p:cNvPicPr>
            <a:picLocks noChangeAspect="1"/>
          </p:cNvPicPr>
          <p:nvPr/>
        </p:nvPicPr>
        <p:blipFill>
          <a:blip r:embed="rId2"/>
          <a:stretch>
            <a:fillRect/>
          </a:stretch>
        </p:blipFill>
        <p:spPr>
          <a:xfrm>
            <a:off x="6616416" y="1907256"/>
            <a:ext cx="227137" cy="227137"/>
          </a:xfrm>
          <a:prstGeom prst="rect">
            <a:avLst/>
          </a:prstGeom>
        </p:spPr>
      </p:pic>
      <p:sp>
        <p:nvSpPr>
          <p:cNvPr id="12" name="Text 8"/>
          <p:cNvSpPr/>
          <p:nvPr/>
        </p:nvSpPr>
        <p:spPr>
          <a:xfrm>
            <a:off x="7104888" y="1810512"/>
            <a:ext cx="4242816" cy="402336"/>
          </a:xfrm>
          <a:prstGeom prst="rect">
            <a:avLst/>
          </a:prstGeom>
          <a:noFill/>
          <a:ln/>
        </p:spPr>
        <p:txBody>
          <a:bodyPr wrap="square" lIns="0" tIns="0" rIns="0" bIns="0" rtlCol="0" anchor="ctr"/>
          <a:lstStyle/>
          <a:p>
            <a:pPr indent="0" marL="0">
              <a:buNone/>
            </a:pPr>
            <a:r>
              <a:rPr lang="en-US" sz="1400" b="1" dirty="0">
                <a:solidFill>
                  <a:srgbClr val="2F6383"/>
                </a:solidFill>
                <a:latin typeface="Calibri" pitchFamily="34" charset="0"/>
                <a:ea typeface="Calibri" pitchFamily="34" charset="-122"/>
                <a:cs typeface="Calibri" pitchFamily="34" charset="-120"/>
              </a:rPr>
              <a:t>Sweep the layer</a:t>
            </a:r>
            <a:endParaRPr lang="en-US" sz="1400" dirty="0"/>
          </a:p>
        </p:txBody>
      </p:sp>
      <p:sp>
        <p:nvSpPr>
          <p:cNvPr id="13" name="Text 9"/>
          <p:cNvSpPr/>
          <p:nvPr/>
        </p:nvSpPr>
        <p:spPr>
          <a:xfrm>
            <a:off x="6483096" y="2340864"/>
            <a:ext cx="4882896" cy="914400"/>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In the auditing game, reward-model features appeared at the midpoint rather than at two-thirds depth. Dataflow and dispatcher state may live at different layers, so we train two depths per target.</a:t>
            </a:r>
            <a:endParaRPr lang="en-US" sz="1100" dirty="0"/>
          </a:p>
        </p:txBody>
      </p:sp>
      <p:sp>
        <p:nvSpPr>
          <p:cNvPr id="14" name="Shape 10"/>
          <p:cNvSpPr/>
          <p:nvPr/>
        </p:nvSpPr>
        <p:spPr>
          <a:xfrm>
            <a:off x="566928" y="3566160"/>
            <a:ext cx="5394960" cy="1828800"/>
          </a:xfrm>
          <a:prstGeom prst="roundRect">
            <a:avLst>
              <a:gd name="adj" fmla="val 2500"/>
            </a:avLst>
          </a:prstGeom>
          <a:solidFill>
            <a:srgbClr val="E9F5F1"/>
          </a:solidFill>
          <a:ln w="12700">
            <a:solidFill>
              <a:srgbClr val="333333"/>
            </a:solidFill>
            <a:prstDash val="solid"/>
          </a:ln>
        </p:spPr>
      </p:sp>
      <p:sp>
        <p:nvSpPr>
          <p:cNvPr id="15" name="Shape 11"/>
          <p:cNvSpPr/>
          <p:nvPr/>
        </p:nvSpPr>
        <p:spPr>
          <a:xfrm>
            <a:off x="822960" y="3822192"/>
            <a:ext cx="493776" cy="493776"/>
          </a:xfrm>
          <a:prstGeom prst="ellipse">
            <a:avLst/>
          </a:prstGeom>
          <a:solidFill>
            <a:srgbClr val="1FA184"/>
          </a:solidFill>
          <a:ln w="12700">
            <a:solidFill>
              <a:srgbClr val="333333"/>
            </a:solidFill>
            <a:prstDash val="solid"/>
          </a:ln>
        </p:spPr>
      </p:sp>
      <p:pic>
        <p:nvPicPr>
          <p:cNvPr id="16" name="Image 2" descr="preencoded.png">    </p:cNvPr>
          <p:cNvPicPr>
            <a:picLocks noChangeAspect="1"/>
          </p:cNvPicPr>
          <p:nvPr/>
        </p:nvPicPr>
        <p:blipFill>
          <a:blip r:embed="rId3"/>
          <a:stretch>
            <a:fillRect/>
          </a:stretch>
        </p:blipFill>
        <p:spPr>
          <a:xfrm>
            <a:off x="956280" y="3955512"/>
            <a:ext cx="227137" cy="227137"/>
          </a:xfrm>
          <a:prstGeom prst="rect">
            <a:avLst/>
          </a:prstGeom>
        </p:spPr>
      </p:pic>
      <p:sp>
        <p:nvSpPr>
          <p:cNvPr id="17" name="Text 12"/>
          <p:cNvSpPr/>
          <p:nvPr/>
        </p:nvSpPr>
        <p:spPr>
          <a:xfrm>
            <a:off x="1444752" y="3858768"/>
            <a:ext cx="4242816" cy="402336"/>
          </a:xfrm>
          <a:prstGeom prst="rect">
            <a:avLst/>
          </a:prstGeom>
          <a:noFill/>
          <a:ln/>
        </p:spPr>
        <p:txBody>
          <a:bodyPr wrap="square" lIns="0" tIns="0" rIns="0" bIns="0" rtlCol="0" anchor="ctr"/>
          <a:lstStyle/>
          <a:p>
            <a:pPr indent="0" marL="0">
              <a:buNone/>
            </a:pPr>
            <a:r>
              <a:rPr lang="en-US" sz="1400" b="1" dirty="0">
                <a:solidFill>
                  <a:srgbClr val="1FA184"/>
                </a:solidFill>
                <a:latin typeface="Calibri" pitchFamily="34" charset="0"/>
                <a:ea typeface="Calibri" pitchFamily="34" charset="-122"/>
                <a:cs typeface="Calibri" pitchFamily="34" charset="-120"/>
              </a:rPr>
              <a:t>Validate on L0 first</a:t>
            </a:r>
            <a:endParaRPr lang="en-US" sz="1400" dirty="0"/>
          </a:p>
        </p:txBody>
      </p:sp>
      <p:sp>
        <p:nvSpPr>
          <p:cNvPr id="18" name="Text 13"/>
          <p:cNvSpPr/>
          <p:nvPr/>
        </p:nvSpPr>
        <p:spPr>
          <a:xfrm>
            <a:off x="822960" y="4389120"/>
            <a:ext cx="4882896" cy="914400"/>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Confirm the NLA recovers known code facts — a variable’s role, a loop bound — on clean code, before trusting anything it says about L1b, L2, or L3.</a:t>
            </a:r>
            <a:endParaRPr lang="en-US" sz="1100" dirty="0"/>
          </a:p>
        </p:txBody>
      </p:sp>
      <p:sp>
        <p:nvSpPr>
          <p:cNvPr id="19" name="Shape 14"/>
          <p:cNvSpPr/>
          <p:nvPr/>
        </p:nvSpPr>
        <p:spPr>
          <a:xfrm>
            <a:off x="6227064" y="3566160"/>
            <a:ext cx="5394960" cy="1828800"/>
          </a:xfrm>
          <a:prstGeom prst="roundRect">
            <a:avLst>
              <a:gd name="adj" fmla="val 2500"/>
            </a:avLst>
          </a:prstGeom>
          <a:solidFill>
            <a:srgbClr val="FAECEA"/>
          </a:solidFill>
          <a:ln w="12700">
            <a:solidFill>
              <a:srgbClr val="333333"/>
            </a:solidFill>
            <a:prstDash val="solid"/>
          </a:ln>
        </p:spPr>
      </p:sp>
      <p:sp>
        <p:nvSpPr>
          <p:cNvPr id="20" name="Shape 15"/>
          <p:cNvSpPr/>
          <p:nvPr/>
        </p:nvSpPr>
        <p:spPr>
          <a:xfrm>
            <a:off x="6483096" y="3822192"/>
            <a:ext cx="493776" cy="493776"/>
          </a:xfrm>
          <a:prstGeom prst="ellipse">
            <a:avLst/>
          </a:prstGeom>
          <a:solidFill>
            <a:srgbClr val="C9534B"/>
          </a:solidFill>
          <a:ln w="12700">
            <a:solidFill>
              <a:srgbClr val="333333"/>
            </a:solidFill>
            <a:prstDash val="solid"/>
          </a:ln>
        </p:spPr>
      </p:sp>
      <p:pic>
        <p:nvPicPr>
          <p:cNvPr id="21" name="Image 3" descr="preencoded.png">    </p:cNvPr>
          <p:cNvPicPr>
            <a:picLocks noChangeAspect="1"/>
          </p:cNvPicPr>
          <p:nvPr/>
        </p:nvPicPr>
        <p:blipFill>
          <a:blip r:embed="rId4"/>
          <a:stretch>
            <a:fillRect/>
          </a:stretch>
        </p:blipFill>
        <p:spPr>
          <a:xfrm>
            <a:off x="6616416" y="3955512"/>
            <a:ext cx="227137" cy="227137"/>
          </a:xfrm>
          <a:prstGeom prst="rect">
            <a:avLst/>
          </a:prstGeom>
        </p:spPr>
      </p:pic>
      <p:sp>
        <p:nvSpPr>
          <p:cNvPr id="22" name="Text 16"/>
          <p:cNvSpPr/>
          <p:nvPr/>
        </p:nvSpPr>
        <p:spPr>
          <a:xfrm>
            <a:off x="7104888" y="3858768"/>
            <a:ext cx="4242816" cy="402336"/>
          </a:xfrm>
          <a:prstGeom prst="rect">
            <a:avLst/>
          </a:prstGeom>
          <a:noFill/>
          <a:ln/>
        </p:spPr>
        <p:txBody>
          <a:bodyPr wrap="square" lIns="0" tIns="0" rIns="0" bIns="0" rtlCol="0" anchor="ctr"/>
          <a:lstStyle/>
          <a:p>
            <a:pPr indent="0" marL="0">
              <a:buNone/>
            </a:pPr>
            <a:r>
              <a:rPr lang="en-US" sz="1400" b="1" dirty="0">
                <a:solidFill>
                  <a:srgbClr val="C9534B"/>
                </a:solidFill>
                <a:latin typeface="Calibri" pitchFamily="34" charset="0"/>
                <a:ea typeface="Calibri" pitchFamily="34" charset="-122"/>
                <a:cs typeface="Calibri" pitchFamily="34" charset="-120"/>
              </a:rPr>
              <a:t>Read theme, not specifics</a:t>
            </a:r>
            <a:endParaRPr lang="en-US" sz="1400" dirty="0"/>
          </a:p>
        </p:txBody>
      </p:sp>
      <p:sp>
        <p:nvSpPr>
          <p:cNvPr id="23" name="Text 17"/>
          <p:cNvSpPr/>
          <p:nvPr/>
        </p:nvSpPr>
        <p:spPr>
          <a:xfrm>
            <a:off x="6483096" y="4389120"/>
            <a:ext cx="4882896" cy="914400"/>
          </a:xfrm>
          <a:prstGeom prst="rect">
            <a:avLst/>
          </a:prstGeom>
          <a:noFill/>
          <a:ln/>
        </p:spPr>
        <p:txBody>
          <a:bodyPr wrap="square" lIns="0" tIns="0" rIns="0" bIns="0" rtlCol="0" anchor="ctr"/>
          <a:lstStyle/>
          <a:p>
            <a:pPr indent="0" marL="0">
              <a:lnSpc>
                <a:spcPct val="116000"/>
              </a:lnSpc>
              <a:buNone/>
            </a:pPr>
            <a:r>
              <a:rPr lang="en-US" sz="1100" dirty="0">
                <a:solidFill>
                  <a:srgbClr val="3A4859"/>
                </a:solidFill>
                <a:latin typeface="Calibri" pitchFamily="34" charset="0"/>
                <a:ea typeface="Calibri" pitchFamily="34" charset="-122"/>
                <a:cs typeface="Calibri" pitchFamily="34" charset="-120"/>
              </a:rPr>
              <a:t>Trust role claims that recur across tokens; distrust exact values. Corroborate against SAEs, probes, attribution graphs — and against the attention map.</a:t>
            </a:r>
            <a:endParaRPr lang="en-US" sz="1100" dirty="0"/>
          </a:p>
        </p:txBody>
      </p:sp>
      <p:sp>
        <p:nvSpPr>
          <p:cNvPr id="24" name="Shape 18"/>
          <p:cNvSpPr/>
          <p:nvPr/>
        </p:nvSpPr>
        <p:spPr>
          <a:xfrm>
            <a:off x="566928" y="5486400"/>
            <a:ext cx="11057839" cy="749808"/>
          </a:xfrm>
          <a:prstGeom prst="roundRect">
            <a:avLst>
              <a:gd name="adj" fmla="val 7317"/>
            </a:avLst>
          </a:prstGeom>
          <a:solidFill>
            <a:srgbClr val="141B2E"/>
          </a:solidFill>
          <a:ln w="12700">
            <a:solidFill>
              <a:srgbClr val="333333"/>
            </a:solidFill>
            <a:prstDash val="solid"/>
          </a:ln>
        </p:spPr>
      </p:sp>
      <p:sp>
        <p:nvSpPr>
          <p:cNvPr id="25" name="Text 19"/>
          <p:cNvSpPr/>
          <p:nvPr/>
        </p:nvSpPr>
        <p:spPr>
          <a:xfrm>
            <a:off x="841248" y="5577840"/>
            <a:ext cx="10509199" cy="566928"/>
          </a:xfrm>
          <a:prstGeom prst="rect">
            <a:avLst/>
          </a:prstGeom>
          <a:noFill/>
          <a:ln/>
        </p:spPr>
        <p:txBody>
          <a:bodyPr wrap="square" lIns="0" tIns="0" rIns="0" bIns="0" rtlCol="0" anchor="ctr"/>
          <a:lstStyle/>
          <a:p>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Why it can work.   </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Auditing agents surfaced latent knowledge that was absent from the NLA’s own training data — so an NLA can, in principle, reveal the true role an adversarial name is hiding.</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Cross-Validation: Two Instruments, One Verdict</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Attention says where the budget goes; the NLA says what is computed with it. Agreement between independent instruments is the strongest evidence either can produce.</a:t>
            </a:r>
            <a:endParaRPr lang="en-US" sz="12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7839" cy="914400"/>
        </p:xfrm>
        <a:graphic>
          <a:graphicData uri="http://schemas.openxmlformats.org/drawingml/2006/table">
            <a:tbl>
              <a:tblPr/>
              <a:tblGrid>
                <a:gridCol w="2148840"/>
                <a:gridCol w="3108960"/>
                <a:gridCol w="3108960"/>
                <a:gridCol w="2688336"/>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Hypothesis</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Attention signature (Part II)</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Predicted NLA co-signature (Part III)</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Verdict if they disagree</a:t>
                      </a:r>
                      <a:endParaRPr lang="en-US" sz="950" dirty="0">
                        <a:latin typeface="Calibri" charset="0"/>
                        <a:ea typeface="Calibri" charset="0"/>
                        <a:cs typeface="Calibri" charset="0"/>
                      </a:endParaRPr>
                    </a:p>
                  </a:txBody>
                  <a:tcPr marL="64008" marR="64008" marT="64008" marB="64008"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12D48"/>
                    </a:solidFill>
                  </a:tcPr>
                </a:tc>
              </a:tr>
              <a:tr h="0">
                <a:tc>
                  <a:txBody>
                    <a:bodyPr/>
                    <a:lstStyle/>
                    <a:p>
                      <a:pPr indent="0" marL="0">
                        <a:buNone/>
                      </a:pPr>
                      <a:r>
                        <a:rPr lang="en-US" sz="900" b="1" dirty="0">
                          <a:solidFill>
                            <a:srgbClr val="1FA184"/>
                          </a:solidFill>
                          <a:latin typeface="Calibri" pitchFamily="34" charset="0"/>
                          <a:ea typeface="Calibri" pitchFamily="34" charset="-122"/>
                          <a:cs typeface="Calibri" pitchFamily="34" charset="-120"/>
                        </a:rPr>
                        <a:t>H1  Identifier-focused</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9F5F1"/>
                    </a:solidFill>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A_id rises at L3 vs L2; identifier heads dominate; steering to identifiers helps</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Name-anchored NLA content; E1 shows frame adoption — the model internally believes the decoy</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Attention on names without decoy content = looking without believing; report as partial H1</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900" b="1" dirty="0">
                          <a:solidFill>
                            <a:srgbClr val="2F6383"/>
                          </a:solidFill>
                          <a:latin typeface="Calibri" pitchFamily="34" charset="0"/>
                          <a:ea typeface="Calibri" pitchFamily="34" charset="-122"/>
                          <a:cs typeface="Calibri" pitchFamily="34" charset="-120"/>
                        </a:rPr>
                        <a:t>H2  Structure-focused</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BF1F6"/>
                    </a:solidFill>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A_struct rises at L3 vs L1b; dispatcher-tracking heads emerge; steering to structure helps</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NLA narrates states and control flow; E3 shows correct per-hop state values</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Structure attention without state tracking = attending to the dispatcher but failing to simulate it</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900" b="1" dirty="0">
                          <a:solidFill>
                            <a:srgbClr val="C9534B"/>
                          </a:solidFill>
                          <a:latin typeface="Calibri" pitchFamily="34" charset="0"/>
                          <a:ea typeface="Calibri" pitchFamily="34" charset="-122"/>
                          <a:cs typeface="Calibri" pitchFamily="34" charset="-120"/>
                        </a:rPr>
                        <a:t>H3  Reduced attention</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AECEA"/>
                    </a:solidFill>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Code-token mass falls, sink mass rises, entropy over code drops sharply</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Sparse, generic NLA content on code tokens — little represented about either channel</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Rich NLA content under low code attention would falsify the suppression reading outright</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0">
                <a:tc>
                  <a:txBody>
                    <a:bodyPr/>
                    <a:lstStyle/>
                    <a:p>
                      <a:pPr indent="0" marL="0">
                        <a:buNone/>
                      </a:pPr>
                      <a:r>
                        <a:rPr lang="en-US" sz="900" b="1" dirty="0">
                          <a:solidFill>
                            <a:srgbClr val="B5842B"/>
                          </a:solidFill>
                          <a:latin typeface="Calibri" pitchFamily="34" charset="0"/>
                          <a:ea typeface="Calibri" pitchFamily="34" charset="-122"/>
                          <a:cs typeface="Calibri" pitchFamily="34" charset="-120"/>
                        </a:rPr>
                        <a:t>H4  Increased attention</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BF3E4"/>
                    </a:solidFill>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Entropy over code rises; no class-selective shift; steering has little effect</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Broad but shallow NLA content; E5 shows internal effort not reflected in the visible trace</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6202F"/>
                          </a:solidFill>
                          <a:latin typeface="Calibri" pitchFamily="34" charset="0"/>
                          <a:ea typeface="Calibri" pitchFamily="34" charset="-122"/>
                          <a:cs typeface="Calibri" pitchFamily="34" charset="-120"/>
                        </a:rPr>
                        <a:t>Selective NLA content under uniform attention points back to H1 or H2 after all</a:t>
                      </a:r>
                      <a:endParaRPr lang="en-US" sz="900" dirty="0">
                        <a:latin typeface="Calibri" charset="0"/>
                        <a:ea typeface="Calibri" charset="0"/>
                        <a:cs typeface="Calibri" charset="0"/>
                      </a:endParaRPr>
                    </a:p>
                  </a:txBody>
                  <a:tcPr marL="64008" marR="64008" marT="64008" marB="64008" anchor="t">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566928" y="5175504"/>
            <a:ext cx="11057839" cy="822960"/>
          </a:xfrm>
          <a:prstGeom prst="roundRect">
            <a:avLst>
              <a:gd name="adj" fmla="val 6667"/>
            </a:avLst>
          </a:prstGeom>
          <a:solidFill>
            <a:srgbClr val="141B2E"/>
          </a:solidFill>
          <a:ln w="12700">
            <a:solidFill>
              <a:srgbClr val="333333"/>
            </a:solidFill>
            <a:prstDash val="solid"/>
          </a:ln>
        </p:spPr>
      </p:sp>
      <p:sp>
        <p:nvSpPr>
          <p:cNvPr id="6" name="Text 3"/>
          <p:cNvSpPr/>
          <p:nvPr/>
        </p:nvSpPr>
        <p:spPr>
          <a:xfrm>
            <a:off x="841248" y="5266944"/>
            <a:ext cx="10509199" cy="640080"/>
          </a:xfrm>
          <a:prstGeom prst="rect">
            <a:avLst/>
          </a:prstGeom>
          <a:noFill/>
          <a:ln/>
        </p:spPr>
        <p:txBody>
          <a:bodyPr wrap="square" lIns="0" tIns="0" rIns="0" bIns="0" rtlCol="0" anchor="ctr"/>
          <a:lstStyle/>
          <a:p>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Combined verdict table.   </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Each hypothesis now carries five attention signatures plus three NLA signatures — </a:t>
            </a:r>
            <a:pPr indent="0" marL="0">
              <a:lnSpc>
                <a:spcPct val="118000"/>
              </a:lnSpc>
              <a:buNone/>
            </a:pPr>
            <a:r>
              <a:rPr lang="en-US" sz="1250" b="1" dirty="0">
                <a:solidFill>
                  <a:srgbClr val="FFFFFF"/>
                </a:solidFill>
                <a:latin typeface="Calibri" pitchFamily="34" charset="0"/>
                <a:ea typeface="Calibri" pitchFamily="34" charset="-122"/>
                <a:cs typeface="Calibri" pitchFamily="34" charset="-120"/>
              </a:rPr>
              <a:t>eight independent falsification chances per hypothesis</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 with causal steering available on both instruments.</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1B2E"/>
        </a:solidFill>
      </p:bgPr>
    </p:bg>
    <p:spTree>
      <p:nvGrpSpPr>
        <p:cNvPr id="1" name=""/>
        <p:cNvGrpSpPr/>
        <p:nvPr/>
      </p:nvGrpSpPr>
      <p:grpSpPr>
        <a:xfrm>
          <a:off x="0" y="0"/>
          <a:ext cx="0" cy="0"/>
          <a:chOff x="0" y="0"/>
          <a:chExt cx="0" cy="0"/>
        </a:xfrm>
      </p:grpSpPr>
      <p:sp>
        <p:nvSpPr>
          <p:cNvPr id="2" name="Shape 0"/>
          <p:cNvSpPr/>
          <p:nvPr/>
        </p:nvSpPr>
        <p:spPr>
          <a:xfrm>
            <a:off x="9509760" y="-1737360"/>
            <a:ext cx="4754880" cy="4754880"/>
          </a:xfrm>
          <a:prstGeom prst="ellipse">
            <a:avLst/>
          </a:prstGeom>
          <a:solidFill>
            <a:srgbClr val="1B3A44"/>
          </a:solidFill>
          <a:ln w="12700">
            <a:solidFill>
              <a:srgbClr val="333333"/>
            </a:solidFill>
            <a:prstDash val="solid"/>
          </a:ln>
        </p:spPr>
      </p:sp>
      <p:sp>
        <p:nvSpPr>
          <p:cNvPr id="3" name="Shape 1"/>
          <p:cNvSpPr/>
          <p:nvPr/>
        </p:nvSpPr>
        <p:spPr>
          <a:xfrm>
            <a:off x="9966960" y="4846320"/>
            <a:ext cx="3291840" cy="3291840"/>
          </a:xfrm>
          <a:prstGeom prst="ellipse">
            <a:avLst/>
          </a:prstGeom>
          <a:solidFill>
            <a:srgbClr val="3A2430"/>
          </a:solidFill>
          <a:ln w="12700">
            <a:solidFill>
              <a:srgbClr val="333333"/>
            </a:solidFill>
            <a:prstDash val="solid"/>
          </a:ln>
        </p:spPr>
      </p:sp>
      <p:sp>
        <p:nvSpPr>
          <p:cNvPr id="4" name="Shape 2"/>
          <p:cNvSpPr/>
          <p:nvPr/>
        </p:nvSpPr>
        <p:spPr>
          <a:xfrm>
            <a:off x="566928" y="713232"/>
            <a:ext cx="786384" cy="786384"/>
          </a:xfrm>
          <a:prstGeom prst="ellipse">
            <a:avLst/>
          </a:prstGeom>
          <a:solidFill>
            <a:srgbClr val="1FA184"/>
          </a:solidFill>
          <a:ln w="12700">
            <a:solidFill>
              <a:srgbClr val="333333"/>
            </a:solidFill>
            <a:prstDash val="solid"/>
          </a:ln>
        </p:spPr>
      </p:sp>
      <p:pic>
        <p:nvPicPr>
          <p:cNvPr id="5" name="Image 0" descr="preencoded.png">    </p:cNvPr>
          <p:cNvPicPr>
            <a:picLocks noChangeAspect="1"/>
          </p:cNvPicPr>
          <p:nvPr/>
        </p:nvPicPr>
        <p:blipFill>
          <a:blip r:embed="rId1"/>
          <a:stretch>
            <a:fillRect/>
          </a:stretch>
        </p:blipFill>
        <p:spPr>
          <a:xfrm>
            <a:off x="779252" y="925556"/>
            <a:ext cx="361737" cy="361737"/>
          </a:xfrm>
          <a:prstGeom prst="rect">
            <a:avLst/>
          </a:prstGeom>
        </p:spPr>
      </p:pic>
      <p:sp>
        <p:nvSpPr>
          <p:cNvPr id="6" name="Text 3"/>
          <p:cNvSpPr/>
          <p:nvPr/>
        </p:nvSpPr>
        <p:spPr>
          <a:xfrm>
            <a:off x="1591056" y="905256"/>
            <a:ext cx="7315200" cy="365760"/>
          </a:xfrm>
          <a:prstGeom prst="rect">
            <a:avLst/>
          </a:prstGeom>
          <a:noFill/>
          <a:ln/>
        </p:spPr>
        <p:txBody>
          <a:bodyPr wrap="square" lIns="0" tIns="0" rIns="0" bIns="0" rtlCol="0" anchor="ctr"/>
          <a:lstStyle/>
          <a:p>
            <a:pPr indent="0" marL="0">
              <a:buNone/>
            </a:pPr>
            <a:r>
              <a:rPr lang="en-US" sz="1150" b="1" spc="240" kern="0" dirty="0">
                <a:solidFill>
                  <a:srgbClr val="8FA3BD"/>
                </a:solidFill>
                <a:latin typeface="Calibri" pitchFamily="34" charset="0"/>
                <a:ea typeface="Calibri" pitchFamily="34" charset="-122"/>
                <a:cs typeface="Calibri" pitchFamily="34" charset="-120"/>
              </a:rPr>
              <a:t>PART IV  ·  EXECUTION</a:t>
            </a:r>
            <a:endParaRPr lang="en-US" sz="1150" dirty="0"/>
          </a:p>
        </p:txBody>
      </p:sp>
      <p:sp>
        <p:nvSpPr>
          <p:cNvPr id="7" name="Text 4"/>
          <p:cNvSpPr/>
          <p:nvPr/>
        </p:nvSpPr>
        <p:spPr>
          <a:xfrm>
            <a:off x="566928" y="2148840"/>
            <a:ext cx="9692640" cy="137160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Analysis, Threats, Timeline</a:t>
            </a:r>
            <a:endParaRPr lang="en-US" sz="4000" dirty="0"/>
          </a:p>
        </p:txBody>
      </p:sp>
      <p:sp>
        <p:nvSpPr>
          <p:cNvPr id="8" name="Text 5"/>
          <p:cNvSpPr/>
          <p:nvPr/>
        </p:nvSpPr>
        <p:spPr>
          <a:xfrm>
            <a:off x="566928" y="3886200"/>
            <a:ext cx="9326880" cy="1005840"/>
          </a:xfrm>
          <a:prstGeom prst="rect">
            <a:avLst/>
          </a:prstGeom>
          <a:noFill/>
          <a:ln/>
        </p:spPr>
        <p:txBody>
          <a:bodyPr wrap="square" lIns="0" tIns="0" rIns="0" bIns="0" rtlCol="0" anchor="ctr"/>
          <a:lstStyle/>
          <a:p>
            <a:pPr indent="0" marL="0">
              <a:lnSpc>
                <a:spcPct val="125000"/>
              </a:lnSpc>
              <a:buNone/>
            </a:pPr>
            <a:r>
              <a:rPr lang="en-US" sz="1500" dirty="0">
                <a:solidFill>
                  <a:srgbClr val="AFC0D4"/>
                </a:solidFill>
                <a:latin typeface="Calibri" pitchFamily="34" charset="0"/>
                <a:ea typeface="Calibri" pitchFamily="34" charset="-122"/>
                <a:cs typeface="Calibri" pitchFamily="34" charset="-120"/>
              </a:rPr>
              <a:t>The statistical stack, the shared threats to validity, and a sixteen-week plan in which every step reuses validated stimuli, models, and analyses.</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Analysis Plan and Shared Threats to Validity</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The statistics are inherited wholesale from the prior papers, so new measures enter existing models as predictors rather than as a separate analysis.</a:t>
            </a:r>
            <a:endParaRPr lang="en-US" sz="1250" dirty="0"/>
          </a:p>
        </p:txBody>
      </p:sp>
      <p:sp>
        <p:nvSpPr>
          <p:cNvPr id="4" name="Shape 2"/>
          <p:cNvSpPr/>
          <p:nvPr/>
        </p:nvSpPr>
        <p:spPr>
          <a:xfrm>
            <a:off x="566928" y="1517904"/>
            <a:ext cx="5394960" cy="2084832"/>
          </a:xfrm>
          <a:prstGeom prst="roundRect">
            <a:avLst>
              <a:gd name="adj" fmla="val 2193"/>
            </a:avLst>
          </a:prstGeom>
          <a:solidFill>
            <a:srgbClr val="E9F5F1"/>
          </a:solidFill>
          <a:ln w="12700">
            <a:solidFill>
              <a:srgbClr val="333333"/>
            </a:solidFill>
            <a:prstDash val="solid"/>
          </a:ln>
        </p:spPr>
      </p:sp>
      <p:sp>
        <p:nvSpPr>
          <p:cNvPr id="5" name="Shape 3"/>
          <p:cNvSpPr/>
          <p:nvPr/>
        </p:nvSpPr>
        <p:spPr>
          <a:xfrm>
            <a:off x="822960" y="1755648"/>
            <a:ext cx="457200" cy="457200"/>
          </a:xfrm>
          <a:prstGeom prst="ellipse">
            <a:avLst/>
          </a:prstGeom>
          <a:solidFill>
            <a:srgbClr val="1FA184"/>
          </a:solidFill>
          <a:ln w="12700">
            <a:solidFill>
              <a:srgbClr val="333333"/>
            </a:solidFill>
            <a:prstDash val="solid"/>
          </a:ln>
        </p:spPr>
      </p:sp>
      <p:pic>
        <p:nvPicPr>
          <p:cNvPr id="6" name="Image 0" descr="preencoded.png">    </p:cNvPr>
          <p:cNvPicPr>
            <a:picLocks noChangeAspect="1"/>
          </p:cNvPicPr>
          <p:nvPr/>
        </p:nvPicPr>
        <p:blipFill>
          <a:blip r:embed="rId1"/>
          <a:stretch>
            <a:fillRect/>
          </a:stretch>
        </p:blipFill>
        <p:spPr>
          <a:xfrm>
            <a:off x="946404" y="1879092"/>
            <a:ext cx="210312" cy="210312"/>
          </a:xfrm>
          <a:prstGeom prst="rect">
            <a:avLst/>
          </a:prstGeom>
        </p:spPr>
      </p:pic>
      <p:sp>
        <p:nvSpPr>
          <p:cNvPr id="7" name="Text 4"/>
          <p:cNvSpPr/>
          <p:nvPr/>
        </p:nvSpPr>
        <p:spPr>
          <a:xfrm>
            <a:off x="1389888" y="1773936"/>
            <a:ext cx="4297680" cy="420624"/>
          </a:xfrm>
          <a:prstGeom prst="rect">
            <a:avLst/>
          </a:prstGeom>
          <a:noFill/>
          <a:ln/>
        </p:spPr>
        <p:txBody>
          <a:bodyPr wrap="square" lIns="0" tIns="0" rIns="0" bIns="0" rtlCol="0" anchor="ctr"/>
          <a:lstStyle/>
          <a:p>
            <a:pPr indent="0" marL="0">
              <a:lnSpc>
                <a:spcPct val="104000"/>
              </a:lnSpc>
              <a:buNone/>
            </a:pPr>
            <a:r>
              <a:rPr lang="en-US" sz="1300" b="1" dirty="0">
                <a:solidFill>
                  <a:srgbClr val="1FA184"/>
                </a:solidFill>
                <a:latin typeface="Calibri" pitchFamily="34" charset="0"/>
                <a:ea typeface="Calibri" pitchFamily="34" charset="-122"/>
                <a:cs typeface="Calibri" pitchFamily="34" charset="-120"/>
              </a:rPr>
              <a:t>Statistics (inherited)</a:t>
            </a:r>
            <a:endParaRPr lang="en-US" sz="1300" dirty="0"/>
          </a:p>
        </p:txBody>
      </p:sp>
      <p:sp>
        <p:nvSpPr>
          <p:cNvPr id="8" name="Text 5"/>
          <p:cNvSpPr/>
          <p:nvPr/>
        </p:nvSpPr>
        <p:spPr>
          <a:xfrm>
            <a:off x="822960" y="2304288"/>
            <a:ext cx="4882896" cy="1188720"/>
          </a:xfrm>
          <a:prstGeom prst="rect">
            <a:avLst/>
          </a:prstGeom>
          <a:noFill/>
          <a:ln/>
        </p:spPr>
        <p:txBody>
          <a:bodyPr wrap="square" lIns="0" tIns="0" rIns="0" bIns="0" rtlCol="0" anchor="ctr"/>
          <a:lstStyle/>
          <a:p>
            <a:pPr indent="0" marL="0">
              <a:lnSpc>
                <a:spcPct val="116000"/>
              </a:lnSpc>
              <a:buNone/>
            </a:pPr>
            <a:r>
              <a:rPr lang="en-US" sz="1050" dirty="0">
                <a:solidFill>
                  <a:srgbClr val="3A4859"/>
                </a:solidFill>
                <a:latin typeface="Calibri" pitchFamily="34" charset="0"/>
                <a:ea typeface="Calibri" pitchFamily="34" charset="-122"/>
                <a:cs typeface="Calibri" pitchFamily="34" charset="-120"/>
              </a:rPr>
              <a:t>Binomial GLMMs with crossed random effects for snippet and model; Wilson confidence intervals; BH-FDR correction within each research question; odds ratios and Cliff’s δ. Attention shares and NLA-derived flags enter as within-item predictors of correctness.</a:t>
            </a:r>
            <a:endParaRPr lang="en-US" sz="1050" dirty="0"/>
          </a:p>
        </p:txBody>
      </p:sp>
      <p:sp>
        <p:nvSpPr>
          <p:cNvPr id="9" name="Shape 6"/>
          <p:cNvSpPr/>
          <p:nvPr/>
        </p:nvSpPr>
        <p:spPr>
          <a:xfrm>
            <a:off x="6227064" y="1517904"/>
            <a:ext cx="5394960" cy="2084832"/>
          </a:xfrm>
          <a:prstGeom prst="roundRect">
            <a:avLst>
              <a:gd name="adj" fmla="val 2193"/>
            </a:avLst>
          </a:prstGeom>
          <a:solidFill>
            <a:srgbClr val="EBF1F6"/>
          </a:solidFill>
          <a:ln w="12700">
            <a:solidFill>
              <a:srgbClr val="333333"/>
            </a:solidFill>
            <a:prstDash val="solid"/>
          </a:ln>
        </p:spPr>
      </p:sp>
      <p:sp>
        <p:nvSpPr>
          <p:cNvPr id="10" name="Shape 7"/>
          <p:cNvSpPr/>
          <p:nvPr/>
        </p:nvSpPr>
        <p:spPr>
          <a:xfrm>
            <a:off x="6483096" y="1755648"/>
            <a:ext cx="457200" cy="457200"/>
          </a:xfrm>
          <a:prstGeom prst="ellipse">
            <a:avLst/>
          </a:prstGeom>
          <a:solidFill>
            <a:srgbClr val="2F6383"/>
          </a:solidFill>
          <a:ln w="12700">
            <a:solidFill>
              <a:srgbClr val="333333"/>
            </a:solidFill>
            <a:prstDash val="solid"/>
          </a:ln>
        </p:spPr>
      </p:sp>
      <p:pic>
        <p:nvPicPr>
          <p:cNvPr id="11" name="Image 1" descr="preencoded.png">    </p:cNvPr>
          <p:cNvPicPr>
            <a:picLocks noChangeAspect="1"/>
          </p:cNvPicPr>
          <p:nvPr/>
        </p:nvPicPr>
        <p:blipFill>
          <a:blip r:embed="rId2"/>
          <a:stretch>
            <a:fillRect/>
          </a:stretch>
        </p:blipFill>
        <p:spPr>
          <a:xfrm>
            <a:off x="6606540" y="1879092"/>
            <a:ext cx="210312" cy="210312"/>
          </a:xfrm>
          <a:prstGeom prst="rect">
            <a:avLst/>
          </a:prstGeom>
        </p:spPr>
      </p:pic>
      <p:sp>
        <p:nvSpPr>
          <p:cNvPr id="12" name="Text 8"/>
          <p:cNvSpPr/>
          <p:nvPr/>
        </p:nvSpPr>
        <p:spPr>
          <a:xfrm>
            <a:off x="7050024" y="1773936"/>
            <a:ext cx="4297680" cy="420624"/>
          </a:xfrm>
          <a:prstGeom prst="rect">
            <a:avLst/>
          </a:prstGeom>
          <a:noFill/>
          <a:ln/>
        </p:spPr>
        <p:txBody>
          <a:bodyPr wrap="square" lIns="0" tIns="0" rIns="0" bIns="0" rtlCol="0" anchor="ctr"/>
          <a:lstStyle/>
          <a:p>
            <a:pPr indent="0" marL="0">
              <a:lnSpc>
                <a:spcPct val="104000"/>
              </a:lnSpc>
              <a:buNone/>
            </a:pPr>
            <a:r>
              <a:rPr lang="en-US" sz="1300" b="1" dirty="0">
                <a:solidFill>
                  <a:srgbClr val="2F6383"/>
                </a:solidFill>
                <a:latin typeface="Calibri" pitchFamily="34" charset="0"/>
                <a:ea typeface="Calibri" pitchFamily="34" charset="-122"/>
                <a:cs typeface="Calibri" pitchFamily="34" charset="-120"/>
              </a:rPr>
              <a:t>Link to existing failure metrics</a:t>
            </a:r>
            <a:endParaRPr lang="en-US" sz="1300" dirty="0"/>
          </a:p>
        </p:txBody>
      </p:sp>
      <p:sp>
        <p:nvSpPr>
          <p:cNvPr id="13" name="Text 9"/>
          <p:cNvSpPr/>
          <p:nvPr/>
        </p:nvSpPr>
        <p:spPr>
          <a:xfrm>
            <a:off x="6483096" y="2304288"/>
            <a:ext cx="4882896" cy="1188720"/>
          </a:xfrm>
          <a:prstGeom prst="rect">
            <a:avLst/>
          </a:prstGeom>
          <a:noFill/>
          <a:ln/>
        </p:spPr>
        <p:txBody>
          <a:bodyPr wrap="square" lIns="0" tIns="0" rIns="0" bIns="0" rtlCol="0" anchor="ctr"/>
          <a:lstStyle/>
          <a:p>
            <a:pPr indent="0" marL="0">
              <a:lnSpc>
                <a:spcPct val="116000"/>
              </a:lnSpc>
              <a:buNone/>
            </a:pPr>
            <a:r>
              <a:rPr lang="en-US" sz="1050" dirty="0">
                <a:solidFill>
                  <a:srgbClr val="3A4859"/>
                </a:solidFill>
                <a:latin typeface="Calibri" pitchFamily="34" charset="0"/>
                <a:ea typeface="Calibri" pitchFamily="34" charset="-122"/>
                <a:cs typeface="Calibri" pitchFamily="34" charset="-120"/>
              </a:rPr>
              <a:t>Correlate A_id with the Identifier Spike Fraction — do identifier spikes co-locate with attention peaks or with attention gaps? Then test whether Δattention plus NLA frame-adoption predicts HCI beyond semantic displacement, completing the localisation.</a:t>
            </a:r>
            <a:endParaRPr lang="en-US" sz="1050" dirty="0"/>
          </a:p>
        </p:txBody>
      </p:sp>
      <p:sp>
        <p:nvSpPr>
          <p:cNvPr id="14" name="Shape 10"/>
          <p:cNvSpPr/>
          <p:nvPr/>
        </p:nvSpPr>
        <p:spPr>
          <a:xfrm>
            <a:off x="566928" y="3822192"/>
            <a:ext cx="5394960" cy="2084832"/>
          </a:xfrm>
          <a:prstGeom prst="roundRect">
            <a:avLst>
              <a:gd name="adj" fmla="val 2193"/>
            </a:avLst>
          </a:prstGeom>
          <a:solidFill>
            <a:srgbClr val="FBF3E4"/>
          </a:solidFill>
          <a:ln w="12700">
            <a:solidFill>
              <a:srgbClr val="333333"/>
            </a:solidFill>
            <a:prstDash val="solid"/>
          </a:ln>
        </p:spPr>
      </p:sp>
      <p:sp>
        <p:nvSpPr>
          <p:cNvPr id="15" name="Shape 11"/>
          <p:cNvSpPr/>
          <p:nvPr/>
        </p:nvSpPr>
        <p:spPr>
          <a:xfrm>
            <a:off x="822960" y="4059936"/>
            <a:ext cx="457200" cy="457200"/>
          </a:xfrm>
          <a:prstGeom prst="ellipse">
            <a:avLst/>
          </a:prstGeom>
          <a:solidFill>
            <a:srgbClr val="B5842B"/>
          </a:solidFill>
          <a:ln w="12700">
            <a:solidFill>
              <a:srgbClr val="333333"/>
            </a:solidFill>
            <a:prstDash val="solid"/>
          </a:ln>
        </p:spPr>
      </p:sp>
      <p:pic>
        <p:nvPicPr>
          <p:cNvPr id="16" name="Image 2" descr="preencoded.png">    </p:cNvPr>
          <p:cNvPicPr>
            <a:picLocks noChangeAspect="1"/>
          </p:cNvPicPr>
          <p:nvPr/>
        </p:nvPicPr>
        <p:blipFill>
          <a:blip r:embed="rId3"/>
          <a:stretch>
            <a:fillRect/>
          </a:stretch>
        </p:blipFill>
        <p:spPr>
          <a:xfrm>
            <a:off x="946404" y="4183380"/>
            <a:ext cx="210312" cy="210312"/>
          </a:xfrm>
          <a:prstGeom prst="rect">
            <a:avLst/>
          </a:prstGeom>
        </p:spPr>
      </p:pic>
      <p:sp>
        <p:nvSpPr>
          <p:cNvPr id="17" name="Text 12"/>
          <p:cNvSpPr/>
          <p:nvPr/>
        </p:nvSpPr>
        <p:spPr>
          <a:xfrm>
            <a:off x="1389888" y="4078224"/>
            <a:ext cx="4297680" cy="420624"/>
          </a:xfrm>
          <a:prstGeom prst="rect">
            <a:avLst/>
          </a:prstGeom>
          <a:noFill/>
          <a:ln/>
        </p:spPr>
        <p:txBody>
          <a:bodyPr wrap="square" lIns="0" tIns="0" rIns="0" bIns="0" rtlCol="0" anchor="ctr"/>
          <a:lstStyle/>
          <a:p>
            <a:pPr indent="0" marL="0">
              <a:lnSpc>
                <a:spcPct val="104000"/>
              </a:lnSpc>
              <a:buNone/>
            </a:pPr>
            <a:r>
              <a:rPr lang="en-US" sz="1300" b="1" dirty="0">
                <a:solidFill>
                  <a:srgbClr val="B5842B"/>
                </a:solidFill>
                <a:latin typeface="Calibri" pitchFamily="34" charset="0"/>
                <a:ea typeface="Calibri" pitchFamily="34" charset="-122"/>
                <a:cs typeface="Calibri" pitchFamily="34" charset="-120"/>
              </a:rPr>
              <a:t>Universality test (the open question)</a:t>
            </a:r>
            <a:endParaRPr lang="en-US" sz="1300" dirty="0"/>
          </a:p>
        </p:txBody>
      </p:sp>
      <p:sp>
        <p:nvSpPr>
          <p:cNvPr id="18" name="Text 13"/>
          <p:cNvSpPr/>
          <p:nvPr/>
        </p:nvSpPr>
        <p:spPr>
          <a:xfrm>
            <a:off x="822960" y="4608576"/>
            <a:ext cx="4882896" cy="1188720"/>
          </a:xfrm>
          <a:prstGeom prst="rect">
            <a:avLst/>
          </a:prstGeom>
          <a:noFill/>
          <a:ln/>
        </p:spPr>
        <p:txBody>
          <a:bodyPr wrap="square" lIns="0" tIns="0" rIns="0" bIns="0" rtlCol="0" anchor="ctr"/>
          <a:lstStyle/>
          <a:p>
            <a:pPr indent="0" marL="0">
              <a:lnSpc>
                <a:spcPct val="116000"/>
              </a:lnSpc>
              <a:buNone/>
            </a:pPr>
            <a:r>
              <a:rPr lang="en-US" sz="1050" dirty="0">
                <a:solidFill>
                  <a:srgbClr val="3A4859"/>
                </a:solidFill>
                <a:latin typeface="Calibri" pitchFamily="34" charset="0"/>
                <a:ea typeface="Calibri" pitchFamily="34" charset="-122"/>
                <a:cs typeface="Calibri" pitchFamily="34" charset="-120"/>
              </a:rPr>
              <a:t>Fit the winning hypothesis separately at L1, L1b, L2 and L3. A flip between the single tiers and the stacked tier is direct evidence for an interaction-dependent strategy rather than a universal one.</a:t>
            </a:r>
            <a:endParaRPr lang="en-US" sz="1050" dirty="0"/>
          </a:p>
        </p:txBody>
      </p:sp>
      <p:sp>
        <p:nvSpPr>
          <p:cNvPr id="19" name="Shape 14"/>
          <p:cNvSpPr/>
          <p:nvPr/>
        </p:nvSpPr>
        <p:spPr>
          <a:xfrm>
            <a:off x="6227064" y="3822192"/>
            <a:ext cx="5394960" cy="2084832"/>
          </a:xfrm>
          <a:prstGeom prst="roundRect">
            <a:avLst>
              <a:gd name="adj" fmla="val 2193"/>
            </a:avLst>
          </a:prstGeom>
          <a:solidFill>
            <a:srgbClr val="FAECEA"/>
          </a:solidFill>
          <a:ln w="12700">
            <a:solidFill>
              <a:srgbClr val="333333"/>
            </a:solidFill>
            <a:prstDash val="solid"/>
          </a:ln>
        </p:spPr>
      </p:sp>
      <p:sp>
        <p:nvSpPr>
          <p:cNvPr id="20" name="Shape 15"/>
          <p:cNvSpPr/>
          <p:nvPr/>
        </p:nvSpPr>
        <p:spPr>
          <a:xfrm>
            <a:off x="6483096" y="4059936"/>
            <a:ext cx="457200" cy="457200"/>
          </a:xfrm>
          <a:prstGeom prst="ellipse">
            <a:avLst/>
          </a:prstGeom>
          <a:solidFill>
            <a:srgbClr val="C9534B"/>
          </a:solidFill>
          <a:ln w="12700">
            <a:solidFill>
              <a:srgbClr val="333333"/>
            </a:solidFill>
            <a:prstDash val="solid"/>
          </a:ln>
        </p:spPr>
      </p:sp>
      <p:pic>
        <p:nvPicPr>
          <p:cNvPr id="21" name="Image 3" descr="preencoded.png">    </p:cNvPr>
          <p:cNvPicPr>
            <a:picLocks noChangeAspect="1"/>
          </p:cNvPicPr>
          <p:nvPr/>
        </p:nvPicPr>
        <p:blipFill>
          <a:blip r:embed="rId4"/>
          <a:stretch>
            <a:fillRect/>
          </a:stretch>
        </p:blipFill>
        <p:spPr>
          <a:xfrm>
            <a:off x="6606540" y="4183380"/>
            <a:ext cx="210312" cy="210312"/>
          </a:xfrm>
          <a:prstGeom prst="rect">
            <a:avLst/>
          </a:prstGeom>
        </p:spPr>
      </p:pic>
      <p:sp>
        <p:nvSpPr>
          <p:cNvPr id="22" name="Text 16"/>
          <p:cNvSpPr/>
          <p:nvPr/>
        </p:nvSpPr>
        <p:spPr>
          <a:xfrm>
            <a:off x="7050024" y="4078224"/>
            <a:ext cx="4297680" cy="420624"/>
          </a:xfrm>
          <a:prstGeom prst="rect">
            <a:avLst/>
          </a:prstGeom>
          <a:noFill/>
          <a:ln/>
        </p:spPr>
        <p:txBody>
          <a:bodyPr wrap="square" lIns="0" tIns="0" rIns="0" bIns="0" rtlCol="0" anchor="ctr"/>
          <a:lstStyle/>
          <a:p>
            <a:pPr indent="0" marL="0">
              <a:lnSpc>
                <a:spcPct val="104000"/>
              </a:lnSpc>
              <a:buNone/>
            </a:pPr>
            <a:r>
              <a:rPr lang="en-US" sz="1300" b="1" dirty="0">
                <a:solidFill>
                  <a:srgbClr val="C9534B"/>
                </a:solidFill>
                <a:latin typeface="Calibri" pitchFamily="34" charset="0"/>
                <a:ea typeface="Calibri" pitchFamily="34" charset="-122"/>
                <a:cs typeface="Calibri" pitchFamily="34" charset="-120"/>
              </a:rPr>
              <a:t>Shared threats</a:t>
            </a:r>
            <a:endParaRPr lang="en-US" sz="1300" dirty="0"/>
          </a:p>
        </p:txBody>
      </p:sp>
      <p:sp>
        <p:nvSpPr>
          <p:cNvPr id="23" name="Text 17"/>
          <p:cNvSpPr/>
          <p:nvPr/>
        </p:nvSpPr>
        <p:spPr>
          <a:xfrm>
            <a:off x="6483096" y="4608576"/>
            <a:ext cx="4882896" cy="1188720"/>
          </a:xfrm>
          <a:prstGeom prst="rect">
            <a:avLst/>
          </a:prstGeom>
          <a:noFill/>
          <a:ln/>
        </p:spPr>
        <p:txBody>
          <a:bodyPr wrap="square" lIns="0" tIns="0" rIns="0" bIns="0" rtlCol="0" anchor="ctr"/>
          <a:lstStyle/>
          <a:p>
            <a:pPr indent="0" marL="0">
              <a:lnSpc>
                <a:spcPct val="116000"/>
              </a:lnSpc>
              <a:buNone/>
            </a:pPr>
            <a:r>
              <a:rPr lang="en-US" sz="1050" dirty="0">
                <a:solidFill>
                  <a:srgbClr val="3A4859"/>
                </a:solidFill>
                <a:latin typeface="Calibri" pitchFamily="34" charset="0"/>
                <a:ea typeface="Calibri" pitchFamily="34" charset="-122"/>
                <a:cs typeface="Calibri" pitchFamily="34" charset="-120"/>
              </a:rPr>
              <a:t>“Attention is not explanation” — answered by steering and patching. NLA confabulation — theme-level reading plus attention cross-check. Contamination — post-05/2025 split, and within-snippet contrasts difference out familiarity. GQA and sink tokens — per-group normalisation, sinks as their own class.</a:t>
            </a:r>
            <a:endParaRPr lang="en-US" sz="1050" dirty="0"/>
          </a:p>
        </p:txBody>
      </p:sp>
      <p:sp>
        <p:nvSpPr>
          <p:cNvPr id="24" name="Text 18"/>
          <p:cNvSpPr/>
          <p:nvPr/>
        </p:nvSpPr>
        <p:spPr>
          <a:xfrm>
            <a:off x="566928" y="5943600"/>
            <a:ext cx="11064240" cy="310896"/>
          </a:xfrm>
          <a:prstGeom prst="rect">
            <a:avLst/>
          </a:prstGeom>
          <a:noFill/>
          <a:ln/>
        </p:spPr>
        <p:txBody>
          <a:bodyPr wrap="square" lIns="0" tIns="0" rIns="0" bIns="0" rtlCol="0" anchor="ctr"/>
          <a:lstStyle/>
          <a:p>
            <a:pPr indent="0" marL="0">
              <a:buNone/>
            </a:pPr>
            <a:r>
              <a:rPr lang="en-US" sz="1100" i="1" dirty="0">
                <a:solidFill>
                  <a:srgbClr val="68788B"/>
                </a:solidFill>
                <a:latin typeface="Calibri" pitchFamily="34" charset="0"/>
                <a:ea typeface="Calibri" pitchFamily="34" charset="-122"/>
                <a:cs typeface="Calibri" pitchFamily="34" charset="-120"/>
              </a:rPr>
              <a:t>Every new quantity is designed to slot into a table that already exists — no parallel analysis pipeline, and no re-litigating the behavioural findings.</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Sixteen-Week Plan</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Two instrument tracks run in parallel and converge in the final month on a combined verdict table and replication package.</a:t>
            </a:r>
            <a:endParaRPr lang="en-US" sz="1250" dirty="0"/>
          </a:p>
        </p:txBody>
      </p:sp>
      <p:sp>
        <p:nvSpPr>
          <p:cNvPr id="4" name="Text 2"/>
          <p:cNvSpPr/>
          <p:nvPr/>
        </p:nvSpPr>
        <p:spPr>
          <a:xfrm>
            <a:off x="3108960" y="1481328"/>
            <a:ext cx="800100" cy="237744"/>
          </a:xfrm>
          <a:prstGeom prst="rect">
            <a:avLst/>
          </a:prstGeom>
          <a:noFill/>
          <a:ln/>
        </p:spPr>
        <p:txBody>
          <a:bodyPr wrap="square" lIns="0" tIns="0" rIns="0" bIns="0" rtlCol="0" anchor="ctr"/>
          <a:lstStyle/>
          <a:p>
            <a:pPr algn="ctr" indent="0" marL="0">
              <a:buNone/>
            </a:pPr>
            <a:r>
              <a:rPr lang="en-US" sz="900" dirty="0">
                <a:solidFill>
                  <a:srgbClr val="68788B"/>
                </a:solidFill>
                <a:latin typeface="Calibri" pitchFamily="34" charset="0"/>
                <a:ea typeface="Calibri" pitchFamily="34" charset="-122"/>
                <a:cs typeface="Calibri" pitchFamily="34" charset="-120"/>
              </a:rPr>
              <a:t>W1</a:t>
            </a:r>
            <a:endParaRPr lang="en-US" sz="900" dirty="0"/>
          </a:p>
        </p:txBody>
      </p:sp>
      <p:sp>
        <p:nvSpPr>
          <p:cNvPr id="5" name="Shape 3"/>
          <p:cNvSpPr/>
          <p:nvPr/>
        </p:nvSpPr>
        <p:spPr>
          <a:xfrm>
            <a:off x="3246120" y="1755648"/>
            <a:ext cx="0" cy="4041648"/>
          </a:xfrm>
          <a:prstGeom prst="line">
            <a:avLst/>
          </a:prstGeom>
          <a:noFill/>
          <a:ln w="12700">
            <a:solidFill>
              <a:srgbClr val="EDF1F5"/>
            </a:solidFill>
            <a:prstDash val="solid"/>
          </a:ln>
        </p:spPr>
      </p:sp>
      <p:sp>
        <p:nvSpPr>
          <p:cNvPr id="6" name="Shape 4"/>
          <p:cNvSpPr/>
          <p:nvPr/>
        </p:nvSpPr>
        <p:spPr>
          <a:xfrm>
            <a:off x="3771900" y="1755648"/>
            <a:ext cx="0" cy="4041648"/>
          </a:xfrm>
          <a:prstGeom prst="line">
            <a:avLst/>
          </a:prstGeom>
          <a:noFill/>
          <a:ln w="12700">
            <a:solidFill>
              <a:srgbClr val="EDF1F5"/>
            </a:solidFill>
            <a:prstDash val="solid"/>
          </a:ln>
        </p:spPr>
      </p:sp>
      <p:sp>
        <p:nvSpPr>
          <p:cNvPr id="7" name="Text 5"/>
          <p:cNvSpPr/>
          <p:nvPr/>
        </p:nvSpPr>
        <p:spPr>
          <a:xfrm>
            <a:off x="4160520" y="1481328"/>
            <a:ext cx="800100" cy="237744"/>
          </a:xfrm>
          <a:prstGeom prst="rect">
            <a:avLst/>
          </a:prstGeom>
          <a:noFill/>
          <a:ln/>
        </p:spPr>
        <p:txBody>
          <a:bodyPr wrap="square" lIns="0" tIns="0" rIns="0" bIns="0" rtlCol="0" anchor="ctr"/>
          <a:lstStyle/>
          <a:p>
            <a:pPr algn="ctr" indent="0" marL="0">
              <a:buNone/>
            </a:pPr>
            <a:r>
              <a:rPr lang="en-US" sz="900" dirty="0">
                <a:solidFill>
                  <a:srgbClr val="68788B"/>
                </a:solidFill>
                <a:latin typeface="Calibri" pitchFamily="34" charset="0"/>
                <a:ea typeface="Calibri" pitchFamily="34" charset="-122"/>
                <a:cs typeface="Calibri" pitchFamily="34" charset="-120"/>
              </a:rPr>
              <a:t>W3</a:t>
            </a:r>
            <a:endParaRPr lang="en-US" sz="900" dirty="0"/>
          </a:p>
        </p:txBody>
      </p:sp>
      <p:sp>
        <p:nvSpPr>
          <p:cNvPr id="8" name="Shape 6"/>
          <p:cNvSpPr/>
          <p:nvPr/>
        </p:nvSpPr>
        <p:spPr>
          <a:xfrm>
            <a:off x="4297680" y="1755648"/>
            <a:ext cx="0" cy="4041648"/>
          </a:xfrm>
          <a:prstGeom prst="line">
            <a:avLst/>
          </a:prstGeom>
          <a:noFill/>
          <a:ln w="12700">
            <a:solidFill>
              <a:srgbClr val="EDF1F5"/>
            </a:solidFill>
            <a:prstDash val="solid"/>
          </a:ln>
        </p:spPr>
      </p:sp>
      <p:sp>
        <p:nvSpPr>
          <p:cNvPr id="9" name="Shape 7"/>
          <p:cNvSpPr/>
          <p:nvPr/>
        </p:nvSpPr>
        <p:spPr>
          <a:xfrm>
            <a:off x="4823460" y="1755648"/>
            <a:ext cx="0" cy="4041648"/>
          </a:xfrm>
          <a:prstGeom prst="line">
            <a:avLst/>
          </a:prstGeom>
          <a:noFill/>
          <a:ln w="12700">
            <a:solidFill>
              <a:srgbClr val="EDF1F5"/>
            </a:solidFill>
            <a:prstDash val="solid"/>
          </a:ln>
        </p:spPr>
      </p:sp>
      <p:sp>
        <p:nvSpPr>
          <p:cNvPr id="10" name="Text 8"/>
          <p:cNvSpPr/>
          <p:nvPr/>
        </p:nvSpPr>
        <p:spPr>
          <a:xfrm>
            <a:off x="5212080" y="1481328"/>
            <a:ext cx="800100" cy="237744"/>
          </a:xfrm>
          <a:prstGeom prst="rect">
            <a:avLst/>
          </a:prstGeom>
          <a:noFill/>
          <a:ln/>
        </p:spPr>
        <p:txBody>
          <a:bodyPr wrap="square" lIns="0" tIns="0" rIns="0" bIns="0" rtlCol="0" anchor="ctr"/>
          <a:lstStyle/>
          <a:p>
            <a:pPr algn="ctr" indent="0" marL="0">
              <a:buNone/>
            </a:pPr>
            <a:r>
              <a:rPr lang="en-US" sz="900" dirty="0">
                <a:solidFill>
                  <a:srgbClr val="68788B"/>
                </a:solidFill>
                <a:latin typeface="Calibri" pitchFamily="34" charset="0"/>
                <a:ea typeface="Calibri" pitchFamily="34" charset="-122"/>
                <a:cs typeface="Calibri" pitchFamily="34" charset="-120"/>
              </a:rPr>
              <a:t>W5</a:t>
            </a:r>
            <a:endParaRPr lang="en-US" sz="900" dirty="0"/>
          </a:p>
        </p:txBody>
      </p:sp>
      <p:sp>
        <p:nvSpPr>
          <p:cNvPr id="11" name="Shape 9"/>
          <p:cNvSpPr/>
          <p:nvPr/>
        </p:nvSpPr>
        <p:spPr>
          <a:xfrm>
            <a:off x="5349240" y="1755648"/>
            <a:ext cx="0" cy="4041648"/>
          </a:xfrm>
          <a:prstGeom prst="line">
            <a:avLst/>
          </a:prstGeom>
          <a:noFill/>
          <a:ln w="12700">
            <a:solidFill>
              <a:srgbClr val="EDF1F5"/>
            </a:solidFill>
            <a:prstDash val="solid"/>
          </a:ln>
        </p:spPr>
      </p:sp>
      <p:sp>
        <p:nvSpPr>
          <p:cNvPr id="12" name="Shape 10"/>
          <p:cNvSpPr/>
          <p:nvPr/>
        </p:nvSpPr>
        <p:spPr>
          <a:xfrm>
            <a:off x="5875020" y="1755648"/>
            <a:ext cx="0" cy="4041648"/>
          </a:xfrm>
          <a:prstGeom prst="line">
            <a:avLst/>
          </a:prstGeom>
          <a:noFill/>
          <a:ln w="12700">
            <a:solidFill>
              <a:srgbClr val="EDF1F5"/>
            </a:solidFill>
            <a:prstDash val="solid"/>
          </a:ln>
        </p:spPr>
      </p:sp>
      <p:sp>
        <p:nvSpPr>
          <p:cNvPr id="13" name="Text 11"/>
          <p:cNvSpPr/>
          <p:nvPr/>
        </p:nvSpPr>
        <p:spPr>
          <a:xfrm>
            <a:off x="6263640" y="1481328"/>
            <a:ext cx="800100" cy="237744"/>
          </a:xfrm>
          <a:prstGeom prst="rect">
            <a:avLst/>
          </a:prstGeom>
          <a:noFill/>
          <a:ln/>
        </p:spPr>
        <p:txBody>
          <a:bodyPr wrap="square" lIns="0" tIns="0" rIns="0" bIns="0" rtlCol="0" anchor="ctr"/>
          <a:lstStyle/>
          <a:p>
            <a:pPr algn="ctr" indent="0" marL="0">
              <a:buNone/>
            </a:pPr>
            <a:r>
              <a:rPr lang="en-US" sz="900" dirty="0">
                <a:solidFill>
                  <a:srgbClr val="68788B"/>
                </a:solidFill>
                <a:latin typeface="Calibri" pitchFamily="34" charset="0"/>
                <a:ea typeface="Calibri" pitchFamily="34" charset="-122"/>
                <a:cs typeface="Calibri" pitchFamily="34" charset="-120"/>
              </a:rPr>
              <a:t>W7</a:t>
            </a:r>
            <a:endParaRPr lang="en-US" sz="900" dirty="0"/>
          </a:p>
        </p:txBody>
      </p:sp>
      <p:sp>
        <p:nvSpPr>
          <p:cNvPr id="14" name="Shape 12"/>
          <p:cNvSpPr/>
          <p:nvPr/>
        </p:nvSpPr>
        <p:spPr>
          <a:xfrm>
            <a:off x="6400800" y="1755648"/>
            <a:ext cx="0" cy="4041648"/>
          </a:xfrm>
          <a:prstGeom prst="line">
            <a:avLst/>
          </a:prstGeom>
          <a:noFill/>
          <a:ln w="12700">
            <a:solidFill>
              <a:srgbClr val="EDF1F5"/>
            </a:solidFill>
            <a:prstDash val="solid"/>
          </a:ln>
        </p:spPr>
      </p:sp>
      <p:sp>
        <p:nvSpPr>
          <p:cNvPr id="15" name="Shape 13"/>
          <p:cNvSpPr/>
          <p:nvPr/>
        </p:nvSpPr>
        <p:spPr>
          <a:xfrm>
            <a:off x="6926580" y="1755648"/>
            <a:ext cx="0" cy="4041648"/>
          </a:xfrm>
          <a:prstGeom prst="line">
            <a:avLst/>
          </a:prstGeom>
          <a:noFill/>
          <a:ln w="12700">
            <a:solidFill>
              <a:srgbClr val="EDF1F5"/>
            </a:solidFill>
            <a:prstDash val="solid"/>
          </a:ln>
        </p:spPr>
      </p:sp>
      <p:sp>
        <p:nvSpPr>
          <p:cNvPr id="16" name="Text 14"/>
          <p:cNvSpPr/>
          <p:nvPr/>
        </p:nvSpPr>
        <p:spPr>
          <a:xfrm>
            <a:off x="7315200" y="1481328"/>
            <a:ext cx="800100" cy="237744"/>
          </a:xfrm>
          <a:prstGeom prst="rect">
            <a:avLst/>
          </a:prstGeom>
          <a:noFill/>
          <a:ln/>
        </p:spPr>
        <p:txBody>
          <a:bodyPr wrap="square" lIns="0" tIns="0" rIns="0" bIns="0" rtlCol="0" anchor="ctr"/>
          <a:lstStyle/>
          <a:p>
            <a:pPr algn="ctr" indent="0" marL="0">
              <a:buNone/>
            </a:pPr>
            <a:r>
              <a:rPr lang="en-US" sz="900" dirty="0">
                <a:solidFill>
                  <a:srgbClr val="68788B"/>
                </a:solidFill>
                <a:latin typeface="Calibri" pitchFamily="34" charset="0"/>
                <a:ea typeface="Calibri" pitchFamily="34" charset="-122"/>
                <a:cs typeface="Calibri" pitchFamily="34" charset="-120"/>
              </a:rPr>
              <a:t>W9</a:t>
            </a:r>
            <a:endParaRPr lang="en-US" sz="900" dirty="0"/>
          </a:p>
        </p:txBody>
      </p:sp>
      <p:sp>
        <p:nvSpPr>
          <p:cNvPr id="17" name="Shape 15"/>
          <p:cNvSpPr/>
          <p:nvPr/>
        </p:nvSpPr>
        <p:spPr>
          <a:xfrm>
            <a:off x="7452360" y="1755648"/>
            <a:ext cx="0" cy="4041648"/>
          </a:xfrm>
          <a:prstGeom prst="line">
            <a:avLst/>
          </a:prstGeom>
          <a:noFill/>
          <a:ln w="12700">
            <a:solidFill>
              <a:srgbClr val="EDF1F5"/>
            </a:solidFill>
            <a:prstDash val="solid"/>
          </a:ln>
        </p:spPr>
      </p:sp>
      <p:sp>
        <p:nvSpPr>
          <p:cNvPr id="18" name="Shape 16"/>
          <p:cNvSpPr/>
          <p:nvPr/>
        </p:nvSpPr>
        <p:spPr>
          <a:xfrm>
            <a:off x="7978140" y="1755648"/>
            <a:ext cx="0" cy="4041648"/>
          </a:xfrm>
          <a:prstGeom prst="line">
            <a:avLst/>
          </a:prstGeom>
          <a:noFill/>
          <a:ln w="12700">
            <a:solidFill>
              <a:srgbClr val="EDF1F5"/>
            </a:solidFill>
            <a:prstDash val="solid"/>
          </a:ln>
        </p:spPr>
      </p:sp>
      <p:sp>
        <p:nvSpPr>
          <p:cNvPr id="19" name="Text 17"/>
          <p:cNvSpPr/>
          <p:nvPr/>
        </p:nvSpPr>
        <p:spPr>
          <a:xfrm>
            <a:off x="8366760" y="1481328"/>
            <a:ext cx="800100" cy="237744"/>
          </a:xfrm>
          <a:prstGeom prst="rect">
            <a:avLst/>
          </a:prstGeom>
          <a:noFill/>
          <a:ln/>
        </p:spPr>
        <p:txBody>
          <a:bodyPr wrap="square" lIns="0" tIns="0" rIns="0" bIns="0" rtlCol="0" anchor="ctr"/>
          <a:lstStyle/>
          <a:p>
            <a:pPr algn="ctr" indent="0" marL="0">
              <a:buNone/>
            </a:pPr>
            <a:r>
              <a:rPr lang="en-US" sz="900" dirty="0">
                <a:solidFill>
                  <a:srgbClr val="68788B"/>
                </a:solidFill>
                <a:latin typeface="Calibri" pitchFamily="34" charset="0"/>
                <a:ea typeface="Calibri" pitchFamily="34" charset="-122"/>
                <a:cs typeface="Calibri" pitchFamily="34" charset="-120"/>
              </a:rPr>
              <a:t>W11</a:t>
            </a:r>
            <a:endParaRPr lang="en-US" sz="900" dirty="0"/>
          </a:p>
        </p:txBody>
      </p:sp>
      <p:sp>
        <p:nvSpPr>
          <p:cNvPr id="20" name="Shape 18"/>
          <p:cNvSpPr/>
          <p:nvPr/>
        </p:nvSpPr>
        <p:spPr>
          <a:xfrm>
            <a:off x="8503920" y="1755648"/>
            <a:ext cx="0" cy="4041648"/>
          </a:xfrm>
          <a:prstGeom prst="line">
            <a:avLst/>
          </a:prstGeom>
          <a:noFill/>
          <a:ln w="12700">
            <a:solidFill>
              <a:srgbClr val="EDF1F5"/>
            </a:solidFill>
            <a:prstDash val="solid"/>
          </a:ln>
        </p:spPr>
      </p:sp>
      <p:sp>
        <p:nvSpPr>
          <p:cNvPr id="21" name="Shape 19"/>
          <p:cNvSpPr/>
          <p:nvPr/>
        </p:nvSpPr>
        <p:spPr>
          <a:xfrm>
            <a:off x="9029700" y="1755648"/>
            <a:ext cx="0" cy="4041648"/>
          </a:xfrm>
          <a:prstGeom prst="line">
            <a:avLst/>
          </a:prstGeom>
          <a:noFill/>
          <a:ln w="12700">
            <a:solidFill>
              <a:srgbClr val="EDF1F5"/>
            </a:solidFill>
            <a:prstDash val="solid"/>
          </a:ln>
        </p:spPr>
      </p:sp>
      <p:sp>
        <p:nvSpPr>
          <p:cNvPr id="22" name="Text 20"/>
          <p:cNvSpPr/>
          <p:nvPr/>
        </p:nvSpPr>
        <p:spPr>
          <a:xfrm>
            <a:off x="9418320" y="1481328"/>
            <a:ext cx="800100" cy="237744"/>
          </a:xfrm>
          <a:prstGeom prst="rect">
            <a:avLst/>
          </a:prstGeom>
          <a:noFill/>
          <a:ln/>
        </p:spPr>
        <p:txBody>
          <a:bodyPr wrap="square" lIns="0" tIns="0" rIns="0" bIns="0" rtlCol="0" anchor="ctr"/>
          <a:lstStyle/>
          <a:p>
            <a:pPr algn="ctr" indent="0" marL="0">
              <a:buNone/>
            </a:pPr>
            <a:r>
              <a:rPr lang="en-US" sz="900" dirty="0">
                <a:solidFill>
                  <a:srgbClr val="68788B"/>
                </a:solidFill>
                <a:latin typeface="Calibri" pitchFamily="34" charset="0"/>
                <a:ea typeface="Calibri" pitchFamily="34" charset="-122"/>
                <a:cs typeface="Calibri" pitchFamily="34" charset="-120"/>
              </a:rPr>
              <a:t>W13</a:t>
            </a:r>
            <a:endParaRPr lang="en-US" sz="900" dirty="0"/>
          </a:p>
        </p:txBody>
      </p:sp>
      <p:sp>
        <p:nvSpPr>
          <p:cNvPr id="23" name="Shape 21"/>
          <p:cNvSpPr/>
          <p:nvPr/>
        </p:nvSpPr>
        <p:spPr>
          <a:xfrm>
            <a:off x="9555480" y="1755648"/>
            <a:ext cx="0" cy="4041648"/>
          </a:xfrm>
          <a:prstGeom prst="line">
            <a:avLst/>
          </a:prstGeom>
          <a:noFill/>
          <a:ln w="12700">
            <a:solidFill>
              <a:srgbClr val="EDF1F5"/>
            </a:solidFill>
            <a:prstDash val="solid"/>
          </a:ln>
        </p:spPr>
      </p:sp>
      <p:sp>
        <p:nvSpPr>
          <p:cNvPr id="24" name="Shape 22"/>
          <p:cNvSpPr/>
          <p:nvPr/>
        </p:nvSpPr>
        <p:spPr>
          <a:xfrm>
            <a:off x="10081260" y="1755648"/>
            <a:ext cx="0" cy="4041648"/>
          </a:xfrm>
          <a:prstGeom prst="line">
            <a:avLst/>
          </a:prstGeom>
          <a:noFill/>
          <a:ln w="12700">
            <a:solidFill>
              <a:srgbClr val="EDF1F5"/>
            </a:solidFill>
            <a:prstDash val="solid"/>
          </a:ln>
        </p:spPr>
      </p:sp>
      <p:sp>
        <p:nvSpPr>
          <p:cNvPr id="25" name="Text 23"/>
          <p:cNvSpPr/>
          <p:nvPr/>
        </p:nvSpPr>
        <p:spPr>
          <a:xfrm>
            <a:off x="10469880" y="1481328"/>
            <a:ext cx="800100" cy="237744"/>
          </a:xfrm>
          <a:prstGeom prst="rect">
            <a:avLst/>
          </a:prstGeom>
          <a:noFill/>
          <a:ln/>
        </p:spPr>
        <p:txBody>
          <a:bodyPr wrap="square" lIns="0" tIns="0" rIns="0" bIns="0" rtlCol="0" anchor="ctr"/>
          <a:lstStyle/>
          <a:p>
            <a:pPr algn="ctr" indent="0" marL="0">
              <a:buNone/>
            </a:pPr>
            <a:r>
              <a:rPr lang="en-US" sz="900" dirty="0">
                <a:solidFill>
                  <a:srgbClr val="68788B"/>
                </a:solidFill>
                <a:latin typeface="Calibri" pitchFamily="34" charset="0"/>
                <a:ea typeface="Calibri" pitchFamily="34" charset="-122"/>
                <a:cs typeface="Calibri" pitchFamily="34" charset="-120"/>
              </a:rPr>
              <a:t>W15</a:t>
            </a:r>
            <a:endParaRPr lang="en-US" sz="900" dirty="0"/>
          </a:p>
        </p:txBody>
      </p:sp>
      <p:sp>
        <p:nvSpPr>
          <p:cNvPr id="26" name="Shape 24"/>
          <p:cNvSpPr/>
          <p:nvPr/>
        </p:nvSpPr>
        <p:spPr>
          <a:xfrm>
            <a:off x="10607040" y="1755648"/>
            <a:ext cx="0" cy="4041648"/>
          </a:xfrm>
          <a:prstGeom prst="line">
            <a:avLst/>
          </a:prstGeom>
          <a:noFill/>
          <a:ln w="12700">
            <a:solidFill>
              <a:srgbClr val="EDF1F5"/>
            </a:solidFill>
            <a:prstDash val="solid"/>
          </a:ln>
        </p:spPr>
      </p:sp>
      <p:sp>
        <p:nvSpPr>
          <p:cNvPr id="27" name="Shape 25"/>
          <p:cNvSpPr/>
          <p:nvPr/>
        </p:nvSpPr>
        <p:spPr>
          <a:xfrm>
            <a:off x="11132820" y="1755648"/>
            <a:ext cx="0" cy="4041648"/>
          </a:xfrm>
          <a:prstGeom prst="line">
            <a:avLst/>
          </a:prstGeom>
          <a:noFill/>
          <a:ln w="12700">
            <a:solidFill>
              <a:srgbClr val="EDF1F5"/>
            </a:solidFill>
            <a:prstDash val="solid"/>
          </a:ln>
        </p:spPr>
      </p:sp>
      <p:sp>
        <p:nvSpPr>
          <p:cNvPr id="28" name="Text 26"/>
          <p:cNvSpPr/>
          <p:nvPr/>
        </p:nvSpPr>
        <p:spPr>
          <a:xfrm>
            <a:off x="566928" y="1810512"/>
            <a:ext cx="2532888" cy="420624"/>
          </a:xfrm>
          <a:prstGeom prst="rect">
            <a:avLst/>
          </a:prstGeom>
          <a:noFill/>
          <a:ln/>
        </p:spPr>
        <p:txBody>
          <a:bodyPr wrap="square" lIns="0" tIns="0" rIns="0" bIns="0" rtlCol="0" anchor="ctr"/>
          <a:lstStyle/>
          <a:p>
            <a:pPr indent="0" marL="0">
              <a:lnSpc>
                <a:spcPct val="108000"/>
              </a:lnSpc>
              <a:buNone/>
            </a:pPr>
            <a:r>
              <a:rPr lang="en-US" sz="1050" dirty="0">
                <a:solidFill>
                  <a:srgbClr val="3A4859"/>
                </a:solidFill>
                <a:latin typeface="Calibri" pitchFamily="34" charset="0"/>
                <a:ea typeface="Calibri" pitchFamily="34" charset="-122"/>
                <a:cs typeface="Calibri" pitchFamily="34" charset="-120"/>
              </a:rPr>
              <a:t>Token-class tagger + attention capture harness</a:t>
            </a:r>
            <a:endParaRPr lang="en-US" sz="1050" dirty="0"/>
          </a:p>
        </p:txBody>
      </p:sp>
      <p:sp>
        <p:nvSpPr>
          <p:cNvPr id="29" name="Shape 27"/>
          <p:cNvSpPr/>
          <p:nvPr/>
        </p:nvSpPr>
        <p:spPr>
          <a:xfrm>
            <a:off x="3273552" y="1865376"/>
            <a:ext cx="996696" cy="329184"/>
          </a:xfrm>
          <a:prstGeom prst="roundRect">
            <a:avLst>
              <a:gd name="adj" fmla="val 27778"/>
            </a:avLst>
          </a:prstGeom>
          <a:solidFill>
            <a:srgbClr val="1FA184"/>
          </a:solidFill>
          <a:ln w="12700">
            <a:solidFill>
              <a:srgbClr val="333333"/>
            </a:solidFill>
            <a:prstDash val="solid"/>
          </a:ln>
        </p:spPr>
      </p:sp>
      <p:sp>
        <p:nvSpPr>
          <p:cNvPr id="30" name="Text 28"/>
          <p:cNvSpPr/>
          <p:nvPr/>
        </p:nvSpPr>
        <p:spPr>
          <a:xfrm>
            <a:off x="3273552" y="1865376"/>
            <a:ext cx="996696"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W1–2</a:t>
            </a:r>
            <a:endParaRPr lang="en-US" sz="900" dirty="0"/>
          </a:p>
        </p:txBody>
      </p:sp>
      <p:sp>
        <p:nvSpPr>
          <p:cNvPr id="31" name="Text 29"/>
          <p:cNvSpPr/>
          <p:nvPr/>
        </p:nvSpPr>
        <p:spPr>
          <a:xfrm>
            <a:off x="566928" y="2377440"/>
            <a:ext cx="2532888" cy="420624"/>
          </a:xfrm>
          <a:prstGeom prst="rect">
            <a:avLst/>
          </a:prstGeom>
          <a:noFill/>
          <a:ln/>
        </p:spPr>
        <p:txBody>
          <a:bodyPr wrap="square" lIns="0" tIns="0" rIns="0" bIns="0" rtlCol="0" anchor="ctr"/>
          <a:lstStyle/>
          <a:p>
            <a:pPr indent="0" marL="0">
              <a:lnSpc>
                <a:spcPct val="108000"/>
              </a:lnSpc>
              <a:buNone/>
            </a:pPr>
            <a:r>
              <a:rPr lang="en-US" sz="1050" dirty="0">
                <a:solidFill>
                  <a:srgbClr val="3A4859"/>
                </a:solidFill>
                <a:latin typeface="Calibri" pitchFamily="34" charset="0"/>
                <a:ea typeface="Calibri" pitchFamily="34" charset="-122"/>
                <a:cs typeface="Calibri" pitchFamily="34" charset="-120"/>
              </a:rPr>
              <a:t>Phase 1 attention sweep (Dataset A → B)</a:t>
            </a:r>
            <a:endParaRPr lang="en-US" sz="1050" dirty="0"/>
          </a:p>
        </p:txBody>
      </p:sp>
      <p:sp>
        <p:nvSpPr>
          <p:cNvPr id="32" name="Shape 30"/>
          <p:cNvSpPr/>
          <p:nvPr/>
        </p:nvSpPr>
        <p:spPr>
          <a:xfrm>
            <a:off x="4325112" y="2432304"/>
            <a:ext cx="1522476" cy="329184"/>
          </a:xfrm>
          <a:prstGeom prst="roundRect">
            <a:avLst>
              <a:gd name="adj" fmla="val 27778"/>
            </a:avLst>
          </a:prstGeom>
          <a:solidFill>
            <a:srgbClr val="1FA184"/>
          </a:solidFill>
          <a:ln w="12700">
            <a:solidFill>
              <a:srgbClr val="333333"/>
            </a:solidFill>
            <a:prstDash val="solid"/>
          </a:ln>
        </p:spPr>
      </p:sp>
      <p:sp>
        <p:nvSpPr>
          <p:cNvPr id="33" name="Text 31"/>
          <p:cNvSpPr/>
          <p:nvPr/>
        </p:nvSpPr>
        <p:spPr>
          <a:xfrm>
            <a:off x="4325112" y="2432304"/>
            <a:ext cx="1522476"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W3–5</a:t>
            </a:r>
            <a:endParaRPr lang="en-US" sz="900" dirty="0"/>
          </a:p>
        </p:txBody>
      </p:sp>
      <p:sp>
        <p:nvSpPr>
          <p:cNvPr id="34" name="Text 32"/>
          <p:cNvSpPr/>
          <p:nvPr/>
        </p:nvSpPr>
        <p:spPr>
          <a:xfrm>
            <a:off x="566928" y="2944368"/>
            <a:ext cx="2532888" cy="420624"/>
          </a:xfrm>
          <a:prstGeom prst="rect">
            <a:avLst/>
          </a:prstGeom>
          <a:noFill/>
          <a:ln/>
        </p:spPr>
        <p:txBody>
          <a:bodyPr wrap="square" lIns="0" tIns="0" rIns="0" bIns="0" rtlCol="0" anchor="ctr"/>
          <a:lstStyle/>
          <a:p>
            <a:pPr indent="0" marL="0">
              <a:lnSpc>
                <a:spcPct val="108000"/>
              </a:lnSpc>
              <a:buNone/>
            </a:pPr>
            <a:r>
              <a:rPr lang="en-US" sz="1050" dirty="0">
                <a:solidFill>
                  <a:srgbClr val="3A4859"/>
                </a:solidFill>
                <a:latin typeface="Calibri" pitchFamily="34" charset="0"/>
                <a:ea typeface="Calibri" pitchFamily="34" charset="-122"/>
                <a:cs typeface="Calibri" pitchFamily="34" charset="-120"/>
              </a:rPr>
              <a:t>NLA training: 2 target models × 2 layers</a:t>
            </a:r>
            <a:endParaRPr lang="en-US" sz="1050" dirty="0"/>
          </a:p>
        </p:txBody>
      </p:sp>
      <p:sp>
        <p:nvSpPr>
          <p:cNvPr id="35" name="Shape 33"/>
          <p:cNvSpPr/>
          <p:nvPr/>
        </p:nvSpPr>
        <p:spPr>
          <a:xfrm>
            <a:off x="4850892" y="2999232"/>
            <a:ext cx="2048256" cy="329184"/>
          </a:xfrm>
          <a:prstGeom prst="roundRect">
            <a:avLst>
              <a:gd name="adj" fmla="val 27778"/>
            </a:avLst>
          </a:prstGeom>
          <a:solidFill>
            <a:srgbClr val="2F6383"/>
          </a:solidFill>
          <a:ln w="12700">
            <a:solidFill>
              <a:srgbClr val="333333"/>
            </a:solidFill>
            <a:prstDash val="solid"/>
          </a:ln>
        </p:spPr>
      </p:sp>
      <p:sp>
        <p:nvSpPr>
          <p:cNvPr id="36" name="Text 34"/>
          <p:cNvSpPr/>
          <p:nvPr/>
        </p:nvSpPr>
        <p:spPr>
          <a:xfrm>
            <a:off x="4850892" y="2999232"/>
            <a:ext cx="2048256"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W4–7</a:t>
            </a:r>
            <a:endParaRPr lang="en-US" sz="900" dirty="0"/>
          </a:p>
        </p:txBody>
      </p:sp>
      <p:sp>
        <p:nvSpPr>
          <p:cNvPr id="37" name="Text 35"/>
          <p:cNvSpPr/>
          <p:nvPr/>
        </p:nvSpPr>
        <p:spPr>
          <a:xfrm>
            <a:off x="566928" y="3511296"/>
            <a:ext cx="2532888" cy="420624"/>
          </a:xfrm>
          <a:prstGeom prst="rect">
            <a:avLst/>
          </a:prstGeom>
          <a:noFill/>
          <a:ln/>
        </p:spPr>
        <p:txBody>
          <a:bodyPr wrap="square" lIns="0" tIns="0" rIns="0" bIns="0" rtlCol="0" anchor="ctr"/>
          <a:lstStyle/>
          <a:p>
            <a:pPr indent="0" marL="0">
              <a:lnSpc>
                <a:spcPct val="108000"/>
              </a:lnSpc>
              <a:buNone/>
            </a:pPr>
            <a:r>
              <a:rPr lang="en-US" sz="1050" dirty="0">
                <a:solidFill>
                  <a:srgbClr val="3A4859"/>
                </a:solidFill>
                <a:latin typeface="Calibri" pitchFamily="34" charset="0"/>
                <a:ea typeface="Calibri" pitchFamily="34" charset="-122"/>
                <a:cs typeface="Calibri" pitchFamily="34" charset="-120"/>
              </a:rPr>
              <a:t>Reallocation map + hypothesis fit</a:t>
            </a:r>
            <a:endParaRPr lang="en-US" sz="1050" dirty="0"/>
          </a:p>
        </p:txBody>
      </p:sp>
      <p:sp>
        <p:nvSpPr>
          <p:cNvPr id="38" name="Shape 36"/>
          <p:cNvSpPr/>
          <p:nvPr/>
        </p:nvSpPr>
        <p:spPr>
          <a:xfrm>
            <a:off x="5902452" y="3566160"/>
            <a:ext cx="1522476" cy="329184"/>
          </a:xfrm>
          <a:prstGeom prst="roundRect">
            <a:avLst>
              <a:gd name="adj" fmla="val 27778"/>
            </a:avLst>
          </a:prstGeom>
          <a:solidFill>
            <a:srgbClr val="1FA184"/>
          </a:solidFill>
          <a:ln w="12700">
            <a:solidFill>
              <a:srgbClr val="333333"/>
            </a:solidFill>
            <a:prstDash val="solid"/>
          </a:ln>
        </p:spPr>
      </p:sp>
      <p:sp>
        <p:nvSpPr>
          <p:cNvPr id="39" name="Text 37"/>
          <p:cNvSpPr/>
          <p:nvPr/>
        </p:nvSpPr>
        <p:spPr>
          <a:xfrm>
            <a:off x="5902452" y="3566160"/>
            <a:ext cx="1522476"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W6–8</a:t>
            </a:r>
            <a:endParaRPr lang="en-US" sz="900" dirty="0"/>
          </a:p>
        </p:txBody>
      </p:sp>
      <p:sp>
        <p:nvSpPr>
          <p:cNvPr id="40" name="Text 38"/>
          <p:cNvSpPr/>
          <p:nvPr/>
        </p:nvSpPr>
        <p:spPr>
          <a:xfrm>
            <a:off x="566928" y="4078224"/>
            <a:ext cx="2532888" cy="420624"/>
          </a:xfrm>
          <a:prstGeom prst="rect">
            <a:avLst/>
          </a:prstGeom>
          <a:noFill/>
          <a:ln/>
        </p:spPr>
        <p:txBody>
          <a:bodyPr wrap="square" lIns="0" tIns="0" rIns="0" bIns="0" rtlCol="0" anchor="ctr"/>
          <a:lstStyle/>
          <a:p>
            <a:pPr indent="0" marL="0">
              <a:lnSpc>
                <a:spcPct val="108000"/>
              </a:lnSpc>
              <a:buNone/>
            </a:pPr>
            <a:r>
              <a:rPr lang="en-US" sz="1050" dirty="0">
                <a:solidFill>
                  <a:srgbClr val="3A4859"/>
                </a:solidFill>
                <a:latin typeface="Calibri" pitchFamily="34" charset="0"/>
                <a:ea typeface="Calibri" pitchFamily="34" charset="-122"/>
                <a:cs typeface="Calibri" pitchFamily="34" charset="-120"/>
              </a:rPr>
              <a:t>Attention steering and patching</a:t>
            </a:r>
            <a:endParaRPr lang="en-US" sz="1050" dirty="0"/>
          </a:p>
        </p:txBody>
      </p:sp>
      <p:sp>
        <p:nvSpPr>
          <p:cNvPr id="41" name="Shape 39"/>
          <p:cNvSpPr/>
          <p:nvPr/>
        </p:nvSpPr>
        <p:spPr>
          <a:xfrm>
            <a:off x="6954012" y="4133088"/>
            <a:ext cx="2048256" cy="329184"/>
          </a:xfrm>
          <a:prstGeom prst="roundRect">
            <a:avLst>
              <a:gd name="adj" fmla="val 27778"/>
            </a:avLst>
          </a:prstGeom>
          <a:solidFill>
            <a:srgbClr val="1FA184"/>
          </a:solidFill>
          <a:ln w="12700">
            <a:solidFill>
              <a:srgbClr val="333333"/>
            </a:solidFill>
            <a:prstDash val="solid"/>
          </a:ln>
        </p:spPr>
      </p:sp>
      <p:sp>
        <p:nvSpPr>
          <p:cNvPr id="42" name="Text 40"/>
          <p:cNvSpPr/>
          <p:nvPr/>
        </p:nvSpPr>
        <p:spPr>
          <a:xfrm>
            <a:off x="6954012" y="4133088"/>
            <a:ext cx="2048256"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W8–11</a:t>
            </a:r>
            <a:endParaRPr lang="en-US" sz="900" dirty="0"/>
          </a:p>
        </p:txBody>
      </p:sp>
      <p:sp>
        <p:nvSpPr>
          <p:cNvPr id="43" name="Text 41"/>
          <p:cNvSpPr/>
          <p:nvPr/>
        </p:nvSpPr>
        <p:spPr>
          <a:xfrm>
            <a:off x="566928" y="4645152"/>
            <a:ext cx="2532888" cy="420624"/>
          </a:xfrm>
          <a:prstGeom prst="rect">
            <a:avLst/>
          </a:prstGeom>
          <a:noFill/>
          <a:ln/>
        </p:spPr>
        <p:txBody>
          <a:bodyPr wrap="square" lIns="0" tIns="0" rIns="0" bIns="0" rtlCol="0" anchor="ctr"/>
          <a:lstStyle/>
          <a:p>
            <a:pPr indent="0" marL="0">
              <a:lnSpc>
                <a:spcPct val="108000"/>
              </a:lnSpc>
              <a:buNone/>
            </a:pPr>
            <a:r>
              <a:rPr lang="en-US" sz="1050" dirty="0">
                <a:solidFill>
                  <a:srgbClr val="3A4859"/>
                </a:solidFill>
                <a:latin typeface="Calibri" pitchFamily="34" charset="0"/>
                <a:ea typeface="Calibri" pitchFamily="34" charset="-122"/>
                <a:cs typeface="Calibri" pitchFamily="34" charset="-120"/>
              </a:rPr>
              <a:t>NLA experiments E1–E5</a:t>
            </a:r>
            <a:endParaRPr lang="en-US" sz="1050" dirty="0"/>
          </a:p>
        </p:txBody>
      </p:sp>
      <p:sp>
        <p:nvSpPr>
          <p:cNvPr id="44" name="Shape 42"/>
          <p:cNvSpPr/>
          <p:nvPr/>
        </p:nvSpPr>
        <p:spPr>
          <a:xfrm>
            <a:off x="8005572" y="4700016"/>
            <a:ext cx="2048256" cy="329184"/>
          </a:xfrm>
          <a:prstGeom prst="roundRect">
            <a:avLst>
              <a:gd name="adj" fmla="val 27778"/>
            </a:avLst>
          </a:prstGeom>
          <a:solidFill>
            <a:srgbClr val="2F6383"/>
          </a:solidFill>
          <a:ln w="12700">
            <a:solidFill>
              <a:srgbClr val="333333"/>
            </a:solidFill>
            <a:prstDash val="solid"/>
          </a:ln>
        </p:spPr>
      </p:sp>
      <p:sp>
        <p:nvSpPr>
          <p:cNvPr id="45" name="Text 43"/>
          <p:cNvSpPr/>
          <p:nvPr/>
        </p:nvSpPr>
        <p:spPr>
          <a:xfrm>
            <a:off x="8005572" y="4700016"/>
            <a:ext cx="2048256"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W10–13</a:t>
            </a:r>
            <a:endParaRPr lang="en-US" sz="900" dirty="0"/>
          </a:p>
        </p:txBody>
      </p:sp>
      <p:sp>
        <p:nvSpPr>
          <p:cNvPr id="46" name="Text 44"/>
          <p:cNvSpPr/>
          <p:nvPr/>
        </p:nvSpPr>
        <p:spPr>
          <a:xfrm>
            <a:off x="566928" y="5212080"/>
            <a:ext cx="2532888" cy="420624"/>
          </a:xfrm>
          <a:prstGeom prst="rect">
            <a:avLst/>
          </a:prstGeom>
          <a:noFill/>
          <a:ln/>
        </p:spPr>
        <p:txBody>
          <a:bodyPr wrap="square" lIns="0" tIns="0" rIns="0" bIns="0" rtlCol="0" anchor="ctr"/>
          <a:lstStyle/>
          <a:p>
            <a:pPr indent="0" marL="0">
              <a:lnSpc>
                <a:spcPct val="108000"/>
              </a:lnSpc>
              <a:buNone/>
            </a:pPr>
            <a:r>
              <a:rPr lang="en-US" sz="1050" dirty="0">
                <a:solidFill>
                  <a:srgbClr val="3A4859"/>
                </a:solidFill>
                <a:latin typeface="Calibri" pitchFamily="34" charset="0"/>
                <a:ea typeface="Calibri" pitchFamily="34" charset="-122"/>
                <a:cs typeface="Calibri" pitchFamily="34" charset="-120"/>
              </a:rPr>
              <a:t>Budget sweep, verdict table, write-up</a:t>
            </a:r>
            <a:endParaRPr lang="en-US" sz="1050" dirty="0"/>
          </a:p>
        </p:txBody>
      </p:sp>
      <p:sp>
        <p:nvSpPr>
          <p:cNvPr id="47" name="Shape 45"/>
          <p:cNvSpPr/>
          <p:nvPr/>
        </p:nvSpPr>
        <p:spPr>
          <a:xfrm>
            <a:off x="10108692" y="5266944"/>
            <a:ext cx="1522476" cy="329184"/>
          </a:xfrm>
          <a:prstGeom prst="roundRect">
            <a:avLst>
              <a:gd name="adj" fmla="val 27778"/>
            </a:avLst>
          </a:prstGeom>
          <a:solidFill>
            <a:srgbClr val="212D48"/>
          </a:solidFill>
          <a:ln w="12700">
            <a:solidFill>
              <a:srgbClr val="333333"/>
            </a:solidFill>
            <a:prstDash val="solid"/>
          </a:ln>
        </p:spPr>
      </p:sp>
      <p:sp>
        <p:nvSpPr>
          <p:cNvPr id="48" name="Text 46"/>
          <p:cNvSpPr/>
          <p:nvPr/>
        </p:nvSpPr>
        <p:spPr>
          <a:xfrm>
            <a:off x="10108692" y="5266944"/>
            <a:ext cx="1522476"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W14–16</a:t>
            </a:r>
            <a:endParaRPr lang="en-US" sz="900" dirty="0"/>
          </a:p>
        </p:txBody>
      </p:sp>
      <p:sp>
        <p:nvSpPr>
          <p:cNvPr id="49" name="Shape 47"/>
          <p:cNvSpPr/>
          <p:nvPr/>
        </p:nvSpPr>
        <p:spPr>
          <a:xfrm>
            <a:off x="566928" y="5925312"/>
            <a:ext cx="164592" cy="164592"/>
          </a:xfrm>
          <a:prstGeom prst="ellipse">
            <a:avLst/>
          </a:prstGeom>
          <a:solidFill>
            <a:srgbClr val="1FA184"/>
          </a:solidFill>
          <a:ln w="12700">
            <a:solidFill>
              <a:srgbClr val="333333"/>
            </a:solidFill>
            <a:prstDash val="solid"/>
          </a:ln>
        </p:spPr>
      </p:sp>
      <p:sp>
        <p:nvSpPr>
          <p:cNvPr id="50" name="Text 48"/>
          <p:cNvSpPr/>
          <p:nvPr/>
        </p:nvSpPr>
        <p:spPr>
          <a:xfrm>
            <a:off x="804672" y="5870448"/>
            <a:ext cx="1645920" cy="274320"/>
          </a:xfrm>
          <a:prstGeom prst="rect">
            <a:avLst/>
          </a:prstGeom>
          <a:noFill/>
          <a:ln/>
        </p:spPr>
        <p:txBody>
          <a:bodyPr wrap="square" lIns="0" tIns="0" rIns="0" bIns="0" rtlCol="0" anchor="ctr"/>
          <a:lstStyle/>
          <a:p>
            <a:pPr indent="0" marL="0">
              <a:buNone/>
            </a:pPr>
            <a:r>
              <a:rPr lang="en-US" sz="1050" dirty="0">
                <a:solidFill>
                  <a:srgbClr val="3A4859"/>
                </a:solidFill>
                <a:latin typeface="Calibri" pitchFamily="34" charset="0"/>
                <a:ea typeface="Calibri" pitchFamily="34" charset="-122"/>
                <a:cs typeface="Calibri" pitchFamily="34" charset="-120"/>
              </a:rPr>
              <a:t>Attention track</a:t>
            </a:r>
            <a:endParaRPr lang="en-US" sz="1050" dirty="0"/>
          </a:p>
        </p:txBody>
      </p:sp>
      <p:sp>
        <p:nvSpPr>
          <p:cNvPr id="51" name="Shape 49"/>
          <p:cNvSpPr/>
          <p:nvPr/>
        </p:nvSpPr>
        <p:spPr>
          <a:xfrm>
            <a:off x="2487168" y="5925312"/>
            <a:ext cx="164592" cy="164592"/>
          </a:xfrm>
          <a:prstGeom prst="ellipse">
            <a:avLst/>
          </a:prstGeom>
          <a:solidFill>
            <a:srgbClr val="2F6383"/>
          </a:solidFill>
          <a:ln w="12700">
            <a:solidFill>
              <a:srgbClr val="333333"/>
            </a:solidFill>
            <a:prstDash val="solid"/>
          </a:ln>
        </p:spPr>
      </p:sp>
      <p:sp>
        <p:nvSpPr>
          <p:cNvPr id="52" name="Text 50"/>
          <p:cNvSpPr/>
          <p:nvPr/>
        </p:nvSpPr>
        <p:spPr>
          <a:xfrm>
            <a:off x="2724912" y="5870448"/>
            <a:ext cx="1645920" cy="274320"/>
          </a:xfrm>
          <a:prstGeom prst="rect">
            <a:avLst/>
          </a:prstGeom>
          <a:noFill/>
          <a:ln/>
        </p:spPr>
        <p:txBody>
          <a:bodyPr wrap="square" lIns="0" tIns="0" rIns="0" bIns="0" rtlCol="0" anchor="ctr"/>
          <a:lstStyle/>
          <a:p>
            <a:pPr indent="0" marL="0">
              <a:buNone/>
            </a:pPr>
            <a:r>
              <a:rPr lang="en-US" sz="1050" dirty="0">
                <a:solidFill>
                  <a:srgbClr val="3A4859"/>
                </a:solidFill>
                <a:latin typeface="Calibri" pitchFamily="34" charset="0"/>
                <a:ea typeface="Calibri" pitchFamily="34" charset="-122"/>
                <a:cs typeface="Calibri" pitchFamily="34" charset="-120"/>
              </a:rPr>
              <a:t>NLA track</a:t>
            </a:r>
            <a:endParaRPr lang="en-US" sz="1050" dirty="0"/>
          </a:p>
        </p:txBody>
      </p:sp>
      <p:sp>
        <p:nvSpPr>
          <p:cNvPr id="53" name="Shape 51"/>
          <p:cNvSpPr/>
          <p:nvPr/>
        </p:nvSpPr>
        <p:spPr>
          <a:xfrm>
            <a:off x="4407408" y="5925312"/>
            <a:ext cx="164592" cy="164592"/>
          </a:xfrm>
          <a:prstGeom prst="ellipse">
            <a:avLst/>
          </a:prstGeom>
          <a:solidFill>
            <a:srgbClr val="212D48"/>
          </a:solidFill>
          <a:ln w="12700">
            <a:solidFill>
              <a:srgbClr val="333333"/>
            </a:solidFill>
            <a:prstDash val="solid"/>
          </a:ln>
        </p:spPr>
      </p:sp>
      <p:sp>
        <p:nvSpPr>
          <p:cNvPr id="54" name="Text 52"/>
          <p:cNvSpPr/>
          <p:nvPr/>
        </p:nvSpPr>
        <p:spPr>
          <a:xfrm>
            <a:off x="4645152" y="5870448"/>
            <a:ext cx="1645920" cy="274320"/>
          </a:xfrm>
          <a:prstGeom prst="rect">
            <a:avLst/>
          </a:prstGeom>
          <a:noFill/>
          <a:ln/>
        </p:spPr>
        <p:txBody>
          <a:bodyPr wrap="square" lIns="0" tIns="0" rIns="0" bIns="0" rtlCol="0" anchor="ctr"/>
          <a:lstStyle/>
          <a:p>
            <a:pPr indent="0" marL="0">
              <a:buNone/>
            </a:pPr>
            <a:r>
              <a:rPr lang="en-US" sz="1050" dirty="0">
                <a:solidFill>
                  <a:srgbClr val="3A4859"/>
                </a:solidFill>
                <a:latin typeface="Calibri" pitchFamily="34" charset="0"/>
                <a:ea typeface="Calibri" pitchFamily="34" charset="-122"/>
                <a:cs typeface="Calibri" pitchFamily="34" charset="-120"/>
              </a:rPr>
              <a:t>Synthesis</a:t>
            </a:r>
            <a:endParaRPr lang="en-US" sz="1050" dirty="0"/>
          </a:p>
        </p:txBody>
      </p:sp>
      <p:sp>
        <p:nvSpPr>
          <p:cNvPr id="55" name="Text 53"/>
          <p:cNvSpPr/>
          <p:nvPr/>
        </p:nvSpPr>
        <p:spPr>
          <a:xfrm>
            <a:off x="6217920" y="5870448"/>
            <a:ext cx="5394960" cy="274320"/>
          </a:xfrm>
          <a:prstGeom prst="rect">
            <a:avLst/>
          </a:prstGeom>
          <a:noFill/>
          <a:ln/>
        </p:spPr>
        <p:txBody>
          <a:bodyPr wrap="square" lIns="0" tIns="0" rIns="0" bIns="0" rtlCol="0" anchor="ctr"/>
          <a:lstStyle/>
          <a:p>
            <a:pPr algn="r" indent="0" marL="0">
              <a:buNone/>
            </a:pPr>
            <a:r>
              <a:rPr lang="en-US" sz="1050" i="1" dirty="0">
                <a:solidFill>
                  <a:srgbClr val="68788B"/>
                </a:solidFill>
                <a:latin typeface="Calibri" pitchFamily="34" charset="0"/>
                <a:ea typeface="Calibri" pitchFamily="34" charset="-122"/>
                <a:cs typeface="Calibri" pitchFamily="34" charset="-120"/>
              </a:rPr>
              <a:t>Compute: 4 × RTX A6000 for attention passes; one 8 × H100 allocation for NLA reinforcement-learning training.</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566928"/>
          </a:xfrm>
          <a:prstGeom prst="rect">
            <a:avLst/>
          </a:prstGeom>
          <a:noFill/>
          <a:ln/>
        </p:spPr>
        <p:txBody>
          <a:bodyPr wrap="square" lIns="0" tIns="0" rIns="0" bIns="0" rtlCol="0" anchor="ctr"/>
          <a:lstStyle/>
          <a:p>
            <a:pPr indent="0" marL="0">
              <a:buNone/>
            </a:pPr>
            <a:r>
              <a:rPr lang="en-US" sz="3000" b="1" dirty="0">
                <a:solidFill>
                  <a:srgbClr val="16202F"/>
                </a:solidFill>
                <a:latin typeface="Cambria" pitchFamily="34" charset="0"/>
                <a:ea typeface="Cambria" pitchFamily="34" charset="-122"/>
                <a:cs typeface="Cambria" pitchFamily="34" charset="-120"/>
              </a:rPr>
              <a:t>Expected Contributions</a:t>
            </a:r>
            <a:endParaRPr lang="en-US" sz="3000" dirty="0"/>
          </a:p>
        </p:txBody>
      </p:sp>
      <p:sp>
        <p:nvSpPr>
          <p:cNvPr id="3" name="Text 1"/>
          <p:cNvSpPr/>
          <p:nvPr/>
        </p:nvSpPr>
        <p:spPr>
          <a:xfrm>
            <a:off x="566928" y="969264"/>
            <a:ext cx="10874959" cy="384048"/>
          </a:xfrm>
          <a:prstGeom prst="rect">
            <a:avLst/>
          </a:prstGeom>
          <a:noFill/>
          <a:ln/>
        </p:spPr>
        <p:txBody>
          <a:bodyPr wrap="square" lIns="0" tIns="0" rIns="0" bIns="0" rtlCol="0" anchor="ctr"/>
          <a:lstStyle/>
          <a:p>
            <a:pPr indent="0" marL="0">
              <a:buNone/>
            </a:pPr>
            <a:r>
              <a:rPr lang="en-US" sz="1250" dirty="0">
                <a:solidFill>
                  <a:srgbClr val="68788B"/>
                </a:solidFill>
                <a:latin typeface="Calibri" pitchFamily="34" charset="0"/>
                <a:ea typeface="Calibri" pitchFamily="34" charset="-122"/>
                <a:cs typeface="Calibri" pitchFamily="34" charset="-120"/>
              </a:rPr>
              <a:t>Four deliverables, each of which stands whether the hypotheses are confirmed or the instruments break.</a:t>
            </a:r>
            <a:endParaRPr lang="en-US" sz="1250" dirty="0"/>
          </a:p>
        </p:txBody>
      </p:sp>
      <p:sp>
        <p:nvSpPr>
          <p:cNvPr id="4" name="Shape 2"/>
          <p:cNvSpPr/>
          <p:nvPr/>
        </p:nvSpPr>
        <p:spPr>
          <a:xfrm>
            <a:off x="566928" y="1517904"/>
            <a:ext cx="5394960" cy="2048256"/>
          </a:xfrm>
          <a:prstGeom prst="roundRect">
            <a:avLst>
              <a:gd name="adj" fmla="val 2232"/>
            </a:avLst>
          </a:prstGeom>
          <a:solidFill>
            <a:srgbClr val="F3F5F8"/>
          </a:solidFill>
          <a:ln w="12700">
            <a:solidFill>
              <a:srgbClr val="333333"/>
            </a:solidFill>
            <a:prstDash val="solid"/>
          </a:ln>
        </p:spPr>
      </p:sp>
      <p:sp>
        <p:nvSpPr>
          <p:cNvPr id="5" name="Shape 3"/>
          <p:cNvSpPr/>
          <p:nvPr/>
        </p:nvSpPr>
        <p:spPr>
          <a:xfrm>
            <a:off x="822960" y="1755648"/>
            <a:ext cx="475488" cy="475488"/>
          </a:xfrm>
          <a:prstGeom prst="ellipse">
            <a:avLst/>
          </a:prstGeom>
          <a:solidFill>
            <a:srgbClr val="1FA184"/>
          </a:solidFill>
          <a:ln w="12700">
            <a:solidFill>
              <a:srgbClr val="333333"/>
            </a:solidFill>
            <a:prstDash val="solid"/>
          </a:ln>
        </p:spPr>
      </p:sp>
      <p:pic>
        <p:nvPicPr>
          <p:cNvPr id="6" name="Image 0" descr="preencoded.png">    </p:cNvPr>
          <p:cNvPicPr>
            <a:picLocks noChangeAspect="1"/>
          </p:cNvPicPr>
          <p:nvPr/>
        </p:nvPicPr>
        <p:blipFill>
          <a:blip r:embed="rId1"/>
          <a:stretch>
            <a:fillRect/>
          </a:stretch>
        </p:blipFill>
        <p:spPr>
          <a:xfrm>
            <a:off x="951342" y="1884030"/>
            <a:ext cx="218724" cy="218724"/>
          </a:xfrm>
          <a:prstGeom prst="rect">
            <a:avLst/>
          </a:prstGeom>
        </p:spPr>
      </p:pic>
      <p:sp>
        <p:nvSpPr>
          <p:cNvPr id="7" name="Text 4"/>
          <p:cNvSpPr/>
          <p:nvPr/>
        </p:nvSpPr>
        <p:spPr>
          <a:xfrm>
            <a:off x="1426464" y="1737360"/>
            <a:ext cx="4261104" cy="530352"/>
          </a:xfrm>
          <a:prstGeom prst="rect">
            <a:avLst/>
          </a:prstGeom>
          <a:noFill/>
          <a:ln/>
        </p:spPr>
        <p:txBody>
          <a:bodyPr wrap="square" lIns="0" tIns="0" rIns="0" bIns="0" rtlCol="0" anchor="ctr"/>
          <a:lstStyle/>
          <a:p>
            <a:pPr indent="0" marL="0">
              <a:lnSpc>
                <a:spcPct val="104000"/>
              </a:lnSpc>
              <a:buNone/>
            </a:pPr>
            <a:r>
              <a:rPr lang="en-US" sz="1300" b="1" dirty="0">
                <a:solidFill>
                  <a:srgbClr val="1FA184"/>
                </a:solidFill>
                <a:latin typeface="Calibri" pitchFamily="34" charset="0"/>
                <a:ea typeface="Calibri" pitchFamily="34" charset="-122"/>
                <a:cs typeface="Calibri" pitchFamily="34" charset="-120"/>
              </a:rPr>
              <a:t>First full-matrix account of the Block Model in machines</a:t>
            </a:r>
            <a:endParaRPr lang="en-US" sz="1300" dirty="0"/>
          </a:p>
        </p:txBody>
      </p:sp>
      <p:sp>
        <p:nvSpPr>
          <p:cNvPr id="8" name="Text 5"/>
          <p:cNvSpPr/>
          <p:nvPr/>
        </p:nvSpPr>
        <p:spPr>
          <a:xfrm>
            <a:off x="822960" y="2359152"/>
            <a:ext cx="4882896" cy="1097280"/>
          </a:xfrm>
          <a:prstGeom prst="rect">
            <a:avLst/>
          </a:prstGeom>
          <a:noFill/>
          <a:ln/>
        </p:spPr>
        <p:txBody>
          <a:bodyPr wrap="square" lIns="0" tIns="0" rIns="0" bIns="0" rtlCol="0" anchor="ctr"/>
          <a:lstStyle/>
          <a:p>
            <a:pPr indent="0" marL="0">
              <a:lnSpc>
                <a:spcPct val="116000"/>
              </a:lnSpc>
              <a:buNone/>
            </a:pPr>
            <a:r>
              <a:rPr lang="en-US" sz="1050" dirty="0">
                <a:solidFill>
                  <a:srgbClr val="3A4859"/>
                </a:solidFill>
                <a:latin typeface="Calibri" pitchFamily="34" charset="0"/>
                <a:ea typeface="Calibri" pitchFamily="34" charset="-122"/>
                <a:cs typeface="Calibri" pitchFamily="34" charset="-120"/>
              </a:rPr>
              <a:t>Attention instruments the surface → execution routing; NLAs instrument the Function column. All three dimensions × four levels covered for the first time, in coordinates directly comparable to the human data.</a:t>
            </a:r>
            <a:endParaRPr lang="en-US" sz="1050" dirty="0"/>
          </a:p>
        </p:txBody>
      </p:sp>
      <p:sp>
        <p:nvSpPr>
          <p:cNvPr id="9" name="Shape 6"/>
          <p:cNvSpPr/>
          <p:nvPr/>
        </p:nvSpPr>
        <p:spPr>
          <a:xfrm>
            <a:off x="6227064" y="1517904"/>
            <a:ext cx="5394960" cy="2048256"/>
          </a:xfrm>
          <a:prstGeom prst="roundRect">
            <a:avLst>
              <a:gd name="adj" fmla="val 2232"/>
            </a:avLst>
          </a:prstGeom>
          <a:solidFill>
            <a:srgbClr val="F3F5F8"/>
          </a:solidFill>
          <a:ln w="12700">
            <a:solidFill>
              <a:srgbClr val="333333"/>
            </a:solidFill>
            <a:prstDash val="solid"/>
          </a:ln>
        </p:spPr>
      </p:sp>
      <p:sp>
        <p:nvSpPr>
          <p:cNvPr id="10" name="Shape 7"/>
          <p:cNvSpPr/>
          <p:nvPr/>
        </p:nvSpPr>
        <p:spPr>
          <a:xfrm>
            <a:off x="6483096" y="1755648"/>
            <a:ext cx="475488" cy="475488"/>
          </a:xfrm>
          <a:prstGeom prst="ellipse">
            <a:avLst/>
          </a:prstGeom>
          <a:solidFill>
            <a:srgbClr val="2F6383"/>
          </a:solidFill>
          <a:ln w="12700">
            <a:solidFill>
              <a:srgbClr val="333333"/>
            </a:solidFill>
            <a:prstDash val="solid"/>
          </a:ln>
        </p:spPr>
      </p:sp>
      <p:pic>
        <p:nvPicPr>
          <p:cNvPr id="11" name="Image 1" descr="preencoded.png">    </p:cNvPr>
          <p:cNvPicPr>
            <a:picLocks noChangeAspect="1"/>
          </p:cNvPicPr>
          <p:nvPr/>
        </p:nvPicPr>
        <p:blipFill>
          <a:blip r:embed="rId2"/>
          <a:stretch>
            <a:fillRect/>
          </a:stretch>
        </p:blipFill>
        <p:spPr>
          <a:xfrm>
            <a:off x="6611478" y="1884030"/>
            <a:ext cx="218724" cy="218724"/>
          </a:xfrm>
          <a:prstGeom prst="rect">
            <a:avLst/>
          </a:prstGeom>
        </p:spPr>
      </p:pic>
      <p:sp>
        <p:nvSpPr>
          <p:cNvPr id="12" name="Text 8"/>
          <p:cNvSpPr/>
          <p:nvPr/>
        </p:nvSpPr>
        <p:spPr>
          <a:xfrm>
            <a:off x="7086600" y="1737360"/>
            <a:ext cx="4261104" cy="530352"/>
          </a:xfrm>
          <a:prstGeom prst="rect">
            <a:avLst/>
          </a:prstGeom>
          <a:noFill/>
          <a:ln/>
        </p:spPr>
        <p:txBody>
          <a:bodyPr wrap="square" lIns="0" tIns="0" rIns="0" bIns="0" rtlCol="0" anchor="ctr"/>
          <a:lstStyle/>
          <a:p>
            <a:pPr indent="0" marL="0">
              <a:lnSpc>
                <a:spcPct val="104000"/>
              </a:lnSpc>
              <a:buNone/>
            </a:pPr>
            <a:r>
              <a:rPr lang="en-US" sz="1300" b="1" dirty="0">
                <a:solidFill>
                  <a:srgbClr val="2F6383"/>
                </a:solidFill>
                <a:latin typeface="Calibri" pitchFamily="34" charset="0"/>
                <a:ea typeface="Calibri" pitchFamily="34" charset="-122"/>
                <a:cs typeface="Calibri" pitchFamily="34" charset="-120"/>
              </a:rPr>
              <a:t>A causal, cross-validated verdict on H1–H4</a:t>
            </a:r>
            <a:endParaRPr lang="en-US" sz="1300" dirty="0"/>
          </a:p>
        </p:txBody>
      </p:sp>
      <p:sp>
        <p:nvSpPr>
          <p:cNvPr id="13" name="Text 9"/>
          <p:cNvSpPr/>
          <p:nvPr/>
        </p:nvSpPr>
        <p:spPr>
          <a:xfrm>
            <a:off x="6483096" y="2359152"/>
            <a:ext cx="4882896" cy="1097280"/>
          </a:xfrm>
          <a:prstGeom prst="rect">
            <a:avLst/>
          </a:prstGeom>
          <a:noFill/>
          <a:ln/>
        </p:spPr>
        <p:txBody>
          <a:bodyPr wrap="square" lIns="0" tIns="0" rIns="0" bIns="0" rtlCol="0" anchor="ctr"/>
          <a:lstStyle/>
          <a:p>
            <a:pPr indent="0" marL="0">
              <a:lnSpc>
                <a:spcPct val="116000"/>
              </a:lnSpc>
              <a:buNone/>
            </a:pPr>
            <a:r>
              <a:rPr lang="en-US" sz="1050" dirty="0">
                <a:solidFill>
                  <a:srgbClr val="3A4859"/>
                </a:solidFill>
                <a:latin typeface="Calibri" pitchFamily="34" charset="0"/>
                <a:ea typeface="Calibri" pitchFamily="34" charset="-122"/>
                <a:cs typeface="Calibri" pitchFamily="34" charset="-120"/>
              </a:rPr>
              <a:t>Eight independent falsification chances per hypothesis — five attention signatures and three NLA signatures — with steering available on both instruments, plus an answer on universality across single and stacked tiers.</a:t>
            </a:r>
            <a:endParaRPr lang="en-US" sz="1050" dirty="0"/>
          </a:p>
        </p:txBody>
      </p:sp>
      <p:sp>
        <p:nvSpPr>
          <p:cNvPr id="14" name="Shape 10"/>
          <p:cNvSpPr/>
          <p:nvPr/>
        </p:nvSpPr>
        <p:spPr>
          <a:xfrm>
            <a:off x="566928" y="3785616"/>
            <a:ext cx="5394960" cy="2048256"/>
          </a:xfrm>
          <a:prstGeom prst="roundRect">
            <a:avLst>
              <a:gd name="adj" fmla="val 2232"/>
            </a:avLst>
          </a:prstGeom>
          <a:solidFill>
            <a:srgbClr val="F3F5F8"/>
          </a:solidFill>
          <a:ln w="12700">
            <a:solidFill>
              <a:srgbClr val="333333"/>
            </a:solidFill>
            <a:prstDash val="solid"/>
          </a:ln>
        </p:spPr>
      </p:sp>
      <p:sp>
        <p:nvSpPr>
          <p:cNvPr id="15" name="Shape 11"/>
          <p:cNvSpPr/>
          <p:nvPr/>
        </p:nvSpPr>
        <p:spPr>
          <a:xfrm>
            <a:off x="822960" y="4023360"/>
            <a:ext cx="475488" cy="475488"/>
          </a:xfrm>
          <a:prstGeom prst="ellipse">
            <a:avLst/>
          </a:prstGeom>
          <a:solidFill>
            <a:srgbClr val="1FA184"/>
          </a:solidFill>
          <a:ln w="12700">
            <a:solidFill>
              <a:srgbClr val="333333"/>
            </a:solidFill>
            <a:prstDash val="solid"/>
          </a:ln>
        </p:spPr>
      </p:sp>
      <p:pic>
        <p:nvPicPr>
          <p:cNvPr id="16" name="Image 2" descr="preencoded.png">    </p:cNvPr>
          <p:cNvPicPr>
            <a:picLocks noChangeAspect="1"/>
          </p:cNvPicPr>
          <p:nvPr/>
        </p:nvPicPr>
        <p:blipFill>
          <a:blip r:embed="rId3"/>
          <a:stretch>
            <a:fillRect/>
          </a:stretch>
        </p:blipFill>
        <p:spPr>
          <a:xfrm>
            <a:off x="951342" y="4151742"/>
            <a:ext cx="218724" cy="218724"/>
          </a:xfrm>
          <a:prstGeom prst="rect">
            <a:avLst/>
          </a:prstGeom>
        </p:spPr>
      </p:pic>
      <p:sp>
        <p:nvSpPr>
          <p:cNvPr id="17" name="Text 12"/>
          <p:cNvSpPr/>
          <p:nvPr/>
        </p:nvSpPr>
        <p:spPr>
          <a:xfrm>
            <a:off x="1426464" y="4005072"/>
            <a:ext cx="4261104" cy="530352"/>
          </a:xfrm>
          <a:prstGeom prst="rect">
            <a:avLst/>
          </a:prstGeom>
          <a:noFill/>
          <a:ln/>
        </p:spPr>
        <p:txBody>
          <a:bodyPr wrap="square" lIns="0" tIns="0" rIns="0" bIns="0" rtlCol="0" anchor="ctr"/>
          <a:lstStyle/>
          <a:p>
            <a:pPr indent="0" marL="0">
              <a:lnSpc>
                <a:spcPct val="104000"/>
              </a:lnSpc>
              <a:buNone/>
            </a:pPr>
            <a:r>
              <a:rPr lang="en-US" sz="1300" b="1" dirty="0">
                <a:solidFill>
                  <a:srgbClr val="1FA184"/>
                </a:solidFill>
                <a:latin typeface="Calibri" pitchFamily="34" charset="0"/>
                <a:ea typeface="Calibri" pitchFamily="34" charset="-122"/>
                <a:cs typeface="Calibri" pitchFamily="34" charset="-120"/>
              </a:rPr>
              <a:t>First NLA application to code comprehension</a:t>
            </a:r>
            <a:endParaRPr lang="en-US" sz="1300" dirty="0"/>
          </a:p>
        </p:txBody>
      </p:sp>
      <p:sp>
        <p:nvSpPr>
          <p:cNvPr id="18" name="Text 13"/>
          <p:cNvSpPr/>
          <p:nvPr/>
        </p:nvSpPr>
        <p:spPr>
          <a:xfrm>
            <a:off x="822960" y="4626864"/>
            <a:ext cx="4882896" cy="1097280"/>
          </a:xfrm>
          <a:prstGeom prst="rect">
            <a:avLst/>
          </a:prstGeom>
          <a:noFill/>
          <a:ln/>
        </p:spPr>
        <p:txBody>
          <a:bodyPr wrap="square" lIns="0" tIns="0" rIns="0" bIns="0" rtlCol="0" anchor="ctr"/>
          <a:lstStyle/>
          <a:p>
            <a:pPr indent="0" marL="0">
              <a:lnSpc>
                <a:spcPct val="116000"/>
              </a:lnSpc>
              <a:buNone/>
            </a:pPr>
            <a:r>
              <a:rPr lang="en-US" sz="1050" dirty="0">
                <a:solidFill>
                  <a:srgbClr val="3A4859"/>
                </a:solidFill>
                <a:latin typeface="Calibri" pitchFamily="34" charset="0"/>
                <a:ea typeface="Calibri" pitchFamily="34" charset="-122"/>
                <a:cs typeface="Calibri" pitchFamily="34" charset="-120"/>
              </a:rPr>
              <a:t>Tests the open generalisation question (NLAs are trained broadly on residual activations, not on code) and delivers the first internal-representation account of adversarial renaming: seen through, adopted, or silently flagged.</a:t>
            </a:r>
            <a:endParaRPr lang="en-US" sz="1050" dirty="0"/>
          </a:p>
        </p:txBody>
      </p:sp>
      <p:sp>
        <p:nvSpPr>
          <p:cNvPr id="19" name="Shape 14"/>
          <p:cNvSpPr/>
          <p:nvPr/>
        </p:nvSpPr>
        <p:spPr>
          <a:xfrm>
            <a:off x="6227064" y="3785616"/>
            <a:ext cx="5394960" cy="2048256"/>
          </a:xfrm>
          <a:prstGeom prst="roundRect">
            <a:avLst>
              <a:gd name="adj" fmla="val 2232"/>
            </a:avLst>
          </a:prstGeom>
          <a:solidFill>
            <a:srgbClr val="F3F5F8"/>
          </a:solidFill>
          <a:ln w="12700">
            <a:solidFill>
              <a:srgbClr val="333333"/>
            </a:solidFill>
            <a:prstDash val="solid"/>
          </a:ln>
        </p:spPr>
      </p:sp>
      <p:sp>
        <p:nvSpPr>
          <p:cNvPr id="20" name="Shape 15"/>
          <p:cNvSpPr/>
          <p:nvPr/>
        </p:nvSpPr>
        <p:spPr>
          <a:xfrm>
            <a:off x="6483096" y="4023360"/>
            <a:ext cx="475488" cy="475488"/>
          </a:xfrm>
          <a:prstGeom prst="ellipse">
            <a:avLst/>
          </a:prstGeom>
          <a:solidFill>
            <a:srgbClr val="2F6383"/>
          </a:solidFill>
          <a:ln w="12700">
            <a:solidFill>
              <a:srgbClr val="333333"/>
            </a:solidFill>
            <a:prstDash val="solid"/>
          </a:ln>
        </p:spPr>
      </p:sp>
      <p:pic>
        <p:nvPicPr>
          <p:cNvPr id="21" name="Image 3" descr="preencoded.png">    </p:cNvPr>
          <p:cNvPicPr>
            <a:picLocks noChangeAspect="1"/>
          </p:cNvPicPr>
          <p:nvPr/>
        </p:nvPicPr>
        <p:blipFill>
          <a:blip r:embed="rId4"/>
          <a:stretch>
            <a:fillRect/>
          </a:stretch>
        </p:blipFill>
        <p:spPr>
          <a:xfrm>
            <a:off x="6611478" y="4151742"/>
            <a:ext cx="218724" cy="218724"/>
          </a:xfrm>
          <a:prstGeom prst="rect">
            <a:avLst/>
          </a:prstGeom>
        </p:spPr>
      </p:pic>
      <p:sp>
        <p:nvSpPr>
          <p:cNvPr id="22" name="Text 16"/>
          <p:cNvSpPr/>
          <p:nvPr/>
        </p:nvSpPr>
        <p:spPr>
          <a:xfrm>
            <a:off x="7086600" y="4005072"/>
            <a:ext cx="4261104" cy="530352"/>
          </a:xfrm>
          <a:prstGeom prst="rect">
            <a:avLst/>
          </a:prstGeom>
          <a:noFill/>
          <a:ln/>
        </p:spPr>
        <p:txBody>
          <a:bodyPr wrap="square" lIns="0" tIns="0" rIns="0" bIns="0" rtlCol="0" anchor="ctr"/>
          <a:lstStyle/>
          <a:p>
            <a:pPr indent="0" marL="0">
              <a:lnSpc>
                <a:spcPct val="104000"/>
              </a:lnSpc>
              <a:buNone/>
            </a:pPr>
            <a:r>
              <a:rPr lang="en-US" sz="1300" b="1" dirty="0">
                <a:solidFill>
                  <a:srgbClr val="2F6383"/>
                </a:solidFill>
                <a:latin typeface="Calibri" pitchFamily="34" charset="0"/>
                <a:ea typeface="Calibri" pitchFamily="34" charset="-122"/>
                <a:cs typeface="Calibri" pitchFamily="34" charset="-120"/>
              </a:rPr>
              <a:t>Sharpened SE and security implications</a:t>
            </a:r>
            <a:endParaRPr lang="en-US" sz="1300" dirty="0"/>
          </a:p>
        </p:txBody>
      </p:sp>
      <p:sp>
        <p:nvSpPr>
          <p:cNvPr id="23" name="Text 17"/>
          <p:cNvSpPr/>
          <p:nvPr/>
        </p:nvSpPr>
        <p:spPr>
          <a:xfrm>
            <a:off x="6483096" y="4626864"/>
            <a:ext cx="4882896" cy="1097280"/>
          </a:xfrm>
          <a:prstGeom prst="rect">
            <a:avLst/>
          </a:prstGeom>
          <a:noFill/>
          <a:ln/>
        </p:spPr>
        <p:txBody>
          <a:bodyPr wrap="square" lIns="0" tIns="0" rIns="0" bIns="0" rtlCol="0" anchor="ctr"/>
          <a:lstStyle/>
          <a:p>
            <a:pPr indent="0" marL="0">
              <a:lnSpc>
                <a:spcPct val="116000"/>
              </a:lnSpc>
              <a:buNone/>
            </a:pPr>
            <a:r>
              <a:rPr lang="en-US" sz="1050" dirty="0">
                <a:solidFill>
                  <a:srgbClr val="3A4859"/>
                </a:solidFill>
                <a:latin typeface="Calibri" pitchFamily="34" charset="0"/>
                <a:ea typeface="Calibri" pitchFamily="34" charset="-122"/>
                <a:cs typeface="Calibri" pitchFamily="34" charset="-120"/>
              </a:rPr>
              <a:t>H1 → adversarial naming remains a potent anti-LLM defence and a malware-analysis risk. H2 → control-flow flattening carries the protective load. H3/H4 → obfuscation exhausts rather than misdirects. NLA flags of suspicious naming become a deployable trust signal for code assistants.</a:t>
            </a:r>
            <a:endParaRPr lang="en-US" sz="1050" dirty="0"/>
          </a:p>
        </p:txBody>
      </p:sp>
      <p:sp>
        <p:nvSpPr>
          <p:cNvPr id="24" name="Shape 18"/>
          <p:cNvSpPr/>
          <p:nvPr/>
        </p:nvSpPr>
        <p:spPr>
          <a:xfrm>
            <a:off x="566928" y="5486400"/>
            <a:ext cx="11057839" cy="749808"/>
          </a:xfrm>
          <a:prstGeom prst="roundRect">
            <a:avLst>
              <a:gd name="adj" fmla="val 7317"/>
            </a:avLst>
          </a:prstGeom>
          <a:solidFill>
            <a:srgbClr val="141B2E"/>
          </a:solidFill>
          <a:ln w="12700">
            <a:solidFill>
              <a:srgbClr val="333333"/>
            </a:solidFill>
            <a:prstDash val="solid"/>
          </a:ln>
        </p:spPr>
      </p:sp>
      <p:sp>
        <p:nvSpPr>
          <p:cNvPr id="25" name="Text 19"/>
          <p:cNvSpPr/>
          <p:nvPr/>
        </p:nvSpPr>
        <p:spPr>
          <a:xfrm>
            <a:off x="841248" y="5577840"/>
            <a:ext cx="10509199" cy="566928"/>
          </a:xfrm>
          <a:prstGeom prst="rect">
            <a:avLst/>
          </a:prstGeom>
          <a:noFill/>
          <a:ln/>
        </p:spPr>
        <p:txBody>
          <a:bodyPr wrap="square" lIns="0" tIns="0" rIns="0" bIns="0" rtlCol="0" anchor="ctr"/>
          <a:lstStyle/>
          <a:p>
            <a:pPr indent="0" marL="0">
              <a:lnSpc>
                <a:spcPct val="118000"/>
              </a:lnSpc>
              <a:buNone/>
            </a:pPr>
            <a:r>
              <a:rPr lang="en-US" sz="1250" b="1" dirty="0">
                <a:solidFill>
                  <a:srgbClr val="6FD3B8"/>
                </a:solidFill>
                <a:latin typeface="Calibri" pitchFamily="34" charset="0"/>
                <a:ea typeface="Calibri" pitchFamily="34" charset="-122"/>
                <a:cs typeface="Calibri" pitchFamily="34" charset="-120"/>
              </a:rPr>
              <a:t>Next step.   </a:t>
            </a:r>
            <a:pPr indent="0" marL="0">
              <a:lnSpc>
                <a:spcPct val="118000"/>
              </a:lnSpc>
              <a:buNone/>
            </a:pPr>
            <a:r>
              <a:rPr lang="en-US" sz="1250" dirty="0">
                <a:solidFill>
                  <a:srgbClr val="DCE6F2"/>
                </a:solidFill>
                <a:latin typeface="Calibri" pitchFamily="34" charset="0"/>
                <a:ea typeface="Calibri" pitchFamily="34" charset="-122"/>
                <a:cs typeface="Calibri" pitchFamily="34" charset="-120"/>
              </a:rPr>
              <a:t>Approve the W1–2 harness build — everything downstream reuses stimuli, models, and statistics that are already validated.</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1B2E"/>
        </a:solidFill>
      </p:bgPr>
    </p:bg>
    <p:spTree>
      <p:nvGrpSpPr>
        <p:cNvPr id="1" name=""/>
        <p:cNvGrpSpPr/>
        <p:nvPr/>
      </p:nvGrpSpPr>
      <p:grpSpPr>
        <a:xfrm>
          <a:off x="0" y="0"/>
          <a:ext cx="0" cy="0"/>
          <a:chOff x="0" y="0"/>
          <a:chExt cx="0" cy="0"/>
        </a:xfrm>
      </p:grpSpPr>
      <p:sp>
        <p:nvSpPr>
          <p:cNvPr id="2" name="Shape 0"/>
          <p:cNvSpPr/>
          <p:nvPr/>
        </p:nvSpPr>
        <p:spPr>
          <a:xfrm>
            <a:off x="9509760" y="-1737360"/>
            <a:ext cx="4754880" cy="4754880"/>
          </a:xfrm>
          <a:prstGeom prst="ellipse">
            <a:avLst/>
          </a:prstGeom>
          <a:solidFill>
            <a:srgbClr val="1B3A44"/>
          </a:solidFill>
          <a:ln w="12700">
            <a:solidFill>
              <a:srgbClr val="333333"/>
            </a:solidFill>
            <a:prstDash val="solid"/>
          </a:ln>
        </p:spPr>
      </p:sp>
      <p:sp>
        <p:nvSpPr>
          <p:cNvPr id="3" name="Shape 1"/>
          <p:cNvSpPr/>
          <p:nvPr/>
        </p:nvSpPr>
        <p:spPr>
          <a:xfrm>
            <a:off x="9966960" y="4846320"/>
            <a:ext cx="3291840" cy="3291840"/>
          </a:xfrm>
          <a:prstGeom prst="ellipse">
            <a:avLst/>
          </a:prstGeom>
          <a:solidFill>
            <a:srgbClr val="3A2430"/>
          </a:solidFill>
          <a:ln w="12700">
            <a:solidFill>
              <a:srgbClr val="333333"/>
            </a:solidFill>
            <a:prstDash val="solid"/>
          </a:ln>
        </p:spPr>
      </p:sp>
      <p:sp>
        <p:nvSpPr>
          <p:cNvPr id="4" name="Shape 2"/>
          <p:cNvSpPr/>
          <p:nvPr/>
        </p:nvSpPr>
        <p:spPr>
          <a:xfrm>
            <a:off x="566928" y="713232"/>
            <a:ext cx="786384" cy="786384"/>
          </a:xfrm>
          <a:prstGeom prst="ellipse">
            <a:avLst/>
          </a:prstGeom>
          <a:solidFill>
            <a:srgbClr val="1FA184"/>
          </a:solidFill>
          <a:ln w="12700">
            <a:solidFill>
              <a:srgbClr val="333333"/>
            </a:solidFill>
            <a:prstDash val="solid"/>
          </a:ln>
        </p:spPr>
      </p:sp>
      <p:pic>
        <p:nvPicPr>
          <p:cNvPr id="5" name="Image 0" descr="preencoded.png">    </p:cNvPr>
          <p:cNvPicPr>
            <a:picLocks noChangeAspect="1"/>
          </p:cNvPicPr>
          <p:nvPr/>
        </p:nvPicPr>
        <p:blipFill>
          <a:blip r:embed="rId1"/>
          <a:stretch>
            <a:fillRect/>
          </a:stretch>
        </p:blipFill>
        <p:spPr>
          <a:xfrm>
            <a:off x="779252" y="925556"/>
            <a:ext cx="361737" cy="361737"/>
          </a:xfrm>
          <a:prstGeom prst="rect">
            <a:avLst/>
          </a:prstGeom>
        </p:spPr>
      </p:pic>
      <p:sp>
        <p:nvSpPr>
          <p:cNvPr id="6" name="Text 3"/>
          <p:cNvSpPr/>
          <p:nvPr/>
        </p:nvSpPr>
        <p:spPr>
          <a:xfrm>
            <a:off x="1591056" y="905256"/>
            <a:ext cx="7315200" cy="365760"/>
          </a:xfrm>
          <a:prstGeom prst="rect">
            <a:avLst/>
          </a:prstGeom>
          <a:noFill/>
          <a:ln/>
        </p:spPr>
        <p:txBody>
          <a:bodyPr wrap="square" lIns="0" tIns="0" rIns="0" bIns="0" rtlCol="0" anchor="ctr"/>
          <a:lstStyle/>
          <a:p>
            <a:pPr indent="0" marL="0">
              <a:buNone/>
            </a:pPr>
            <a:r>
              <a:rPr lang="en-US" sz="1150" b="1" spc="240" kern="0" dirty="0">
                <a:solidFill>
                  <a:srgbClr val="8FA3BD"/>
                </a:solidFill>
                <a:latin typeface="Calibri" pitchFamily="34" charset="0"/>
                <a:ea typeface="Calibri" pitchFamily="34" charset="-122"/>
                <a:cs typeface="Calibri" pitchFamily="34" charset="-120"/>
              </a:rPr>
              <a:t>THE THROUGH-LINE</a:t>
            </a:r>
            <a:endParaRPr lang="en-US" sz="1150" dirty="0"/>
          </a:p>
        </p:txBody>
      </p:sp>
      <p:sp>
        <p:nvSpPr>
          <p:cNvPr id="7" name="Text 4"/>
          <p:cNvSpPr/>
          <p:nvPr/>
        </p:nvSpPr>
        <p:spPr>
          <a:xfrm>
            <a:off x="566928" y="1965960"/>
            <a:ext cx="10424160" cy="1463040"/>
          </a:xfrm>
          <a:prstGeom prst="rect">
            <a:avLst/>
          </a:prstGeom>
          <a:noFill/>
          <a:ln/>
        </p:spPr>
        <p:txBody>
          <a:bodyPr wrap="square" lIns="0" tIns="0" rIns="0" bIns="0" rtlCol="0" anchor="ctr"/>
          <a:lstStyle/>
          <a:p>
            <a:pPr indent="0" marL="0">
              <a:lnSpc>
                <a:spcPct val="108000"/>
              </a:lnSpc>
              <a:buNone/>
            </a:pPr>
            <a:r>
              <a:rPr lang="en-US" sz="3600" b="1" dirty="0">
                <a:solidFill>
                  <a:srgbClr val="FFFFFF"/>
                </a:solidFill>
                <a:latin typeface="Cambria" pitchFamily="34" charset="0"/>
                <a:ea typeface="Cambria" pitchFamily="34" charset="-122"/>
                <a:cs typeface="Cambria" pitchFamily="34" charset="-120"/>
              </a:rPr>
              <a:t>Behavioural proxies told us where</a:t>
            </a:r>
            <a:endParaRPr lang="en-US" sz="3600" dirty="0"/>
          </a:p>
          <a:p>
            <a:pPr indent="0" marL="0">
              <a:lnSpc>
                <a:spcPct val="108000"/>
              </a:lnSpc>
              <a:buNone/>
            </a:pPr>
            <a:r>
              <a:rPr lang="en-US" sz="3600" b="1" dirty="0">
                <a:solidFill>
                  <a:srgbClr val="FFFFFF"/>
                </a:solidFill>
                <a:latin typeface="Cambria" pitchFamily="34" charset="0"/>
                <a:ea typeface="Cambria" pitchFamily="34" charset="-122"/>
                <a:cs typeface="Cambria" pitchFamily="34" charset="-120"/>
              </a:rPr>
              <a:t>models struggle. Now we can say why.</a:t>
            </a:r>
            <a:endParaRPr lang="en-US" sz="3600" dirty="0"/>
          </a:p>
        </p:txBody>
      </p:sp>
      <p:sp>
        <p:nvSpPr>
          <p:cNvPr id="8" name="Shape 5"/>
          <p:cNvSpPr/>
          <p:nvPr/>
        </p:nvSpPr>
        <p:spPr>
          <a:xfrm>
            <a:off x="603504" y="3931920"/>
            <a:ext cx="155448" cy="155448"/>
          </a:xfrm>
          <a:prstGeom prst="ellipse">
            <a:avLst/>
          </a:prstGeom>
          <a:solidFill>
            <a:srgbClr val="6FD3B8"/>
          </a:solidFill>
          <a:ln w="12700">
            <a:solidFill>
              <a:srgbClr val="333333"/>
            </a:solidFill>
            <a:prstDash val="solid"/>
          </a:ln>
        </p:spPr>
      </p:sp>
      <p:sp>
        <p:nvSpPr>
          <p:cNvPr id="9" name="Text 6"/>
          <p:cNvSpPr/>
          <p:nvPr/>
        </p:nvSpPr>
        <p:spPr>
          <a:xfrm>
            <a:off x="950976" y="3822192"/>
            <a:ext cx="1005840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Same tasks, proven tools  —  </a:t>
            </a:r>
            <a:pPr indent="0" marL="0">
              <a:buNone/>
            </a:pPr>
            <a:r>
              <a:rPr lang="en-US" sz="1350" dirty="0">
                <a:solidFill>
                  <a:srgbClr val="AFC0D4"/>
                </a:solidFill>
                <a:latin typeface="Calibri" pitchFamily="34" charset="0"/>
                <a:ea typeface="Calibri" pitchFamily="34" charset="-122"/>
                <a:cs typeface="Calibri" pitchFamily="34" charset="-120"/>
              </a:rPr>
              <a:t>the validated obfuscation ladder, plus attention analysis and four recipes lifted straight from the NLA work</a:t>
            </a:r>
            <a:endParaRPr lang="en-US" sz="1350" dirty="0"/>
          </a:p>
        </p:txBody>
      </p:sp>
      <p:sp>
        <p:nvSpPr>
          <p:cNvPr id="10" name="Shape 7"/>
          <p:cNvSpPr/>
          <p:nvPr/>
        </p:nvSpPr>
        <p:spPr>
          <a:xfrm>
            <a:off x="603504" y="4498848"/>
            <a:ext cx="155448" cy="155448"/>
          </a:xfrm>
          <a:prstGeom prst="ellipse">
            <a:avLst/>
          </a:prstGeom>
          <a:solidFill>
            <a:srgbClr val="6FD3B8"/>
          </a:solidFill>
          <a:ln w="12700">
            <a:solidFill>
              <a:srgbClr val="333333"/>
            </a:solidFill>
            <a:prstDash val="solid"/>
          </a:ln>
        </p:spPr>
      </p:sp>
      <p:sp>
        <p:nvSpPr>
          <p:cNvPr id="11" name="Text 8"/>
          <p:cNvSpPr/>
          <p:nvPr/>
        </p:nvSpPr>
        <p:spPr>
          <a:xfrm>
            <a:off x="950976" y="4389120"/>
            <a:ext cx="1005840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 read, not an inference  —  </a:t>
            </a:r>
            <a:pPr indent="0" marL="0">
              <a:buNone/>
            </a:pPr>
            <a:r>
              <a:rPr lang="en-US" sz="1350" dirty="0">
                <a:solidFill>
                  <a:srgbClr val="AFC0D4"/>
                </a:solidFill>
                <a:latin typeface="Calibri" pitchFamily="34" charset="0"/>
                <a:ea typeface="Calibri" pitchFamily="34" charset="-122"/>
                <a:cs typeface="Calibri" pitchFamily="34" charset="-120"/>
              </a:rPr>
              <a:t>decoy semantics, dispatcher state, cached wrong answers, unverbalised commitment</a:t>
            </a:r>
            <a:endParaRPr lang="en-US" sz="1350" dirty="0"/>
          </a:p>
        </p:txBody>
      </p:sp>
      <p:sp>
        <p:nvSpPr>
          <p:cNvPr id="12" name="Shape 9"/>
          <p:cNvSpPr/>
          <p:nvPr/>
        </p:nvSpPr>
        <p:spPr>
          <a:xfrm>
            <a:off x="603504" y="5065776"/>
            <a:ext cx="155448" cy="155448"/>
          </a:xfrm>
          <a:prstGeom prst="ellipse">
            <a:avLst/>
          </a:prstGeom>
          <a:solidFill>
            <a:srgbClr val="6FD3B8"/>
          </a:solidFill>
          <a:ln w="12700">
            <a:solidFill>
              <a:srgbClr val="333333"/>
            </a:solidFill>
            <a:prstDash val="solid"/>
          </a:ln>
        </p:spPr>
      </p:sp>
      <p:sp>
        <p:nvSpPr>
          <p:cNvPr id="13" name="Text 10"/>
          <p:cNvSpPr/>
          <p:nvPr/>
        </p:nvSpPr>
        <p:spPr>
          <a:xfrm>
            <a:off x="950976" y="4956048"/>
            <a:ext cx="1005840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Informative either way  —  </a:t>
            </a:r>
            <a:pPr indent="0" marL="0">
              <a:buNone/>
            </a:pPr>
            <a:r>
              <a:rPr lang="en-US" sz="1350" dirty="0">
                <a:solidFill>
                  <a:srgbClr val="AFC0D4"/>
                </a:solidFill>
                <a:latin typeface="Calibri" pitchFamily="34" charset="0"/>
                <a:ea typeface="Calibri" pitchFamily="34" charset="-122"/>
                <a:cs typeface="Calibri" pitchFamily="34" charset="-120"/>
              </a:rPr>
              <a:t>working instruments give a window; broken ones map their own limits — and that boundary is itself a result</a:t>
            </a:r>
            <a:endParaRPr lang="en-US" sz="1350" dirty="0"/>
          </a:p>
        </p:txBody>
      </p:sp>
      <p:sp>
        <p:nvSpPr>
          <p:cNvPr id="14" name="Text 11"/>
          <p:cNvSpPr/>
          <p:nvPr/>
        </p:nvSpPr>
        <p:spPr>
          <a:xfrm>
            <a:off x="566928" y="5943600"/>
            <a:ext cx="10058400" cy="365760"/>
          </a:xfrm>
          <a:prstGeom prst="rect">
            <a:avLst/>
          </a:prstGeom>
          <a:noFill/>
          <a:ln/>
        </p:spPr>
        <p:txBody>
          <a:bodyPr wrap="square" lIns="0" tIns="0" rIns="0" bIns="0" rtlCol="0" anchor="ctr"/>
          <a:lstStyle/>
          <a:p>
            <a:pPr indent="0" marL="0">
              <a:buNone/>
            </a:pPr>
            <a:r>
              <a:rPr lang="en-US" sz="1300" i="1" dirty="0">
                <a:solidFill>
                  <a:srgbClr val="7A8BA3"/>
                </a:solidFill>
                <a:latin typeface="Calibri" pitchFamily="34" charset="0"/>
                <a:ea typeface="Calibri" pitchFamily="34" charset="-122"/>
                <a:cs typeface="Calibri" pitchFamily="34" charset="-120"/>
              </a:rPr>
              <a:t>Build the window. Point it at the hardest code. Read whether it tells the truth.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Opening the Black Box of Obfuscated-Code Comprehension</dc:title>
  <dc:subject>PptxGenJS Presentation</dc:subject>
  <dc:creator>Jack Le</dc:creator>
  <cp:lastModifiedBy>Jack Le</cp:lastModifiedBy>
  <cp:revision>1</cp:revision>
  <dcterms:created xsi:type="dcterms:W3CDTF">2026-07-24T16:47:34Z</dcterms:created>
  <dcterms:modified xsi:type="dcterms:W3CDTF">2026-07-24T16:47:34Z</dcterms:modified>
</cp:coreProperties>
</file>